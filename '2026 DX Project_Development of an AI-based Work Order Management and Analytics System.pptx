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notesMasterIdLst>
    <p:notesMasterId r:id="rId12"/>
  </p:notesMasterIdLst>
  <p:sldIdLst>
    <p:sldId id="1693" r:id="rId2"/>
    <p:sldId id="2347" r:id="rId3"/>
    <p:sldId id="1708" r:id="rId4"/>
    <p:sldId id="2351" r:id="rId5"/>
    <p:sldId id="2352" r:id="rId6"/>
    <p:sldId id="2356" r:id="rId7"/>
    <p:sldId id="2353" r:id="rId8"/>
    <p:sldId id="2349" r:id="rId9"/>
    <p:sldId id="2350" r:id="rId10"/>
    <p:sldId id="2355" r:id="rId11"/>
  </p:sldIdLst>
  <p:sldSz cx="9906000" cy="6858000" type="A4"/>
  <p:notesSz cx="7010400" cy="9296400"/>
  <p:defaultTex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7" userDrawn="1">
          <p15:clr>
            <a:srgbClr val="A4A3A4"/>
          </p15:clr>
        </p15:guide>
        <p15:guide id="2" pos="44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4343"/>
    <a:srgbClr val="FFEB88"/>
    <a:srgbClr val="CECEEF"/>
    <a:srgbClr val="A50034"/>
    <a:srgbClr val="EBEF57"/>
    <a:srgbClr val="C6EFCE"/>
    <a:srgbClr val="FFC7CE"/>
    <a:srgbClr val="A9D18E"/>
    <a:srgbClr val="F79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92" autoAdjust="0"/>
  </p:normalViewPr>
  <p:slideViewPr>
    <p:cSldViewPr>
      <p:cViewPr varScale="1">
        <p:scale>
          <a:sx n="102" d="100"/>
          <a:sy n="102" d="100"/>
        </p:scale>
        <p:origin x="1056" y="76"/>
      </p:cViewPr>
      <p:guideLst>
        <p:guide orient="horz" pos="1207"/>
        <p:guide pos="44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46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9EEE58-216E-49D7-9705-4471CBD33F2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pPr latinLnBrk="1"/>
          <a:endParaRPr lang="ko-KR" altLang="en-US"/>
        </a:p>
      </dgm:t>
    </dgm:pt>
    <dgm:pt modelId="{531C4096-A44B-4980-9F96-1AD1A8EE3DA8}">
      <dgm:prSet phldrT="[텍스트]" custT="1"/>
      <dgm:spPr>
        <a:solidFill>
          <a:schemeClr val="bg1">
            <a:lumMod val="65000"/>
          </a:schemeClr>
        </a:solidFill>
      </dgm:spPr>
      <dgm:t>
        <a:bodyPr/>
        <a:lstStyle/>
        <a:p>
          <a:pPr rtl="0" latinLnBrk="1"/>
          <a:r>
            <a:rPr lang="en-US" sz="800" b="1" noProof="0" dirty="0">
              <a:solidFill>
                <a:schemeClr val="bg1"/>
              </a:solidFill>
              <a:latin typeface="Arial Narrow"/>
              <a:ea typeface="굴림"/>
            </a:rPr>
            <a:t>Request </a:t>
          </a:r>
          <a:br>
            <a:rPr lang="en-US" sz="800" b="1" noProof="0" dirty="0">
              <a:solidFill>
                <a:schemeClr val="bg1"/>
              </a:solidFill>
              <a:latin typeface="Arial Narrow"/>
              <a:ea typeface="굴림"/>
            </a:rPr>
          </a:br>
          <a:r>
            <a:rPr lang="en-US" sz="800" b="1" noProof="0" dirty="0">
              <a:solidFill>
                <a:schemeClr val="bg1"/>
              </a:solidFill>
              <a:latin typeface="Arial Narrow"/>
              <a:ea typeface="굴림"/>
            </a:rPr>
            <a:t>Collection</a:t>
          </a:r>
        </a:p>
      </dgm:t>
    </dgm:pt>
    <dgm:pt modelId="{113D92DB-9286-4FA2-8904-2B69319D50C5}" type="parTrans" cxnId="{E150DB18-4B3C-4154-9367-AB46CFA593D8}">
      <dgm:prSet/>
      <dgm:spPr/>
      <dgm:t>
        <a:bodyPr/>
        <a:lstStyle/>
        <a:p>
          <a:pPr latinLnBrk="1"/>
          <a:endParaRPr lang="ko-KR" altLang="en-US"/>
        </a:p>
      </dgm:t>
    </dgm:pt>
    <dgm:pt modelId="{28EB68E5-B03F-4D5D-A3D2-8AC6FE214920}" type="sibTrans" cxnId="{E150DB18-4B3C-4154-9367-AB46CFA593D8}">
      <dgm:prSet/>
      <dgm:spPr/>
      <dgm:t>
        <a:bodyPr/>
        <a:lstStyle/>
        <a:p>
          <a:pPr latinLnBrk="1"/>
          <a:endParaRPr lang="ko-KR" altLang="en-US"/>
        </a:p>
      </dgm:t>
    </dgm:pt>
    <dgm:pt modelId="{BA82DC24-AAC4-43CC-80B2-2E536D9B5EC6}">
      <dgm:prSet phldrT="[텍스트]" custT="1"/>
      <dgm:spPr>
        <a:solidFill>
          <a:schemeClr val="bg1">
            <a:lumMod val="65000"/>
          </a:schemeClr>
        </a:solidFill>
      </dgm:spPr>
      <dgm:t>
        <a:bodyPr/>
        <a:lstStyle/>
        <a:p>
          <a:pPr rtl="0" latinLnBrk="1"/>
          <a:r>
            <a:rPr lang="en-US" sz="800" b="1" noProof="0" dirty="0">
              <a:solidFill>
                <a:schemeClr val="bg1"/>
              </a:solidFill>
              <a:latin typeface="Arial Narrow"/>
              <a:ea typeface="굴림"/>
            </a:rPr>
            <a:t>Progress Design Development</a:t>
          </a:r>
          <a:endParaRPr lang="en-US" sz="800" b="1" noProof="0" dirty="0">
            <a:solidFill>
              <a:schemeClr val="bg1"/>
            </a:solidFill>
            <a:latin typeface="Arial Narrow"/>
          </a:endParaRPr>
        </a:p>
      </dgm:t>
    </dgm:pt>
    <dgm:pt modelId="{518B5F05-47F5-4A70-8728-D6B6C4C2CC10}" type="parTrans" cxnId="{4185CE81-A46C-4801-ABE0-399713FD02E9}">
      <dgm:prSet/>
      <dgm:spPr/>
      <dgm:t>
        <a:bodyPr/>
        <a:lstStyle/>
        <a:p>
          <a:pPr latinLnBrk="1"/>
          <a:endParaRPr lang="ko-KR" altLang="en-US"/>
        </a:p>
      </dgm:t>
    </dgm:pt>
    <dgm:pt modelId="{1BC4D39D-3A60-43D1-A997-BE2F890EC09F}" type="sibTrans" cxnId="{4185CE81-A46C-4801-ABE0-399713FD02E9}">
      <dgm:prSet/>
      <dgm:spPr/>
      <dgm:t>
        <a:bodyPr/>
        <a:lstStyle/>
        <a:p>
          <a:pPr latinLnBrk="1"/>
          <a:endParaRPr lang="ko-KR" altLang="en-US"/>
        </a:p>
      </dgm:t>
    </dgm:pt>
    <dgm:pt modelId="{911D67F6-AE71-4ED9-821E-C71BE70331EC}">
      <dgm:prSet phldrT="[텍스트]" custT="1"/>
      <dgm:spPr>
        <a:solidFill>
          <a:schemeClr val="bg1">
            <a:lumMod val="65000"/>
          </a:schemeClr>
        </a:solidFill>
      </dgm:spPr>
      <dgm:t>
        <a:bodyPr/>
        <a:lstStyle/>
        <a:p>
          <a:pPr latinLnBrk="1"/>
          <a:r>
            <a:rPr lang="en-US" sz="800" b="1" noProof="0" dirty="0">
              <a:solidFill>
                <a:schemeClr val="bg1"/>
              </a:solidFill>
              <a:latin typeface="Arial Narrow" panose="020B0606020202030204" pitchFamily="34" charset="0"/>
            </a:rPr>
            <a:t>Function expansion</a:t>
          </a:r>
        </a:p>
        <a:p>
          <a:pPr rtl="0" latinLnBrk="1"/>
          <a:r>
            <a:rPr lang="en-US" sz="800" b="1" noProof="0" dirty="0">
              <a:solidFill>
                <a:schemeClr val="bg1"/>
              </a:solidFill>
              <a:latin typeface="Arial Narrow"/>
            </a:rPr>
            <a:t>&amp; </a:t>
          </a:r>
          <a:r>
            <a:rPr lang="en-US" sz="800" b="1" noProof="0" dirty="0">
              <a:solidFill>
                <a:schemeClr val="bg1"/>
              </a:solidFill>
              <a:latin typeface="Arial Narrow"/>
              <a:ea typeface="굴림"/>
            </a:rPr>
            <a:t>System Release</a:t>
          </a:r>
        </a:p>
      </dgm:t>
    </dgm:pt>
    <dgm:pt modelId="{634BEC5B-C3F1-40D1-886D-091866B95CE2}" type="parTrans" cxnId="{A8B84B62-F8D6-4BE9-BA1F-1047C25AA697}">
      <dgm:prSet/>
      <dgm:spPr/>
      <dgm:t>
        <a:bodyPr/>
        <a:lstStyle/>
        <a:p>
          <a:pPr latinLnBrk="1"/>
          <a:endParaRPr lang="ko-KR" altLang="en-US"/>
        </a:p>
      </dgm:t>
    </dgm:pt>
    <dgm:pt modelId="{78E71888-4643-4563-B755-419B94AA6D0A}" type="sibTrans" cxnId="{A8B84B62-F8D6-4BE9-BA1F-1047C25AA697}">
      <dgm:prSet/>
      <dgm:spPr/>
      <dgm:t>
        <a:bodyPr/>
        <a:lstStyle/>
        <a:p>
          <a:pPr latinLnBrk="1"/>
          <a:endParaRPr lang="ko-KR" altLang="en-US"/>
        </a:p>
      </dgm:t>
    </dgm:pt>
    <dgm:pt modelId="{03E01909-0B82-40D8-88D3-238FF580EEC4}">
      <dgm:prSet phldrT="[텍스트]" custT="1"/>
      <dgm:spPr>
        <a:solidFill>
          <a:schemeClr val="bg1">
            <a:lumMod val="65000"/>
          </a:schemeClr>
        </a:solidFill>
      </dgm:spPr>
      <dgm:t>
        <a:bodyPr/>
        <a:lstStyle/>
        <a:p>
          <a:pPr latinLnBrk="1"/>
          <a:r>
            <a:rPr lang="en-US" sz="800" b="1" noProof="0" dirty="0">
              <a:solidFill>
                <a:schemeClr val="bg1"/>
              </a:solidFill>
              <a:latin typeface="Arial Narrow"/>
              <a:ea typeface="굴림"/>
            </a:rPr>
            <a:t>Testing</a:t>
          </a:r>
          <a:endParaRPr lang="en-US" sz="800" b="1" noProof="0" dirty="0">
            <a:solidFill>
              <a:schemeClr val="bg1"/>
            </a:solidFill>
            <a:latin typeface="Arial Narrow"/>
          </a:endParaRPr>
        </a:p>
      </dgm:t>
    </dgm:pt>
    <dgm:pt modelId="{0D4C4188-A003-4EB5-91D6-468D398578AB}" type="parTrans" cxnId="{4318C00A-1D1A-4EBC-8C7C-614714628390}">
      <dgm:prSet/>
      <dgm:spPr/>
      <dgm:t>
        <a:bodyPr/>
        <a:lstStyle/>
        <a:p>
          <a:pPr latinLnBrk="1"/>
          <a:endParaRPr lang="ko-KR" altLang="en-US"/>
        </a:p>
      </dgm:t>
    </dgm:pt>
    <dgm:pt modelId="{3569FC7D-8B46-497A-93D4-B18D0731EB69}" type="sibTrans" cxnId="{4318C00A-1D1A-4EBC-8C7C-614714628390}">
      <dgm:prSet/>
      <dgm:spPr/>
      <dgm:t>
        <a:bodyPr/>
        <a:lstStyle/>
        <a:p>
          <a:pPr latinLnBrk="1"/>
          <a:endParaRPr lang="ko-KR" altLang="en-US"/>
        </a:p>
      </dgm:t>
    </dgm:pt>
    <dgm:pt modelId="{E0AE605F-B4EE-4622-A297-425DEE8D6A56}" type="pres">
      <dgm:prSet presAssocID="{769EEE58-216E-49D7-9705-4471CBD33F25}" presName="Name0" presStyleCnt="0">
        <dgm:presLayoutVars>
          <dgm:dir/>
          <dgm:resizeHandles val="exact"/>
        </dgm:presLayoutVars>
      </dgm:prSet>
      <dgm:spPr/>
    </dgm:pt>
    <dgm:pt modelId="{C122AAEE-18A1-41DA-BD51-61152192E2F0}" type="pres">
      <dgm:prSet presAssocID="{531C4096-A44B-4980-9F96-1AD1A8EE3DA8}" presName="parTxOnly" presStyleLbl="node1" presStyleIdx="0" presStyleCnt="4" custScaleX="52720" custScaleY="60019">
        <dgm:presLayoutVars>
          <dgm:bulletEnabled val="1"/>
        </dgm:presLayoutVars>
      </dgm:prSet>
      <dgm:spPr/>
    </dgm:pt>
    <dgm:pt modelId="{123ECFB5-F4AA-4869-A30B-86705C2A2D05}" type="pres">
      <dgm:prSet presAssocID="{28EB68E5-B03F-4D5D-A3D2-8AC6FE214920}" presName="parSpace" presStyleCnt="0"/>
      <dgm:spPr/>
    </dgm:pt>
    <dgm:pt modelId="{D4F137C2-231A-48CB-995E-7A9FADAA8486}" type="pres">
      <dgm:prSet presAssocID="{BA82DC24-AAC4-43CC-80B2-2E536D9B5EC6}" presName="parTxOnly" presStyleLbl="node1" presStyleIdx="1" presStyleCnt="4" custScaleX="64108" custScaleY="60019" custLinFactNeighborX="-5208">
        <dgm:presLayoutVars>
          <dgm:bulletEnabled val="1"/>
        </dgm:presLayoutVars>
      </dgm:prSet>
      <dgm:spPr/>
    </dgm:pt>
    <dgm:pt modelId="{2E2396F5-39A1-47D4-A9C8-060246A40B65}" type="pres">
      <dgm:prSet presAssocID="{1BC4D39D-3A60-43D1-A997-BE2F890EC09F}" presName="parSpace" presStyleCnt="0"/>
      <dgm:spPr/>
    </dgm:pt>
    <dgm:pt modelId="{EB48D6E3-DA7C-421E-AB6B-3C54E782DD5E}" type="pres">
      <dgm:prSet presAssocID="{03E01909-0B82-40D8-88D3-238FF580EEC4}" presName="parTxOnly" presStyleLbl="node1" presStyleIdx="2" presStyleCnt="4" custScaleX="56636" custScaleY="60019">
        <dgm:presLayoutVars>
          <dgm:bulletEnabled val="1"/>
        </dgm:presLayoutVars>
      </dgm:prSet>
      <dgm:spPr/>
    </dgm:pt>
    <dgm:pt modelId="{21178942-93BB-4492-8BE3-CC33F0A35EBA}" type="pres">
      <dgm:prSet presAssocID="{3569FC7D-8B46-497A-93D4-B18D0731EB69}" presName="parSpace" presStyleCnt="0"/>
      <dgm:spPr/>
    </dgm:pt>
    <dgm:pt modelId="{B6DEBB8F-AEA1-44E0-97B9-188D8A36B11A}" type="pres">
      <dgm:prSet presAssocID="{911D67F6-AE71-4ED9-821E-C71BE70331EC}" presName="parTxOnly" presStyleLbl="node1" presStyleIdx="3" presStyleCnt="4" custScaleX="69912" custScaleY="60019">
        <dgm:presLayoutVars>
          <dgm:bulletEnabled val="1"/>
        </dgm:presLayoutVars>
      </dgm:prSet>
      <dgm:spPr/>
    </dgm:pt>
  </dgm:ptLst>
  <dgm:cxnLst>
    <dgm:cxn modelId="{4318C00A-1D1A-4EBC-8C7C-614714628390}" srcId="{769EEE58-216E-49D7-9705-4471CBD33F25}" destId="{03E01909-0B82-40D8-88D3-238FF580EEC4}" srcOrd="2" destOrd="0" parTransId="{0D4C4188-A003-4EB5-91D6-468D398578AB}" sibTransId="{3569FC7D-8B46-497A-93D4-B18D0731EB69}"/>
    <dgm:cxn modelId="{E150DB18-4B3C-4154-9367-AB46CFA593D8}" srcId="{769EEE58-216E-49D7-9705-4471CBD33F25}" destId="{531C4096-A44B-4980-9F96-1AD1A8EE3DA8}" srcOrd="0" destOrd="0" parTransId="{113D92DB-9286-4FA2-8904-2B69319D50C5}" sibTransId="{28EB68E5-B03F-4D5D-A3D2-8AC6FE214920}"/>
    <dgm:cxn modelId="{25C37B3F-2044-40A6-9118-9D56C9F38DA6}" type="presOf" srcId="{03E01909-0B82-40D8-88D3-238FF580EEC4}" destId="{EB48D6E3-DA7C-421E-AB6B-3C54E782DD5E}" srcOrd="0" destOrd="0" presId="urn:microsoft.com/office/officeart/2005/8/layout/hChevron3"/>
    <dgm:cxn modelId="{A8B84B62-F8D6-4BE9-BA1F-1047C25AA697}" srcId="{769EEE58-216E-49D7-9705-4471CBD33F25}" destId="{911D67F6-AE71-4ED9-821E-C71BE70331EC}" srcOrd="3" destOrd="0" parTransId="{634BEC5B-C3F1-40D1-886D-091866B95CE2}" sibTransId="{78E71888-4643-4563-B755-419B94AA6D0A}"/>
    <dgm:cxn modelId="{8148B965-FB38-42D2-90DC-2777ED9ADFD4}" type="presOf" srcId="{769EEE58-216E-49D7-9705-4471CBD33F25}" destId="{E0AE605F-B4EE-4622-A297-425DEE8D6A56}" srcOrd="0" destOrd="0" presId="urn:microsoft.com/office/officeart/2005/8/layout/hChevron3"/>
    <dgm:cxn modelId="{E302584D-54D8-4102-B87C-21C1CF6A9815}" type="presOf" srcId="{531C4096-A44B-4980-9F96-1AD1A8EE3DA8}" destId="{C122AAEE-18A1-41DA-BD51-61152192E2F0}" srcOrd="0" destOrd="0" presId="urn:microsoft.com/office/officeart/2005/8/layout/hChevron3"/>
    <dgm:cxn modelId="{4185CE81-A46C-4801-ABE0-399713FD02E9}" srcId="{769EEE58-216E-49D7-9705-4471CBD33F25}" destId="{BA82DC24-AAC4-43CC-80B2-2E536D9B5EC6}" srcOrd="1" destOrd="0" parTransId="{518B5F05-47F5-4A70-8728-D6B6C4C2CC10}" sibTransId="{1BC4D39D-3A60-43D1-A997-BE2F890EC09F}"/>
    <dgm:cxn modelId="{670E4982-83AC-4251-A2CF-067EB555F374}" type="presOf" srcId="{911D67F6-AE71-4ED9-821E-C71BE70331EC}" destId="{B6DEBB8F-AEA1-44E0-97B9-188D8A36B11A}" srcOrd="0" destOrd="0" presId="urn:microsoft.com/office/officeart/2005/8/layout/hChevron3"/>
    <dgm:cxn modelId="{86F830D7-FDAB-4845-8C17-3A79F9DBEA9F}" type="presOf" srcId="{BA82DC24-AAC4-43CC-80B2-2E536D9B5EC6}" destId="{D4F137C2-231A-48CB-995E-7A9FADAA8486}" srcOrd="0" destOrd="0" presId="urn:microsoft.com/office/officeart/2005/8/layout/hChevron3"/>
    <dgm:cxn modelId="{A92F7D5A-3C8B-4313-A6D1-B4E0083BD695}" type="presParOf" srcId="{E0AE605F-B4EE-4622-A297-425DEE8D6A56}" destId="{C122AAEE-18A1-41DA-BD51-61152192E2F0}" srcOrd="0" destOrd="0" presId="urn:microsoft.com/office/officeart/2005/8/layout/hChevron3"/>
    <dgm:cxn modelId="{6A985598-9170-4134-8F71-CE476C99DE2C}" type="presParOf" srcId="{E0AE605F-B4EE-4622-A297-425DEE8D6A56}" destId="{123ECFB5-F4AA-4869-A30B-86705C2A2D05}" srcOrd="1" destOrd="0" presId="urn:microsoft.com/office/officeart/2005/8/layout/hChevron3"/>
    <dgm:cxn modelId="{5FF8124A-334D-41FD-91F2-86FBCD47565A}" type="presParOf" srcId="{E0AE605F-B4EE-4622-A297-425DEE8D6A56}" destId="{D4F137C2-231A-48CB-995E-7A9FADAA8486}" srcOrd="2" destOrd="0" presId="urn:microsoft.com/office/officeart/2005/8/layout/hChevron3"/>
    <dgm:cxn modelId="{EC1072E3-6F07-449B-9FC5-F3F5B7960539}" type="presParOf" srcId="{E0AE605F-B4EE-4622-A297-425DEE8D6A56}" destId="{2E2396F5-39A1-47D4-A9C8-060246A40B65}" srcOrd="3" destOrd="0" presId="urn:microsoft.com/office/officeart/2005/8/layout/hChevron3"/>
    <dgm:cxn modelId="{3C6AE107-3B5D-4780-AED4-57EA5FD809C5}" type="presParOf" srcId="{E0AE605F-B4EE-4622-A297-425DEE8D6A56}" destId="{EB48D6E3-DA7C-421E-AB6B-3C54E782DD5E}" srcOrd="4" destOrd="0" presId="urn:microsoft.com/office/officeart/2005/8/layout/hChevron3"/>
    <dgm:cxn modelId="{FB4D2845-F9C8-4F85-A7C5-F973A3F61187}" type="presParOf" srcId="{E0AE605F-B4EE-4622-A297-425DEE8D6A56}" destId="{21178942-93BB-4492-8BE3-CC33F0A35EBA}" srcOrd="5" destOrd="0" presId="urn:microsoft.com/office/officeart/2005/8/layout/hChevron3"/>
    <dgm:cxn modelId="{FF296714-55E3-4785-9F8C-916AF8E6B47F}" type="presParOf" srcId="{E0AE605F-B4EE-4622-A297-425DEE8D6A56}" destId="{B6DEBB8F-AEA1-44E0-97B9-188D8A36B11A}" srcOrd="6" destOrd="0" presId="urn:microsoft.com/office/officeart/2005/8/layout/hChevron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22AAEE-18A1-41DA-BD51-61152192E2F0}">
      <dsp:nvSpPr>
        <dsp:cNvPr id="0" name=""/>
        <dsp:cNvSpPr/>
      </dsp:nvSpPr>
      <dsp:spPr>
        <a:xfrm>
          <a:off x="1897" y="79323"/>
          <a:ext cx="1465004" cy="667132"/>
        </a:xfrm>
        <a:prstGeom prst="homePlate">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rtl="0" latinLnBrk="1">
            <a:lnSpc>
              <a:spcPct val="90000"/>
            </a:lnSpc>
            <a:spcBef>
              <a:spcPct val="0"/>
            </a:spcBef>
            <a:spcAft>
              <a:spcPct val="35000"/>
            </a:spcAft>
            <a:buNone/>
          </a:pPr>
          <a:r>
            <a:rPr lang="en-US" sz="800" b="1" kern="1200" noProof="0" dirty="0">
              <a:solidFill>
                <a:schemeClr val="bg1"/>
              </a:solidFill>
              <a:latin typeface="Arial Narrow"/>
              <a:ea typeface="굴림"/>
            </a:rPr>
            <a:t>Request </a:t>
          </a:r>
          <a:br>
            <a:rPr lang="en-US" sz="800" b="1" kern="1200" noProof="0" dirty="0">
              <a:solidFill>
                <a:schemeClr val="bg1"/>
              </a:solidFill>
              <a:latin typeface="Arial Narrow"/>
              <a:ea typeface="굴림"/>
            </a:rPr>
          </a:br>
          <a:r>
            <a:rPr lang="en-US" sz="800" b="1" kern="1200" noProof="0" dirty="0">
              <a:solidFill>
                <a:schemeClr val="bg1"/>
              </a:solidFill>
              <a:latin typeface="Arial Narrow"/>
              <a:ea typeface="굴림"/>
            </a:rPr>
            <a:t>Collection</a:t>
          </a:r>
        </a:p>
      </dsp:txBody>
      <dsp:txXfrm>
        <a:off x="1897" y="79323"/>
        <a:ext cx="1298221" cy="667132"/>
      </dsp:txXfrm>
    </dsp:sp>
    <dsp:sp modelId="{D4F137C2-231A-48CB-995E-7A9FADAA8486}">
      <dsp:nvSpPr>
        <dsp:cNvPr id="0" name=""/>
        <dsp:cNvSpPr/>
      </dsp:nvSpPr>
      <dsp:spPr>
        <a:xfrm>
          <a:off x="882189" y="79323"/>
          <a:ext cx="1781458" cy="667132"/>
        </a:xfrm>
        <a:prstGeom prst="chevr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rtl="0" latinLnBrk="1">
            <a:lnSpc>
              <a:spcPct val="90000"/>
            </a:lnSpc>
            <a:spcBef>
              <a:spcPct val="0"/>
            </a:spcBef>
            <a:spcAft>
              <a:spcPct val="35000"/>
            </a:spcAft>
            <a:buNone/>
          </a:pPr>
          <a:r>
            <a:rPr lang="en-US" sz="800" b="1" kern="1200" noProof="0" dirty="0">
              <a:solidFill>
                <a:schemeClr val="bg1"/>
              </a:solidFill>
              <a:latin typeface="Arial Narrow"/>
              <a:ea typeface="굴림"/>
            </a:rPr>
            <a:t>Progress Design Development</a:t>
          </a:r>
          <a:endParaRPr lang="en-US" sz="800" b="1" kern="1200" noProof="0" dirty="0">
            <a:solidFill>
              <a:schemeClr val="bg1"/>
            </a:solidFill>
            <a:latin typeface="Arial Narrow"/>
          </a:endParaRPr>
        </a:p>
      </dsp:txBody>
      <dsp:txXfrm>
        <a:off x="1215755" y="79323"/>
        <a:ext cx="1114326" cy="667132"/>
      </dsp:txXfrm>
    </dsp:sp>
    <dsp:sp modelId="{EB48D6E3-DA7C-421E-AB6B-3C54E782DD5E}">
      <dsp:nvSpPr>
        <dsp:cNvPr id="0" name=""/>
        <dsp:cNvSpPr/>
      </dsp:nvSpPr>
      <dsp:spPr>
        <a:xfrm>
          <a:off x="2136824" y="79323"/>
          <a:ext cx="1573823" cy="667132"/>
        </a:xfrm>
        <a:prstGeom prst="chevr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latinLnBrk="1">
            <a:lnSpc>
              <a:spcPct val="90000"/>
            </a:lnSpc>
            <a:spcBef>
              <a:spcPct val="0"/>
            </a:spcBef>
            <a:spcAft>
              <a:spcPct val="35000"/>
            </a:spcAft>
            <a:buNone/>
          </a:pPr>
          <a:r>
            <a:rPr lang="en-US" sz="800" b="1" kern="1200" noProof="0" dirty="0">
              <a:solidFill>
                <a:schemeClr val="bg1"/>
              </a:solidFill>
              <a:latin typeface="Arial Narrow"/>
              <a:ea typeface="굴림"/>
            </a:rPr>
            <a:t>Testing</a:t>
          </a:r>
          <a:endParaRPr lang="en-US" sz="800" b="1" kern="1200" noProof="0" dirty="0">
            <a:solidFill>
              <a:schemeClr val="bg1"/>
            </a:solidFill>
            <a:latin typeface="Arial Narrow"/>
          </a:endParaRPr>
        </a:p>
      </dsp:txBody>
      <dsp:txXfrm>
        <a:off x="2470390" y="79323"/>
        <a:ext cx="906691" cy="667132"/>
      </dsp:txXfrm>
    </dsp:sp>
    <dsp:sp modelId="{B6DEBB8F-AEA1-44E0-97B9-188D8A36B11A}">
      <dsp:nvSpPr>
        <dsp:cNvPr id="0" name=""/>
        <dsp:cNvSpPr/>
      </dsp:nvSpPr>
      <dsp:spPr>
        <a:xfrm>
          <a:off x="3154880" y="79323"/>
          <a:ext cx="1942742" cy="667132"/>
        </a:xfrm>
        <a:prstGeom prst="chevr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latinLnBrk="1">
            <a:lnSpc>
              <a:spcPct val="90000"/>
            </a:lnSpc>
            <a:spcBef>
              <a:spcPct val="0"/>
            </a:spcBef>
            <a:spcAft>
              <a:spcPct val="35000"/>
            </a:spcAft>
            <a:buNone/>
          </a:pPr>
          <a:r>
            <a:rPr lang="en-US" sz="800" b="1" kern="1200" noProof="0" dirty="0">
              <a:solidFill>
                <a:schemeClr val="bg1"/>
              </a:solidFill>
              <a:latin typeface="Arial Narrow" panose="020B0606020202030204" pitchFamily="34" charset="0"/>
            </a:rPr>
            <a:t>Function expansion</a:t>
          </a:r>
        </a:p>
        <a:p>
          <a:pPr marL="0" lvl="0" indent="0" algn="ctr" defTabSz="355600" rtl="0" latinLnBrk="1">
            <a:lnSpc>
              <a:spcPct val="90000"/>
            </a:lnSpc>
            <a:spcBef>
              <a:spcPct val="0"/>
            </a:spcBef>
            <a:spcAft>
              <a:spcPct val="35000"/>
            </a:spcAft>
            <a:buNone/>
          </a:pPr>
          <a:r>
            <a:rPr lang="en-US" sz="800" b="1" kern="1200" noProof="0" dirty="0">
              <a:solidFill>
                <a:schemeClr val="bg1"/>
              </a:solidFill>
              <a:latin typeface="Arial Narrow"/>
            </a:rPr>
            <a:t>&amp; </a:t>
          </a:r>
          <a:r>
            <a:rPr lang="en-US" sz="800" b="1" kern="1200" noProof="0" dirty="0">
              <a:solidFill>
                <a:schemeClr val="bg1"/>
              </a:solidFill>
              <a:latin typeface="Arial Narrow"/>
              <a:ea typeface="굴림"/>
            </a:rPr>
            <a:t>System Release</a:t>
          </a:r>
        </a:p>
      </dsp:txBody>
      <dsp:txXfrm>
        <a:off x="3488446" y="79323"/>
        <a:ext cx="1275610" cy="667132"/>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3037840" cy="464820"/>
          </a:xfrm>
          <a:prstGeom prst="rect">
            <a:avLst/>
          </a:prstGeom>
        </p:spPr>
        <p:txBody>
          <a:bodyPr vert="horz" lIns="92157" tIns="46078" rIns="92157" bIns="46078" rtlCol="0"/>
          <a:lstStyle>
            <a:lvl1pPr algn="l">
              <a:defRPr sz="1200"/>
            </a:lvl1pPr>
          </a:lstStyle>
          <a:p>
            <a:endParaRPr lang="ko-KR" altLang="en-US" dirty="0"/>
          </a:p>
        </p:txBody>
      </p:sp>
      <p:sp>
        <p:nvSpPr>
          <p:cNvPr id="3" name="날짜 개체 틀 2"/>
          <p:cNvSpPr>
            <a:spLocks noGrp="1"/>
          </p:cNvSpPr>
          <p:nvPr>
            <p:ph type="dt" idx="1"/>
          </p:nvPr>
        </p:nvSpPr>
        <p:spPr>
          <a:xfrm>
            <a:off x="3970939" y="0"/>
            <a:ext cx="3037840" cy="464820"/>
          </a:xfrm>
          <a:prstGeom prst="rect">
            <a:avLst/>
          </a:prstGeom>
        </p:spPr>
        <p:txBody>
          <a:bodyPr vert="horz" lIns="92157" tIns="46078" rIns="92157" bIns="46078" rtlCol="0"/>
          <a:lstStyle>
            <a:lvl1pPr algn="r">
              <a:defRPr sz="1200"/>
            </a:lvl1pPr>
          </a:lstStyle>
          <a:p>
            <a:fld id="{A73A019D-C1A3-403A-B167-6536D71D1F1F}" type="datetimeFigureOut">
              <a:rPr lang="ko-KR" altLang="en-US" smtClean="0"/>
              <a:pPr/>
              <a:t>2026-03-26</a:t>
            </a:fld>
            <a:endParaRPr lang="ko-KR" altLang="en-US" dirty="0"/>
          </a:p>
        </p:txBody>
      </p:sp>
      <p:sp>
        <p:nvSpPr>
          <p:cNvPr id="4" name="슬라이드 이미지 개체 틀 3"/>
          <p:cNvSpPr>
            <a:spLocks noGrp="1" noRot="1" noChangeAspect="1"/>
          </p:cNvSpPr>
          <p:nvPr>
            <p:ph type="sldImg" idx="2"/>
          </p:nvPr>
        </p:nvSpPr>
        <p:spPr>
          <a:xfrm>
            <a:off x="987425" y="696913"/>
            <a:ext cx="5035550" cy="3486150"/>
          </a:xfrm>
          <a:prstGeom prst="rect">
            <a:avLst/>
          </a:prstGeom>
          <a:noFill/>
          <a:ln w="12700">
            <a:solidFill>
              <a:prstClr val="black"/>
            </a:solidFill>
          </a:ln>
        </p:spPr>
        <p:txBody>
          <a:bodyPr vert="horz" lIns="92157" tIns="46078" rIns="92157" bIns="46078" rtlCol="0" anchor="ctr"/>
          <a:lstStyle/>
          <a:p>
            <a:endParaRPr lang="ko-KR" altLang="en-US" dirty="0"/>
          </a:p>
        </p:txBody>
      </p:sp>
      <p:sp>
        <p:nvSpPr>
          <p:cNvPr id="5" name="슬라이드 노트 개체 틀 4"/>
          <p:cNvSpPr>
            <a:spLocks noGrp="1"/>
          </p:cNvSpPr>
          <p:nvPr>
            <p:ph type="body" sz="quarter" idx="3"/>
          </p:nvPr>
        </p:nvSpPr>
        <p:spPr>
          <a:xfrm>
            <a:off x="701042" y="4415790"/>
            <a:ext cx="5608319" cy="4183380"/>
          </a:xfrm>
          <a:prstGeom prst="rect">
            <a:avLst/>
          </a:prstGeom>
        </p:spPr>
        <p:txBody>
          <a:bodyPr vert="horz" lIns="92157" tIns="46078" rIns="92157" bIns="46078"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8829967"/>
            <a:ext cx="3037840" cy="464820"/>
          </a:xfrm>
          <a:prstGeom prst="rect">
            <a:avLst/>
          </a:prstGeom>
        </p:spPr>
        <p:txBody>
          <a:bodyPr vert="horz" lIns="92157" tIns="46078" rIns="92157" bIns="4607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970939" y="8829967"/>
            <a:ext cx="3037840" cy="464820"/>
          </a:xfrm>
          <a:prstGeom prst="rect">
            <a:avLst/>
          </a:prstGeom>
        </p:spPr>
        <p:txBody>
          <a:bodyPr vert="horz" lIns="92157" tIns="46078" rIns="92157" bIns="46078" rtlCol="0" anchor="b"/>
          <a:lstStyle>
            <a:lvl1pPr algn="r">
              <a:defRPr sz="1200"/>
            </a:lvl1pPr>
          </a:lstStyle>
          <a:p>
            <a:fld id="{964877DF-198A-4EB8-99BE-A8A063D102D1}" type="slidenum">
              <a:rPr lang="ko-KR" altLang="en-US" smtClean="0"/>
              <a:pPr/>
              <a:t>‹#›</a:t>
            </a:fld>
            <a:endParaRPr lang="ko-KR" altLang="en-US" dirty="0"/>
          </a:p>
        </p:txBody>
      </p:sp>
    </p:spTree>
    <p:extLst>
      <p:ext uri="{BB962C8B-B14F-4D97-AF65-F5344CB8AC3E}">
        <p14:creationId xmlns:p14="http://schemas.microsoft.com/office/powerpoint/2010/main" val="2645828132"/>
      </p:ext>
    </p:extLst>
  </p:cSld>
  <p:clrMap bg1="lt1" tx1="dk1" bg2="lt2" tx2="dk2" accent1="accent1" accent2="accent2" accent3="accent3" accent4="accent4" accent5="accent5" accent6="accent6" hlink="hlink" folHlink="folHlink"/>
  <p:notesStyle>
    <a:lvl1pPr marL="0" algn="l" defTabSz="952799" rtl="0" eaLnBrk="1" latinLnBrk="1" hangingPunct="1">
      <a:defRPr sz="1200" kern="1200">
        <a:solidFill>
          <a:schemeClr val="tx1"/>
        </a:solidFill>
        <a:latin typeface="+mn-lt"/>
        <a:ea typeface="+mn-ea"/>
        <a:cs typeface="+mn-cs"/>
      </a:defRPr>
    </a:lvl1pPr>
    <a:lvl2pPr marL="476393" algn="l" defTabSz="952799" rtl="0" eaLnBrk="1" latinLnBrk="1" hangingPunct="1">
      <a:defRPr sz="1200" kern="1200">
        <a:solidFill>
          <a:schemeClr val="tx1"/>
        </a:solidFill>
        <a:latin typeface="+mn-lt"/>
        <a:ea typeface="+mn-ea"/>
        <a:cs typeface="+mn-cs"/>
      </a:defRPr>
    </a:lvl2pPr>
    <a:lvl3pPr marL="952799" algn="l" defTabSz="952799" rtl="0" eaLnBrk="1" latinLnBrk="1" hangingPunct="1">
      <a:defRPr sz="1200" kern="1200">
        <a:solidFill>
          <a:schemeClr val="tx1"/>
        </a:solidFill>
        <a:latin typeface="+mn-lt"/>
        <a:ea typeface="+mn-ea"/>
        <a:cs typeface="+mn-cs"/>
      </a:defRPr>
    </a:lvl3pPr>
    <a:lvl4pPr marL="1429186" algn="l" defTabSz="952799" rtl="0" eaLnBrk="1" latinLnBrk="1" hangingPunct="1">
      <a:defRPr sz="1200" kern="1200">
        <a:solidFill>
          <a:schemeClr val="tx1"/>
        </a:solidFill>
        <a:latin typeface="+mn-lt"/>
        <a:ea typeface="+mn-ea"/>
        <a:cs typeface="+mn-cs"/>
      </a:defRPr>
    </a:lvl4pPr>
    <a:lvl5pPr marL="1905599" algn="l" defTabSz="952799" rtl="0" eaLnBrk="1" latinLnBrk="1" hangingPunct="1">
      <a:defRPr sz="1200" kern="1200">
        <a:solidFill>
          <a:schemeClr val="tx1"/>
        </a:solidFill>
        <a:latin typeface="+mn-lt"/>
        <a:ea typeface="+mn-ea"/>
        <a:cs typeface="+mn-cs"/>
      </a:defRPr>
    </a:lvl5pPr>
    <a:lvl6pPr marL="2382005" algn="l" defTabSz="952799" rtl="0" eaLnBrk="1" latinLnBrk="1" hangingPunct="1">
      <a:defRPr sz="1200" kern="1200">
        <a:solidFill>
          <a:schemeClr val="tx1"/>
        </a:solidFill>
        <a:latin typeface="+mn-lt"/>
        <a:ea typeface="+mn-ea"/>
        <a:cs typeface="+mn-cs"/>
      </a:defRPr>
    </a:lvl6pPr>
    <a:lvl7pPr marL="2858398" algn="l" defTabSz="952799" rtl="0" eaLnBrk="1" latinLnBrk="1" hangingPunct="1">
      <a:defRPr sz="1200" kern="1200">
        <a:solidFill>
          <a:schemeClr val="tx1"/>
        </a:solidFill>
        <a:latin typeface="+mn-lt"/>
        <a:ea typeface="+mn-ea"/>
        <a:cs typeface="+mn-cs"/>
      </a:defRPr>
    </a:lvl7pPr>
    <a:lvl8pPr marL="3334801" algn="l" defTabSz="952799" rtl="0" eaLnBrk="1" latinLnBrk="1" hangingPunct="1">
      <a:defRPr sz="1200" kern="1200">
        <a:solidFill>
          <a:schemeClr val="tx1"/>
        </a:solidFill>
        <a:latin typeface="+mn-lt"/>
        <a:ea typeface="+mn-ea"/>
        <a:cs typeface="+mn-cs"/>
      </a:defRPr>
    </a:lvl8pPr>
    <a:lvl9pPr marL="3811188" algn="l" defTabSz="952799"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4877DF-198A-4EB8-99BE-A8A063D102D1}" type="slidenum">
              <a:rPr lang="ko-KR" altLang="en-US" smtClean="0"/>
              <a:pPr/>
              <a:t>1</a:t>
            </a:fld>
            <a:endParaRPr lang="ko-KR" altLang="en-US"/>
          </a:p>
        </p:txBody>
      </p:sp>
    </p:spTree>
    <p:extLst>
      <p:ext uri="{BB962C8B-B14F-4D97-AF65-F5344CB8AC3E}">
        <p14:creationId xmlns:p14="http://schemas.microsoft.com/office/powerpoint/2010/main" val="3250455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C562-ED86-F76C-F1F9-C2F50E3BE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4BDCB-7EF0-5136-A4EF-007F234CC4C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48A7595-104C-1B82-F30D-EB3EFD821F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DA2AF9-34C9-8E04-E89A-FDF9A8275DCB}"/>
              </a:ext>
            </a:extLst>
          </p:cNvPr>
          <p:cNvSpPr>
            <a:spLocks noGrp="1"/>
          </p:cNvSpPr>
          <p:nvPr>
            <p:ph type="sldNum" sz="quarter" idx="5"/>
          </p:nvPr>
        </p:nvSpPr>
        <p:spPr/>
        <p:txBody>
          <a:bodyPr/>
          <a:lstStyle/>
          <a:p>
            <a:fld id="{964877DF-198A-4EB8-99BE-A8A063D102D1}" type="slidenum">
              <a:rPr lang="ko-KR" altLang="en-US" smtClean="0"/>
              <a:pPr/>
              <a:t>6</a:t>
            </a:fld>
            <a:endParaRPr lang="ko-KR" altLang="en-US" dirty="0"/>
          </a:p>
        </p:txBody>
      </p:sp>
    </p:spTree>
    <p:extLst>
      <p:ext uri="{BB962C8B-B14F-4D97-AF65-F5344CB8AC3E}">
        <p14:creationId xmlns:p14="http://schemas.microsoft.com/office/powerpoint/2010/main" val="2775518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A29EE-D271-4D9D-5819-FD3E41582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6F46C-0AC8-5594-E8EA-DC192F552AB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78194D2-A70D-FA95-4D47-A46954376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C09988-90E4-1105-E0E2-87844F7DEEFD}"/>
              </a:ext>
            </a:extLst>
          </p:cNvPr>
          <p:cNvSpPr>
            <a:spLocks noGrp="1"/>
          </p:cNvSpPr>
          <p:nvPr>
            <p:ph type="sldNum" sz="quarter" idx="5"/>
          </p:nvPr>
        </p:nvSpPr>
        <p:spPr/>
        <p:txBody>
          <a:bodyPr/>
          <a:lstStyle/>
          <a:p>
            <a:fld id="{964877DF-198A-4EB8-99BE-A8A063D102D1}" type="slidenum">
              <a:rPr lang="ko-KR" altLang="en-US" smtClean="0"/>
              <a:pPr/>
              <a:t>8</a:t>
            </a:fld>
            <a:endParaRPr lang="ko-KR" altLang="en-US" dirty="0"/>
          </a:p>
        </p:txBody>
      </p:sp>
    </p:spTree>
    <p:extLst>
      <p:ext uri="{BB962C8B-B14F-4D97-AF65-F5344CB8AC3E}">
        <p14:creationId xmlns:p14="http://schemas.microsoft.com/office/powerpoint/2010/main" val="1687452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A9639-8BF4-7BC7-15E0-093EAA09D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F5432-0206-7255-7F36-1B06637C0F8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32D90E3-7362-67CF-F713-BD5AF13587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B60C6-7EEA-74C5-1B33-985A2BB359D2}"/>
              </a:ext>
            </a:extLst>
          </p:cNvPr>
          <p:cNvSpPr>
            <a:spLocks noGrp="1"/>
          </p:cNvSpPr>
          <p:nvPr>
            <p:ph type="sldNum" sz="quarter" idx="5"/>
          </p:nvPr>
        </p:nvSpPr>
        <p:spPr/>
        <p:txBody>
          <a:bodyPr/>
          <a:lstStyle/>
          <a:p>
            <a:fld id="{964877DF-198A-4EB8-99BE-A8A063D102D1}" type="slidenum">
              <a:rPr lang="ko-KR" altLang="en-US" smtClean="0"/>
              <a:pPr/>
              <a:t>9</a:t>
            </a:fld>
            <a:endParaRPr lang="ko-KR" altLang="en-US" dirty="0"/>
          </a:p>
        </p:txBody>
      </p:sp>
    </p:spTree>
    <p:extLst>
      <p:ext uri="{BB962C8B-B14F-4D97-AF65-F5344CB8AC3E}">
        <p14:creationId xmlns:p14="http://schemas.microsoft.com/office/powerpoint/2010/main" val="500817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4877DF-198A-4EB8-99BE-A8A063D102D1}" type="slidenum">
              <a:rPr lang="ko-KR" altLang="en-US" smtClean="0"/>
              <a:pPr/>
              <a:t>10</a:t>
            </a:fld>
            <a:endParaRPr lang="ko-KR" altLang="en-US" dirty="0"/>
          </a:p>
        </p:txBody>
      </p:sp>
    </p:spTree>
    <p:extLst>
      <p:ext uri="{BB962C8B-B14F-4D97-AF65-F5344CB8AC3E}">
        <p14:creationId xmlns:p14="http://schemas.microsoft.com/office/powerpoint/2010/main" val="616016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2" name="직사각형 2"/>
          <p:cNvSpPr/>
          <p:nvPr userDrawn="1"/>
        </p:nvSpPr>
        <p:spPr>
          <a:xfrm>
            <a:off x="4216399" y="116632"/>
            <a:ext cx="1457325" cy="254000"/>
          </a:xfrm>
          <a:prstGeom prst="rect">
            <a:avLst/>
          </a:prstGeom>
          <a:ln>
            <a:solidFill>
              <a:srgbClr val="FFFFFF">
                <a:lumMod val="75000"/>
              </a:srgbClr>
            </a:solidFill>
          </a:ln>
        </p:spPr>
        <p:txBody>
          <a:bodyPr wrap="none">
            <a:spAutoFit/>
          </a:bodyPr>
          <a:lstStyle/>
          <a:p>
            <a:pPr defTabSz="914400" fontAlgn="base" latinLnBrk="0">
              <a:spcBef>
                <a:spcPct val="0"/>
              </a:spcBef>
              <a:spcAft>
                <a:spcPct val="0"/>
              </a:spcAft>
              <a:defRPr/>
            </a:pPr>
            <a:r>
              <a:rPr lang="en-US" altLang="ko-KR" sz="1000" dirty="0">
                <a:solidFill>
                  <a:srgbClr val="BFBFBF"/>
                </a:solidFill>
                <a:latin typeface="Arial" charset="0"/>
                <a:cs typeface="Arial" charset="0"/>
              </a:rPr>
              <a:t>LGE Internal Use Only</a:t>
            </a:r>
            <a:endParaRPr lang="ko-KR" altLang="en-US" sz="1000" dirty="0">
              <a:solidFill>
                <a:srgbClr val="BFBFBF"/>
              </a:solidFill>
              <a:latin typeface="Arial" charset="0"/>
              <a:cs typeface="Arial"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95300" y="6356357"/>
            <a:ext cx="2311400" cy="365125"/>
          </a:xfrm>
          <a:prstGeom prst="rect">
            <a:avLst/>
          </a:prstGeom>
        </p:spPr>
        <p:txBody>
          <a:bodyPr/>
          <a:lstStyle/>
          <a:p>
            <a:fld id="{530820CF-B880-4189-942D-D702A7CBA730}" type="datetimeFigureOut">
              <a:rPr lang="zh-CN" altLang="en-US" smtClean="0">
                <a:solidFill>
                  <a:prstClr val="black">
                    <a:tint val="75000"/>
                  </a:prstClr>
                </a:solidFill>
              </a:rPr>
              <a:pPr/>
              <a:t>2026/3/26</a:t>
            </a:fld>
            <a:endParaRPr lang="zh-CN" altLang="en-US">
              <a:solidFill>
                <a:prstClr val="black">
                  <a:tint val="75000"/>
                </a:prstClr>
              </a:solidFill>
            </a:endParaRPr>
          </a:p>
        </p:txBody>
      </p:sp>
      <p:sp>
        <p:nvSpPr>
          <p:cNvPr id="3" name="页脚占位符 2"/>
          <p:cNvSpPr>
            <a:spLocks noGrp="1"/>
          </p:cNvSpPr>
          <p:nvPr>
            <p:ph type="ftr" sz="quarter" idx="11"/>
          </p:nvPr>
        </p:nvSpPr>
        <p:spPr>
          <a:xfrm>
            <a:off x="3384550" y="6356357"/>
            <a:ext cx="3136900" cy="365125"/>
          </a:xfrm>
          <a:prstGeom prst="rect">
            <a:avLst/>
          </a:prstGeom>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a:xfrm>
            <a:off x="7099300" y="6356357"/>
            <a:ext cx="2311400" cy="365125"/>
          </a:xfrm>
          <a:prstGeom prst="rect">
            <a:avLst/>
          </a:prstGeom>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직사각형 2"/>
          <p:cNvSpPr/>
          <p:nvPr userDrawn="1"/>
        </p:nvSpPr>
        <p:spPr>
          <a:xfrm>
            <a:off x="4216399" y="116632"/>
            <a:ext cx="1457325" cy="254000"/>
          </a:xfrm>
          <a:prstGeom prst="rect">
            <a:avLst/>
          </a:prstGeom>
          <a:ln>
            <a:solidFill>
              <a:srgbClr val="FFFFFF">
                <a:lumMod val="75000"/>
              </a:srgbClr>
            </a:solidFill>
          </a:ln>
        </p:spPr>
        <p:txBody>
          <a:bodyPr wrap="none">
            <a:spAutoFit/>
          </a:bodyPr>
          <a:lstStyle/>
          <a:p>
            <a:pPr defTabSz="914400" fontAlgn="base" latinLnBrk="0">
              <a:spcBef>
                <a:spcPct val="0"/>
              </a:spcBef>
              <a:spcAft>
                <a:spcPct val="0"/>
              </a:spcAft>
              <a:defRPr/>
            </a:pPr>
            <a:r>
              <a:rPr lang="en-US" altLang="ko-KR" sz="1000" dirty="0">
                <a:solidFill>
                  <a:srgbClr val="BFBFBF"/>
                </a:solidFill>
                <a:latin typeface="Arial" charset="0"/>
                <a:cs typeface="Arial" charset="0"/>
              </a:rPr>
              <a:t>LGE Internal Use Only</a:t>
            </a:r>
            <a:endParaRPr lang="ko-KR" altLang="en-US" sz="1000" dirty="0">
              <a:solidFill>
                <a:srgbClr val="BFBFBF"/>
              </a:solidFill>
              <a:latin typeface="Arial" charset="0"/>
              <a:cs typeface="Arial" charset="0"/>
            </a:endParaRPr>
          </a:p>
        </p:txBody>
      </p:sp>
      <p:sp>
        <p:nvSpPr>
          <p:cNvPr id="6" name="Line 9"/>
          <p:cNvSpPr>
            <a:spLocks noChangeShapeType="1"/>
          </p:cNvSpPr>
          <p:nvPr userDrawn="1"/>
        </p:nvSpPr>
        <p:spPr bwMode="auto">
          <a:xfrm flipV="1">
            <a:off x="0" y="476672"/>
            <a:ext cx="9921875" cy="0"/>
          </a:xfrm>
          <a:prstGeom prst="line">
            <a:avLst/>
          </a:prstGeom>
          <a:noFill/>
          <a:ln w="9525">
            <a:solidFill>
              <a:schemeClr val="tx1"/>
            </a:solidFill>
            <a:round/>
            <a:headEnd/>
            <a:tailEnd/>
          </a:ln>
        </p:spPr>
        <p:txBody>
          <a:bodyPr lIns="68312" tIns="34159" rIns="68312" bIns="34159">
            <a:spAutoFit/>
          </a:bodyPr>
          <a:lstStyle/>
          <a:p>
            <a:pPr defTabSz="914400" fontAlgn="base">
              <a:spcBef>
                <a:spcPct val="0"/>
              </a:spcBef>
              <a:spcAft>
                <a:spcPct val="0"/>
              </a:spcAft>
              <a:defRPr/>
            </a:pPr>
            <a:endParaRPr kumimoji="1" lang="ko-KR" altLang="en-US" sz="1300" dirty="0">
              <a:solidFill>
                <a:srgbClr val="000000"/>
              </a:solidFill>
              <a:latin typeface="Arial" pitchFamily="34" charset="0"/>
              <a:cs typeface="Arial"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빈 화면">
    <p:spTree>
      <p:nvGrpSpPr>
        <p:cNvPr id="1" name=""/>
        <p:cNvGrpSpPr/>
        <p:nvPr/>
      </p:nvGrpSpPr>
      <p:grpSpPr>
        <a:xfrm>
          <a:off x="0" y="0"/>
          <a:ext cx="0" cy="0"/>
          <a:chOff x="0" y="0"/>
          <a:chExt cx="0" cy="0"/>
        </a:xfrm>
      </p:grpSpPr>
      <p:sp>
        <p:nvSpPr>
          <p:cNvPr id="2" name="직사각형 2"/>
          <p:cNvSpPr/>
          <p:nvPr userDrawn="1"/>
        </p:nvSpPr>
        <p:spPr>
          <a:xfrm>
            <a:off x="4216399" y="116632"/>
            <a:ext cx="1457325" cy="254000"/>
          </a:xfrm>
          <a:prstGeom prst="rect">
            <a:avLst/>
          </a:prstGeom>
          <a:ln>
            <a:solidFill>
              <a:srgbClr val="FFFFFF">
                <a:lumMod val="75000"/>
              </a:srgbClr>
            </a:solidFill>
          </a:ln>
        </p:spPr>
        <p:txBody>
          <a:bodyPr wrap="none">
            <a:spAutoFit/>
          </a:bodyPr>
          <a:lstStyle/>
          <a:p>
            <a:pPr defTabSz="914400" fontAlgn="base" latinLnBrk="0">
              <a:spcBef>
                <a:spcPct val="0"/>
              </a:spcBef>
              <a:spcAft>
                <a:spcPct val="0"/>
              </a:spcAft>
              <a:defRPr/>
            </a:pPr>
            <a:r>
              <a:rPr lang="en-US" altLang="ko-KR" sz="1000" dirty="0">
                <a:solidFill>
                  <a:srgbClr val="BFBFBF"/>
                </a:solidFill>
                <a:latin typeface="Arial" charset="0"/>
                <a:cs typeface="Arial" charset="0"/>
              </a:rPr>
              <a:t>LGE Internal Use Only</a:t>
            </a:r>
            <a:endParaRPr lang="ko-KR" altLang="en-US" sz="1000" dirty="0">
              <a:solidFill>
                <a:srgbClr val="BFBFBF"/>
              </a:solidFill>
              <a:latin typeface="Arial" charset="0"/>
              <a:cs typeface="Arial" charset="0"/>
            </a:endParaRPr>
          </a:p>
        </p:txBody>
      </p:sp>
      <p:sp>
        <p:nvSpPr>
          <p:cNvPr id="3" name="Line 9"/>
          <p:cNvSpPr>
            <a:spLocks noChangeShapeType="1"/>
          </p:cNvSpPr>
          <p:nvPr userDrawn="1"/>
        </p:nvSpPr>
        <p:spPr bwMode="auto">
          <a:xfrm flipV="1">
            <a:off x="0" y="476672"/>
            <a:ext cx="9921875" cy="0"/>
          </a:xfrm>
          <a:prstGeom prst="line">
            <a:avLst/>
          </a:prstGeom>
          <a:noFill/>
          <a:ln w="9525">
            <a:solidFill>
              <a:schemeClr val="tx1"/>
            </a:solidFill>
            <a:round/>
            <a:headEnd/>
            <a:tailEnd/>
          </a:ln>
        </p:spPr>
        <p:txBody>
          <a:bodyPr lIns="68312" tIns="34159" rIns="68312" bIns="34159">
            <a:spAutoFit/>
          </a:bodyPr>
          <a:lstStyle/>
          <a:p>
            <a:pPr defTabSz="914400" fontAlgn="base">
              <a:spcBef>
                <a:spcPct val="0"/>
              </a:spcBef>
              <a:spcAft>
                <a:spcPct val="0"/>
              </a:spcAft>
              <a:defRPr/>
            </a:pPr>
            <a:endParaRPr kumimoji="1" lang="ko-KR" altLang="en-US" sz="130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3428227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Line 39">
            <a:extLst>
              <a:ext uri="{FF2B5EF4-FFF2-40B4-BE49-F238E27FC236}">
                <a16:creationId xmlns:a16="http://schemas.microsoft.com/office/drawing/2014/main" id="{38324F33-6B88-51C3-6DEF-3186C7FD7BD9}"/>
              </a:ext>
            </a:extLst>
          </p:cNvPr>
          <p:cNvSpPr>
            <a:spLocks noChangeShapeType="1"/>
          </p:cNvSpPr>
          <p:nvPr userDrawn="1"/>
        </p:nvSpPr>
        <p:spPr bwMode="auto">
          <a:xfrm>
            <a:off x="0" y="499343"/>
            <a:ext cx="9906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84363" tIns="42183" rIns="84363" bIns="42183"/>
          <a:lstStyle/>
          <a:p>
            <a:endParaRPr lang="ko-KR" altLang="en-US" sz="1662" dirty="0">
              <a:solidFill>
                <a:prstClr val="black"/>
              </a:solidFill>
              <a:latin typeface="맑은 고딕"/>
              <a:ea typeface="LG Smart_H2.0 R" panose="020B0600000101010101" pitchFamily="34" charset="-127"/>
            </a:endParaRPr>
          </a:p>
        </p:txBody>
      </p:sp>
      <p:sp>
        <p:nvSpPr>
          <p:cNvPr id="8" name="직사각형 124">
            <a:extLst>
              <a:ext uri="{FF2B5EF4-FFF2-40B4-BE49-F238E27FC236}">
                <a16:creationId xmlns:a16="http://schemas.microsoft.com/office/drawing/2014/main" id="{0E55E088-5C7C-8EFB-9657-123F2164DCC2}"/>
              </a:ext>
            </a:extLst>
          </p:cNvPr>
          <p:cNvSpPr/>
          <p:nvPr userDrawn="1"/>
        </p:nvSpPr>
        <p:spPr>
          <a:xfrm>
            <a:off x="4010064" y="121270"/>
            <a:ext cx="1624163" cy="291170"/>
          </a:xfrm>
          <a:prstGeom prst="rect">
            <a:avLst/>
          </a:prstGeom>
          <a:ln>
            <a:solidFill>
              <a:sysClr val="window" lastClr="FFFFFF">
                <a:lumMod val="85000"/>
              </a:sysClr>
            </a:solidFill>
          </a:ln>
        </p:spPr>
        <p:txBody>
          <a:bodyPr wrap="none">
            <a:spAutoFit/>
          </a:bodyPr>
          <a:lstStyle/>
          <a:p>
            <a:pPr defTabSz="844083">
              <a:defRPr/>
            </a:pPr>
            <a:r>
              <a:rPr lang="en-US" altLang="ko-KR" sz="1292" b="1" kern="0" dirty="0">
                <a:solidFill>
                  <a:srgbClr val="FFFFFF">
                    <a:lumMod val="75000"/>
                  </a:srgbClr>
                </a:solidFill>
                <a:latin typeface="Arial Narrow" panose="020B0606020202030204" pitchFamily="34" charset="0"/>
                <a:ea typeface="LG스마트체 Regular" panose="020B0600000101010101" pitchFamily="50" charset="-127"/>
              </a:rPr>
              <a:t>LGE Internal Use Only</a:t>
            </a:r>
            <a:endParaRPr lang="ko-KR" altLang="en-US" sz="1292" b="1" kern="0" dirty="0">
              <a:solidFill>
                <a:srgbClr val="FFFFFF">
                  <a:lumMod val="75000"/>
                </a:srgbClr>
              </a:solidFill>
              <a:latin typeface="Arial Narrow" panose="020B0606020202030204" pitchFamily="34" charset="0"/>
              <a:ea typeface="LG스마트체 Regular" panose="020B0600000101010101" pitchFamily="50" charset="-127"/>
            </a:endParaRPr>
          </a:p>
        </p:txBody>
      </p:sp>
      <p:pic>
        <p:nvPicPr>
          <p:cNvPr id="9" name="Picture 2" descr="D:\Vision task_20180502이후\디자인_0503\영문\영문\세로형_E_1.jpg">
            <a:extLst>
              <a:ext uri="{FF2B5EF4-FFF2-40B4-BE49-F238E27FC236}">
                <a16:creationId xmlns:a16="http://schemas.microsoft.com/office/drawing/2014/main" id="{170BE095-B173-1288-2138-975ACE473C33}"/>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636245" y="6375149"/>
            <a:ext cx="1192478" cy="438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5095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2" descr="D:\Vision task_20180502이후\디자인_0503\영문\영문\세로형_E_1.jp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805413" y="6422975"/>
            <a:ext cx="972000" cy="39057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865" r:id="rId1"/>
    <p:sldLayoutId id="2147483949" r:id="rId2"/>
    <p:sldLayoutId id="2147484047" r:id="rId3"/>
    <p:sldLayoutId id="2147484048" r:id="rId4"/>
  </p:sldLayoutIdLst>
  <p:txStyles>
    <p:titleStyle>
      <a:lvl1pPr algn="ctr" rtl="0" eaLnBrk="0" fontAlgn="base" latinLnBrk="1" hangingPunct="0">
        <a:spcBef>
          <a:spcPct val="0"/>
        </a:spcBef>
        <a:spcAft>
          <a:spcPct val="0"/>
        </a:spcAft>
        <a:defRPr kumimoji="1" sz="1300" b="1">
          <a:solidFill>
            <a:srgbClr val="BFBFBF"/>
          </a:solidFill>
          <a:latin typeface="+mj-lt"/>
          <a:ea typeface="+mj-ea"/>
          <a:cs typeface="+mj-cs"/>
        </a:defRPr>
      </a:lvl1pPr>
      <a:lvl2pPr algn="ctr" rtl="0" eaLnBrk="0" fontAlgn="base" latinLnBrk="1" hangingPunct="0">
        <a:spcBef>
          <a:spcPct val="0"/>
        </a:spcBef>
        <a:spcAft>
          <a:spcPct val="0"/>
        </a:spcAft>
        <a:defRPr kumimoji="1" sz="1300" b="1">
          <a:solidFill>
            <a:srgbClr val="BFBFBF"/>
          </a:solidFill>
          <a:latin typeface="Arial" pitchFamily="34" charset="0"/>
          <a:ea typeface="굴림" pitchFamily="50" charset="-127"/>
        </a:defRPr>
      </a:lvl2pPr>
      <a:lvl3pPr algn="ctr" rtl="0" eaLnBrk="0" fontAlgn="base" latinLnBrk="1" hangingPunct="0">
        <a:spcBef>
          <a:spcPct val="0"/>
        </a:spcBef>
        <a:spcAft>
          <a:spcPct val="0"/>
        </a:spcAft>
        <a:defRPr kumimoji="1" sz="1300" b="1">
          <a:solidFill>
            <a:srgbClr val="BFBFBF"/>
          </a:solidFill>
          <a:latin typeface="Arial" pitchFamily="34" charset="0"/>
          <a:ea typeface="굴림" pitchFamily="50" charset="-127"/>
        </a:defRPr>
      </a:lvl3pPr>
      <a:lvl4pPr algn="ctr" rtl="0" eaLnBrk="0" fontAlgn="base" latinLnBrk="1" hangingPunct="0">
        <a:spcBef>
          <a:spcPct val="0"/>
        </a:spcBef>
        <a:spcAft>
          <a:spcPct val="0"/>
        </a:spcAft>
        <a:defRPr kumimoji="1" sz="1300" b="1">
          <a:solidFill>
            <a:srgbClr val="BFBFBF"/>
          </a:solidFill>
          <a:latin typeface="Arial" pitchFamily="34" charset="0"/>
          <a:ea typeface="굴림" pitchFamily="50" charset="-127"/>
        </a:defRPr>
      </a:lvl4pPr>
      <a:lvl5pPr algn="ctr" rtl="0" eaLnBrk="0" fontAlgn="base" latinLnBrk="1" hangingPunct="0">
        <a:spcBef>
          <a:spcPct val="0"/>
        </a:spcBef>
        <a:spcAft>
          <a:spcPct val="0"/>
        </a:spcAft>
        <a:defRPr kumimoji="1" sz="1300" b="1">
          <a:solidFill>
            <a:srgbClr val="BFBFBF"/>
          </a:solidFill>
          <a:latin typeface="Arial" pitchFamily="34" charset="0"/>
          <a:ea typeface="굴림" pitchFamily="50" charset="-127"/>
        </a:defRPr>
      </a:lvl5pPr>
      <a:lvl6pPr marL="456170" algn="l" rtl="0" fontAlgn="base" latinLnBrk="1">
        <a:spcBef>
          <a:spcPct val="0"/>
        </a:spcBef>
        <a:spcAft>
          <a:spcPct val="0"/>
        </a:spcAft>
        <a:defRPr kumimoji="1" b="1">
          <a:solidFill>
            <a:schemeClr val="tx2"/>
          </a:solidFill>
          <a:latin typeface="Arial" pitchFamily="34" charset="0"/>
          <a:ea typeface="굴림" pitchFamily="50" charset="-127"/>
        </a:defRPr>
      </a:lvl6pPr>
      <a:lvl7pPr marL="912342" algn="l" rtl="0" fontAlgn="base" latinLnBrk="1">
        <a:spcBef>
          <a:spcPct val="0"/>
        </a:spcBef>
        <a:spcAft>
          <a:spcPct val="0"/>
        </a:spcAft>
        <a:defRPr kumimoji="1" b="1">
          <a:solidFill>
            <a:schemeClr val="tx2"/>
          </a:solidFill>
          <a:latin typeface="Arial" pitchFamily="34" charset="0"/>
          <a:ea typeface="굴림" pitchFamily="50" charset="-127"/>
        </a:defRPr>
      </a:lvl7pPr>
      <a:lvl8pPr marL="1368507" algn="l" rtl="0" fontAlgn="base" latinLnBrk="1">
        <a:spcBef>
          <a:spcPct val="0"/>
        </a:spcBef>
        <a:spcAft>
          <a:spcPct val="0"/>
        </a:spcAft>
        <a:defRPr kumimoji="1" b="1">
          <a:solidFill>
            <a:schemeClr val="tx2"/>
          </a:solidFill>
          <a:latin typeface="Arial" pitchFamily="34" charset="0"/>
          <a:ea typeface="굴림" pitchFamily="50" charset="-127"/>
        </a:defRPr>
      </a:lvl8pPr>
      <a:lvl9pPr marL="1824683" algn="l" rtl="0" fontAlgn="base" latinLnBrk="1">
        <a:spcBef>
          <a:spcPct val="0"/>
        </a:spcBef>
        <a:spcAft>
          <a:spcPct val="0"/>
        </a:spcAft>
        <a:defRPr kumimoji="1" b="1">
          <a:solidFill>
            <a:schemeClr val="tx2"/>
          </a:solidFill>
          <a:latin typeface="Arial" pitchFamily="34" charset="0"/>
          <a:ea typeface="굴림" pitchFamily="50" charset="-127"/>
        </a:defRPr>
      </a:lvl9pPr>
    </p:titleStyle>
    <p:bodyStyle>
      <a:lvl1pPr algn="l" rtl="0" eaLnBrk="0" fontAlgn="base" latinLnBrk="1" hangingPunct="0">
        <a:spcBef>
          <a:spcPct val="20000"/>
        </a:spcBef>
        <a:spcAft>
          <a:spcPct val="0"/>
        </a:spcAft>
        <a:defRPr kumimoji="1" sz="1300" b="1">
          <a:solidFill>
            <a:schemeClr val="tx1"/>
          </a:solidFill>
          <a:latin typeface="+mn-lt"/>
          <a:ea typeface="+mn-ea"/>
          <a:cs typeface="+mn-cs"/>
        </a:defRPr>
      </a:lvl1pPr>
      <a:lvl2pPr marL="738380" indent="-282042" algn="l" rtl="0" eaLnBrk="0" fontAlgn="base" latinLnBrk="1" hangingPunct="0">
        <a:spcBef>
          <a:spcPct val="20000"/>
        </a:spcBef>
        <a:spcAft>
          <a:spcPct val="0"/>
        </a:spcAft>
        <a:defRPr kumimoji="1" sz="1100" b="1">
          <a:solidFill>
            <a:schemeClr val="tx1"/>
          </a:solidFill>
          <a:latin typeface="+mn-ea"/>
          <a:ea typeface="+mn-ea"/>
        </a:defRPr>
      </a:lvl2pPr>
      <a:lvl3pPr marL="1137668" indent="-224995" algn="l" rtl="0" eaLnBrk="0" fontAlgn="base" latinLnBrk="1" hangingPunct="0">
        <a:spcBef>
          <a:spcPct val="20000"/>
        </a:spcBef>
        <a:spcAft>
          <a:spcPct val="0"/>
        </a:spcAft>
        <a:defRPr kumimoji="1" sz="900" b="1">
          <a:solidFill>
            <a:schemeClr val="tx1"/>
          </a:solidFill>
          <a:latin typeface="+mn-ea"/>
          <a:ea typeface="+mn-ea"/>
        </a:defRPr>
      </a:lvl3pPr>
      <a:lvl4pPr marL="1594010" indent="-224995" algn="l" rtl="0" eaLnBrk="0" fontAlgn="base" latinLnBrk="1" hangingPunct="0">
        <a:spcBef>
          <a:spcPct val="20000"/>
        </a:spcBef>
        <a:spcAft>
          <a:spcPct val="0"/>
        </a:spcAft>
        <a:defRPr kumimoji="1" sz="900" b="1">
          <a:solidFill>
            <a:schemeClr val="tx1"/>
          </a:solidFill>
          <a:latin typeface="+mn-ea"/>
          <a:ea typeface="+mn-ea"/>
        </a:defRPr>
      </a:lvl4pPr>
      <a:lvl5pPr marL="2050343" indent="-224995" algn="l" rtl="0" eaLnBrk="0" fontAlgn="base" latinLnBrk="1" hangingPunct="0">
        <a:spcBef>
          <a:spcPct val="20000"/>
        </a:spcBef>
        <a:spcAft>
          <a:spcPct val="0"/>
        </a:spcAft>
        <a:defRPr kumimoji="1" sz="900" b="1">
          <a:solidFill>
            <a:schemeClr val="tx1"/>
          </a:solidFill>
          <a:latin typeface="+mn-ea"/>
          <a:ea typeface="+mn-ea"/>
        </a:defRPr>
      </a:lvl5pPr>
      <a:lvl6pPr marL="2508926" indent="-228085" algn="l" rtl="0" fontAlgn="base" latinLnBrk="1">
        <a:spcBef>
          <a:spcPct val="20000"/>
        </a:spcBef>
        <a:spcAft>
          <a:spcPct val="0"/>
        </a:spcAft>
        <a:defRPr kumimoji="1" sz="900" b="1">
          <a:solidFill>
            <a:schemeClr val="tx1"/>
          </a:solidFill>
          <a:latin typeface="+mn-ea"/>
          <a:ea typeface="+mn-ea"/>
        </a:defRPr>
      </a:lvl6pPr>
      <a:lvl7pPr marL="2965106" indent="-228085" algn="l" rtl="0" fontAlgn="base" latinLnBrk="1">
        <a:spcBef>
          <a:spcPct val="20000"/>
        </a:spcBef>
        <a:spcAft>
          <a:spcPct val="0"/>
        </a:spcAft>
        <a:defRPr kumimoji="1" sz="900" b="1">
          <a:solidFill>
            <a:schemeClr val="tx1"/>
          </a:solidFill>
          <a:latin typeface="+mn-ea"/>
          <a:ea typeface="+mn-ea"/>
        </a:defRPr>
      </a:lvl7pPr>
      <a:lvl8pPr marL="3421268" indent="-228085" algn="l" rtl="0" fontAlgn="base" latinLnBrk="1">
        <a:spcBef>
          <a:spcPct val="20000"/>
        </a:spcBef>
        <a:spcAft>
          <a:spcPct val="0"/>
        </a:spcAft>
        <a:defRPr kumimoji="1" sz="900" b="1">
          <a:solidFill>
            <a:schemeClr val="tx1"/>
          </a:solidFill>
          <a:latin typeface="+mn-ea"/>
          <a:ea typeface="+mn-ea"/>
        </a:defRPr>
      </a:lvl8pPr>
      <a:lvl9pPr marL="3877443" indent="-228085" algn="l" rtl="0" fontAlgn="base" latinLnBrk="1">
        <a:spcBef>
          <a:spcPct val="20000"/>
        </a:spcBef>
        <a:spcAft>
          <a:spcPct val="0"/>
        </a:spcAft>
        <a:defRPr kumimoji="1" sz="900" b="1">
          <a:solidFill>
            <a:schemeClr val="tx1"/>
          </a:solidFill>
          <a:latin typeface="+mn-ea"/>
          <a:ea typeface="+mn-ea"/>
        </a:defRPr>
      </a:lvl9pPr>
    </p:bodyStyle>
    <p:otherStyle>
      <a:defPPr>
        <a:defRPr lang="ko-KR"/>
      </a:defPPr>
      <a:lvl1pPr marL="0" algn="l" defTabSz="912342" rtl="0" eaLnBrk="1" latinLnBrk="1" hangingPunct="1">
        <a:defRPr sz="1700" kern="1200">
          <a:solidFill>
            <a:schemeClr val="tx1"/>
          </a:solidFill>
          <a:latin typeface="+mn-lt"/>
          <a:ea typeface="+mn-ea"/>
          <a:cs typeface="+mn-cs"/>
        </a:defRPr>
      </a:lvl1pPr>
      <a:lvl2pPr marL="456170" algn="l" defTabSz="912342" rtl="0" eaLnBrk="1" latinLnBrk="1" hangingPunct="1">
        <a:defRPr sz="1700" kern="1200">
          <a:solidFill>
            <a:schemeClr val="tx1"/>
          </a:solidFill>
          <a:latin typeface="+mn-lt"/>
          <a:ea typeface="+mn-ea"/>
          <a:cs typeface="+mn-cs"/>
        </a:defRPr>
      </a:lvl2pPr>
      <a:lvl3pPr marL="912342" algn="l" defTabSz="912342" rtl="0" eaLnBrk="1" latinLnBrk="1" hangingPunct="1">
        <a:defRPr sz="1700" kern="1200">
          <a:solidFill>
            <a:schemeClr val="tx1"/>
          </a:solidFill>
          <a:latin typeface="+mn-lt"/>
          <a:ea typeface="+mn-ea"/>
          <a:cs typeface="+mn-cs"/>
        </a:defRPr>
      </a:lvl3pPr>
      <a:lvl4pPr marL="1368507" algn="l" defTabSz="912342" rtl="0" eaLnBrk="1" latinLnBrk="1" hangingPunct="1">
        <a:defRPr sz="1700" kern="1200">
          <a:solidFill>
            <a:schemeClr val="tx1"/>
          </a:solidFill>
          <a:latin typeface="+mn-lt"/>
          <a:ea typeface="+mn-ea"/>
          <a:cs typeface="+mn-cs"/>
        </a:defRPr>
      </a:lvl4pPr>
      <a:lvl5pPr marL="1824683" algn="l" defTabSz="912342" rtl="0" eaLnBrk="1" latinLnBrk="1" hangingPunct="1">
        <a:defRPr sz="1700" kern="1200">
          <a:solidFill>
            <a:schemeClr val="tx1"/>
          </a:solidFill>
          <a:latin typeface="+mn-lt"/>
          <a:ea typeface="+mn-ea"/>
          <a:cs typeface="+mn-cs"/>
        </a:defRPr>
      </a:lvl5pPr>
      <a:lvl6pPr marL="2280846" algn="l" defTabSz="912342" rtl="0" eaLnBrk="1" latinLnBrk="1" hangingPunct="1">
        <a:defRPr sz="1700" kern="1200">
          <a:solidFill>
            <a:schemeClr val="tx1"/>
          </a:solidFill>
          <a:latin typeface="+mn-lt"/>
          <a:ea typeface="+mn-ea"/>
          <a:cs typeface="+mn-cs"/>
        </a:defRPr>
      </a:lvl6pPr>
      <a:lvl7pPr marL="2737020" algn="l" defTabSz="912342" rtl="0" eaLnBrk="1" latinLnBrk="1" hangingPunct="1">
        <a:defRPr sz="1700" kern="1200">
          <a:solidFill>
            <a:schemeClr val="tx1"/>
          </a:solidFill>
          <a:latin typeface="+mn-lt"/>
          <a:ea typeface="+mn-ea"/>
          <a:cs typeface="+mn-cs"/>
        </a:defRPr>
      </a:lvl7pPr>
      <a:lvl8pPr marL="3193190" algn="l" defTabSz="912342" rtl="0" eaLnBrk="1" latinLnBrk="1" hangingPunct="1">
        <a:defRPr sz="1700" kern="1200">
          <a:solidFill>
            <a:schemeClr val="tx1"/>
          </a:solidFill>
          <a:latin typeface="+mn-lt"/>
          <a:ea typeface="+mn-ea"/>
          <a:cs typeface="+mn-cs"/>
        </a:defRPr>
      </a:lvl8pPr>
      <a:lvl9pPr marL="3649357" algn="l" defTabSz="912342" rtl="0" eaLnBrk="1" latinLnBrk="1"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slideLayout" Target="../slideLayouts/slideLayout4.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119067" y="92249"/>
            <a:ext cx="2532922" cy="400043"/>
          </a:xfrm>
          <a:prstGeom prst="rect">
            <a:avLst/>
          </a:prstGeom>
          <a:noFill/>
          <a:ln w="9525" algn="ctr">
            <a:noFill/>
            <a:miter lim="800000"/>
            <a:headEnd/>
            <a:tailEnd/>
          </a:ln>
        </p:spPr>
        <p:txBody>
          <a:bodyPr wrap="none" lIns="91369" tIns="45687" rIns="91369" bIns="45687" anchor="t">
            <a:spAutoFit/>
          </a:bodyPr>
          <a:lstStyle/>
          <a:p>
            <a:pPr>
              <a:defRPr/>
            </a:pPr>
            <a:r>
              <a:rPr lang="en-US" sz="2000" b="1" noProof="0" dirty="0">
                <a:solidFill>
                  <a:srgbClr val="000000"/>
                </a:solidFill>
                <a:latin typeface="Arial Narrow" panose="020B0606020202030204" pitchFamily="34" charset="0"/>
                <a:ea typeface="LG스마트체 Regular" panose="020B0600000101010101" pitchFamily="50" charset="-127"/>
              </a:rPr>
              <a:t>DX Project Registration</a:t>
            </a:r>
          </a:p>
        </p:txBody>
      </p:sp>
      <p:graphicFrame>
        <p:nvGraphicFramePr>
          <p:cNvPr id="7" name="Group 90"/>
          <p:cNvGraphicFramePr>
            <a:graphicFrameLocks noGrp="1"/>
          </p:cNvGraphicFramePr>
          <p:nvPr>
            <p:extLst>
              <p:ext uri="{D42A27DB-BD31-4B8C-83A1-F6EECF244321}">
                <p14:modId xmlns:p14="http://schemas.microsoft.com/office/powerpoint/2010/main" val="1784571102"/>
              </p:ext>
            </p:extLst>
          </p:nvPr>
        </p:nvGraphicFramePr>
        <p:xfrm>
          <a:off x="200472" y="548680"/>
          <a:ext cx="9342770" cy="6201265"/>
        </p:xfrm>
        <a:graphic>
          <a:graphicData uri="http://schemas.openxmlformats.org/drawingml/2006/table">
            <a:tbl>
              <a:tblPr/>
              <a:tblGrid>
                <a:gridCol w="1382653">
                  <a:extLst>
                    <a:ext uri="{9D8B030D-6E8A-4147-A177-3AD203B41FA5}">
                      <a16:colId xmlns:a16="http://schemas.microsoft.com/office/drawing/2014/main" val="20000"/>
                    </a:ext>
                  </a:extLst>
                </a:gridCol>
                <a:gridCol w="3950150">
                  <a:extLst>
                    <a:ext uri="{9D8B030D-6E8A-4147-A177-3AD203B41FA5}">
                      <a16:colId xmlns:a16="http://schemas.microsoft.com/office/drawing/2014/main" val="20001"/>
                    </a:ext>
                  </a:extLst>
                </a:gridCol>
                <a:gridCol w="1266733">
                  <a:extLst>
                    <a:ext uri="{9D8B030D-6E8A-4147-A177-3AD203B41FA5}">
                      <a16:colId xmlns:a16="http://schemas.microsoft.com/office/drawing/2014/main" val="20002"/>
                    </a:ext>
                  </a:extLst>
                </a:gridCol>
                <a:gridCol w="922294">
                  <a:extLst>
                    <a:ext uri="{9D8B030D-6E8A-4147-A177-3AD203B41FA5}">
                      <a16:colId xmlns:a16="http://schemas.microsoft.com/office/drawing/2014/main" val="20003"/>
                    </a:ext>
                  </a:extLst>
                </a:gridCol>
                <a:gridCol w="1820940">
                  <a:extLst>
                    <a:ext uri="{9D8B030D-6E8A-4147-A177-3AD203B41FA5}">
                      <a16:colId xmlns:a16="http://schemas.microsoft.com/office/drawing/2014/main" val="20004"/>
                    </a:ext>
                  </a:extLst>
                </a:gridCol>
              </a:tblGrid>
              <a:tr h="333578">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1" lang="en-US" sz="120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Title</a:t>
                      </a:r>
                    </a:p>
                  </a:txBody>
                  <a:tcPr marL="72001" marR="72001" marT="72000" marB="7200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gridSpan="2">
                  <a:txBody>
                    <a:bodyPr/>
                    <a:lstStyle/>
                    <a:p>
                      <a:pPr marL="0" marR="0" lvl="0" indent="0" algn="l" defTabSz="912342" rtl="0" eaLnBrk="1" fontAlgn="base" latinLnBrk="0" hangingPunct="1">
                        <a:lnSpc>
                          <a:spcPct val="100000"/>
                        </a:lnSpc>
                        <a:spcBef>
                          <a:spcPct val="20000"/>
                        </a:spcBef>
                        <a:spcAft>
                          <a:spcPct val="0"/>
                        </a:spcAft>
                        <a:buClrTx/>
                        <a:buSzTx/>
                        <a:buFontTx/>
                        <a:buNone/>
                        <a:tabLst/>
                        <a:defRPr/>
                      </a:pPr>
                      <a:r>
                        <a:rPr lang="en-US" sz="1200" b="1" i="0" u="none" strike="noStrike" cap="none" normalizeH="0" baseline="0" noProof="0" dirty="0">
                          <a:ln>
                            <a:noFill/>
                          </a:ln>
                          <a:solidFill>
                            <a:schemeClr val="tx1"/>
                          </a:solidFill>
                          <a:effectLst/>
                          <a:latin typeface="Arial Narrow" panose="020B0606020202030204" pitchFamily="34" charset="0"/>
                          <a:ea typeface="LG스마트체 Regular"/>
                          <a:cs typeface="Arial"/>
                        </a:rPr>
                        <a:t>Development of an AI-based Work Order Management and Analytics System</a:t>
                      </a:r>
                      <a:endParaRPr lang="en-US" sz="1200" b="1" noProof="0" dirty="0">
                        <a:solidFill>
                          <a:srgbClr val="000000"/>
                        </a:solidFill>
                        <a:latin typeface="Arial Narrow" panose="020B0606020202030204" pitchFamily="34" charset="0"/>
                        <a:ea typeface="LG스마트체 Regular"/>
                      </a:endParaRPr>
                    </a:p>
                  </a:txBody>
                  <a:tcPr marL="72001" marR="72001" marT="72000" marB="7200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hMerge="1">
                  <a:txBody>
                    <a:bodyPr/>
                    <a:lstStyle/>
                    <a:p>
                      <a:endParaRPr lang="en-US"/>
                    </a:p>
                  </a:txBody>
                  <a:tcPr>
                    <a:lnL w="3175" cap="flat" cmpd="sng" algn="ctr">
                      <a:solidFill>
                        <a:schemeClr val="bg1">
                          <a:lumMod val="50000"/>
                        </a:schemeClr>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1" lang="en-US" sz="120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 Period</a:t>
                      </a:r>
                    </a:p>
                  </a:txBody>
                  <a:tcPr marL="72001" marR="72001" marT="72000" marB="7200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indent="0" algn="ctr" rtl="0" eaLnBrk="1" fontAlgn="auto" latinLnBrk="0" hangingPunct="1">
                        <a:lnSpc>
                          <a:spcPct val="100000"/>
                        </a:lnSpc>
                        <a:spcBef>
                          <a:spcPts val="0"/>
                        </a:spcBef>
                        <a:spcAft>
                          <a:spcPts val="0"/>
                        </a:spcAft>
                        <a:buClrTx/>
                        <a:buSzTx/>
                        <a:buFontTx/>
                        <a:buNone/>
                      </a:pPr>
                      <a:r>
                        <a:rPr lang="en-US" sz="1200" b="1" i="0" u="none" strike="noStrike" noProof="0" dirty="0">
                          <a:solidFill>
                            <a:srgbClr val="000000"/>
                          </a:solidFill>
                          <a:effectLst/>
                          <a:latin typeface="Arial Narrow" panose="020B0606020202030204" pitchFamily="34" charset="0"/>
                        </a:rPr>
                        <a:t>‘26.02 ~ ‘26.06</a:t>
                      </a:r>
                      <a:endParaRPr lang="en-US" sz="1200" b="1" i="0" u="none" strike="noStrike" baseline="0" noProof="0" dirty="0">
                        <a:solidFill>
                          <a:srgbClr val="000000"/>
                        </a:solidFill>
                        <a:effectLst/>
                        <a:latin typeface="Arial Narrow" panose="020B0606020202030204" pitchFamily="34" charset="0"/>
                      </a:endParaRPr>
                    </a:p>
                  </a:txBody>
                  <a:tcPr marL="72001" marR="72001" marT="72000" marB="7200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8532">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sz="120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Background / Issue</a:t>
                      </a:r>
                    </a:p>
                  </a:txBody>
                  <a:tcPr marL="72001" marR="72001" marT="72000" marB="7200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hMerge="1">
                  <a:txBody>
                    <a:bodyPr/>
                    <a:lstStyle/>
                    <a:p>
                      <a:endParaRPr lang="en-US"/>
                    </a:p>
                  </a:txBody>
                  <a:tcPr/>
                </a:tc>
                <a:tc gridSpan="3">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1" lang="en-US" sz="120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Expecting Performance</a:t>
                      </a:r>
                    </a:p>
                  </a:txBody>
                  <a:tcPr marL="72001" marR="72001" marT="72000" marB="7200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3175"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463328">
                <a:tc gridSpan="2">
                  <a:txBody>
                    <a:bodyPr/>
                    <a:lstStyle/>
                    <a:p>
                      <a:pPr latinLnBrk="0"/>
                      <a:r>
                        <a:rPr kumimoji="1" lang="en-US" sz="105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a:t>
                      </a:r>
                      <a:r>
                        <a:rPr lang="en-US" sz="1050" b="1" noProof="0" dirty="0">
                          <a:latin typeface="Arial Narrow" panose="020B0606020202030204" pitchFamily="34" charset="0"/>
                        </a:rPr>
                        <a:t>Background / Issue</a:t>
                      </a:r>
                    </a:p>
                    <a:p>
                      <a:pPr marL="171450" marR="0" lvl="0" indent="-171450" algn="l" defTabSz="912342" rtl="0" eaLnBrk="1" latinLnBrk="0" hangingPunct="1">
                        <a:lnSpc>
                          <a:spcPct val="90000"/>
                        </a:lnSpc>
                        <a:spcBef>
                          <a:spcPct val="20000"/>
                        </a:spcBef>
                        <a:spcAft>
                          <a:spcPct val="0"/>
                        </a:spcAft>
                        <a:buFont typeface="Arial" panose="020B0604020202020204" pitchFamily="34" charset="0"/>
                        <a:buChar char="•"/>
                      </a:pPr>
                      <a:r>
                        <a:rPr lang="en-US" sz="900" b="0" i="0" u="none" strike="noStrike" kern="1200" cap="none" normalizeH="0" baseline="0" noProof="0" dirty="0">
                          <a:ln>
                            <a:noFill/>
                          </a:ln>
                          <a:solidFill>
                            <a:srgbClr val="000000"/>
                          </a:solidFill>
                          <a:effectLst/>
                          <a:latin typeface="Arial Narrow" panose="020B0606020202030204" pitchFamily="34" charset="0"/>
                          <a:ea typeface="LG스마트체 Regular" panose="020B0600000101010101"/>
                          <a:cs typeface="+mn-cs"/>
                        </a:rPr>
                        <a:t>Current work order management relies on manual queries and static reports, making it difficult to quickly analyze historical data or predict maintenance trends.</a:t>
                      </a:r>
                    </a:p>
                    <a:p>
                      <a:pPr marL="0" indent="0" latinLnBrk="0">
                        <a:buFont typeface="Arial" panose="020B0604020202020204" pitchFamily="34" charset="0"/>
                        <a:buNone/>
                      </a:pPr>
                      <a:r>
                        <a:rPr lang="en-US" altLang="ko-KR" sz="900" b="0" noProof="0" dirty="0">
                          <a:solidFill>
                            <a:srgbClr val="008000"/>
                          </a:solidFill>
                          <a:latin typeface="Arial Narrow" panose="020B0606020202030204" pitchFamily="34" charset="0"/>
                        </a:rPr>
                        <a:t>PM </a:t>
                      </a:r>
                      <a:r>
                        <a:rPr lang="ko-KR" altLang="en-US" sz="900" b="0" noProof="0" dirty="0">
                          <a:solidFill>
                            <a:srgbClr val="008000"/>
                          </a:solidFill>
                          <a:latin typeface="Arial Narrow" panose="020B0606020202030204" pitchFamily="34" charset="0"/>
                        </a:rPr>
                        <a:t>설비관리시스템</a:t>
                      </a:r>
                      <a:r>
                        <a:rPr lang="en-US" altLang="ko-KR" sz="900" b="0" noProof="0" dirty="0">
                          <a:solidFill>
                            <a:srgbClr val="008000"/>
                          </a:solidFill>
                          <a:latin typeface="Arial Narrow" panose="020B0606020202030204" pitchFamily="34" charset="0"/>
                        </a:rPr>
                        <a:t>(PM GMES)</a:t>
                      </a:r>
                      <a:r>
                        <a:rPr lang="ko-KR" altLang="en-US" sz="900" b="0" noProof="0" dirty="0">
                          <a:solidFill>
                            <a:srgbClr val="008000"/>
                          </a:solidFill>
                          <a:latin typeface="Arial Narrow" panose="020B0606020202030204" pitchFamily="34" charset="0"/>
                        </a:rPr>
                        <a:t>의 각 설비의 관리이력</a:t>
                      </a:r>
                      <a:r>
                        <a:rPr lang="en-US" altLang="ko-KR" sz="900" b="0" noProof="0" dirty="0">
                          <a:solidFill>
                            <a:srgbClr val="008000"/>
                          </a:solidFill>
                          <a:latin typeface="Arial Narrow" panose="020B0606020202030204" pitchFamily="34" charset="0"/>
                        </a:rPr>
                        <a:t>(</a:t>
                      </a:r>
                      <a:r>
                        <a:rPr lang="ko-KR" altLang="en-US" sz="900" b="0" noProof="0" dirty="0">
                          <a:solidFill>
                            <a:srgbClr val="008000"/>
                          </a:solidFill>
                          <a:latin typeface="Arial Narrow" panose="020B0606020202030204" pitchFamily="34" charset="0"/>
                        </a:rPr>
                        <a:t>수리 및 교체</a:t>
                      </a:r>
                      <a:r>
                        <a:rPr lang="en-US" altLang="ko-KR" sz="900" b="0" noProof="0" dirty="0">
                          <a:solidFill>
                            <a:srgbClr val="008000"/>
                          </a:solidFill>
                          <a:latin typeface="Arial Narrow" panose="020B0606020202030204" pitchFamily="34" charset="0"/>
                        </a:rPr>
                        <a:t>)</a:t>
                      </a:r>
                      <a:r>
                        <a:rPr lang="ko-KR" altLang="en-US" sz="900" b="0" noProof="0" dirty="0">
                          <a:solidFill>
                            <a:srgbClr val="008000"/>
                          </a:solidFill>
                          <a:latin typeface="Arial Narrow" panose="020B0606020202030204" pitchFamily="34" charset="0"/>
                        </a:rPr>
                        <a:t>에 대한 분석에 많은 시간이 소요되며</a:t>
                      </a:r>
                      <a:r>
                        <a:rPr lang="en-US" altLang="ko-KR" sz="900" b="0" noProof="0" dirty="0">
                          <a:solidFill>
                            <a:srgbClr val="008000"/>
                          </a:solidFill>
                          <a:latin typeface="Arial Narrow" panose="020B0606020202030204" pitchFamily="34" charset="0"/>
                        </a:rPr>
                        <a:t>, </a:t>
                      </a:r>
                      <a:r>
                        <a:rPr lang="ko-KR" altLang="en-US" sz="900" b="0" noProof="0" dirty="0">
                          <a:solidFill>
                            <a:srgbClr val="008000"/>
                          </a:solidFill>
                          <a:latin typeface="Arial Narrow" panose="020B0606020202030204" pitchFamily="34" charset="0"/>
                        </a:rPr>
                        <a:t>과거이력추적을 통한 예방보전활동 어려움</a:t>
                      </a:r>
                    </a:p>
                    <a:p>
                      <a:pPr marL="171450" indent="-171450" latinLnBrk="0">
                        <a:buFont typeface="Arial" panose="020B0604020202020204" pitchFamily="34" charset="0"/>
                        <a:buChar char="•"/>
                      </a:pPr>
                      <a:r>
                        <a:rPr lang="en-US" sz="900" b="0" noProof="0" dirty="0">
                          <a:latin typeface="Arial Narrow" panose="020B0606020202030204" pitchFamily="34" charset="0"/>
                        </a:rPr>
                        <a:t>Lack of integrated AI tools limits proactive decision-making and visualization capabilities.</a:t>
                      </a:r>
                    </a:p>
                    <a:p>
                      <a:pPr marL="0" indent="0" latinLnBrk="0">
                        <a:buFont typeface="Arial" panose="020B0604020202020204" pitchFamily="34" charset="0"/>
                        <a:buNone/>
                      </a:pPr>
                      <a:r>
                        <a:rPr lang="ko-KR" altLang="en-US" sz="900" b="0" noProof="0" dirty="0">
                          <a:solidFill>
                            <a:srgbClr val="008000"/>
                          </a:solidFill>
                          <a:latin typeface="Arial Narrow" panose="020B0606020202030204" pitchFamily="34" charset="0"/>
                        </a:rPr>
                        <a:t>시스템 내 이력의 수동검색 후 조치에 의존하므로 예방보전 대상설비의 계획수립에 어려움</a:t>
                      </a:r>
                    </a:p>
                    <a:p>
                      <a:pPr marL="171450" indent="-171450" latinLnBrk="0">
                        <a:buFont typeface="Arial" panose="020B0604020202020204" pitchFamily="34" charset="0"/>
                        <a:buChar char="•"/>
                      </a:pPr>
                      <a:r>
                        <a:rPr lang="en-US" sz="900" b="0" noProof="0" dirty="0">
                          <a:latin typeface="Arial Narrow" panose="020B0606020202030204" pitchFamily="34" charset="0"/>
                        </a:rPr>
                        <a:t>Technicians and managers spend significant time searching for past work orders and generating reports manually.</a:t>
                      </a:r>
                    </a:p>
                    <a:p>
                      <a:pPr marL="0" indent="0" latinLnBrk="0">
                        <a:buFont typeface="Arial" panose="020B0604020202020204" pitchFamily="34" charset="0"/>
                        <a:buNone/>
                      </a:pPr>
                      <a:r>
                        <a:rPr lang="ko-KR" altLang="en-US" sz="900" b="0" noProof="0" dirty="0">
                          <a:solidFill>
                            <a:srgbClr val="008000"/>
                          </a:solidFill>
                          <a:latin typeface="Arial Narrow" panose="020B0606020202030204" pitchFamily="34" charset="0"/>
                        </a:rPr>
                        <a:t>설비부품별 특정 동일이슈에 대한 이력확인 어려움에 따른 조치방법수립 및 작업시간 증가 </a:t>
                      </a:r>
                      <a:endParaRPr lang="en-US" altLang="ko-KR" sz="900" b="0" noProof="0" dirty="0">
                        <a:solidFill>
                          <a:srgbClr val="008000"/>
                        </a:solidFill>
                        <a:latin typeface="Arial Narrow" panose="020B0606020202030204" pitchFamily="34" charset="0"/>
                      </a:endParaRPr>
                    </a:p>
                    <a:p>
                      <a:pPr marL="0" indent="0" latinLnBrk="0">
                        <a:buFont typeface="Arial" panose="020B0604020202020204" pitchFamily="34" charset="0"/>
                        <a:buNone/>
                      </a:pPr>
                      <a:r>
                        <a:rPr kumimoji="1" lang="en-US" sz="105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 Major Objectives</a:t>
                      </a:r>
                    </a:p>
                    <a:p>
                      <a:pPr marL="171450" marR="0" lvl="0" indent="-171450" algn="l" latinLnBrk="0">
                        <a:lnSpc>
                          <a:spcPct val="90000"/>
                        </a:lnSpc>
                        <a:spcBef>
                          <a:spcPct val="20000"/>
                        </a:spcBef>
                        <a:spcAft>
                          <a:spcPct val="0"/>
                        </a:spcAft>
                        <a:buFont typeface="Arial" panose="020B0604020202020204" pitchFamily="34" charset="0"/>
                        <a:buChar char="•"/>
                      </a:pPr>
                      <a:r>
                        <a:rPr lang="en-US" sz="900" b="0" i="0" u="none" strike="noStrike" cap="none" normalizeH="0" baseline="0" noProof="0" dirty="0">
                          <a:ln>
                            <a:noFill/>
                          </a:ln>
                          <a:solidFill>
                            <a:srgbClr val="000000"/>
                          </a:solidFill>
                          <a:effectLst/>
                          <a:latin typeface="Arial Narrow" panose="020B0606020202030204" pitchFamily="34" charset="0"/>
                          <a:ea typeface="LG스마트체 Regular" panose="020B0600000101010101"/>
                        </a:rPr>
                        <a:t>Implement a GPT-like AI application using Microsoft tools to:</a:t>
                      </a:r>
                    </a:p>
                    <a:p>
                      <a:pPr marL="0" marR="0" lvl="0" indent="0" algn="l" latinLnBrk="0">
                        <a:lnSpc>
                          <a:spcPct val="90000"/>
                        </a:lnSpc>
                        <a:spcBef>
                          <a:spcPct val="20000"/>
                        </a:spcBef>
                        <a:spcAft>
                          <a:spcPct val="0"/>
                        </a:spcAft>
                        <a:buFont typeface="Arial" panose="020B0604020202020204" pitchFamily="34" charset="0"/>
                        <a:buNone/>
                      </a:pPr>
                      <a:r>
                        <a:rPr lang="en-US" sz="900" b="0" i="0" u="none" strike="noStrike" cap="none" normalizeH="0" baseline="0" noProof="0" dirty="0">
                          <a:ln>
                            <a:noFill/>
                          </a:ln>
                          <a:solidFill>
                            <a:srgbClr val="008000"/>
                          </a:solidFill>
                          <a:effectLst/>
                          <a:latin typeface="Arial Narrow" panose="020B0606020202030204" pitchFamily="34" charset="0"/>
                          <a:ea typeface="LG스마트체 Regular" panose="020B0600000101010101"/>
                        </a:rPr>
                        <a:t>Microsoft 도구를 사용하여 GPT 유사 AI 애플리케이션 구현:</a:t>
                      </a:r>
                    </a:p>
                    <a:p>
                      <a:pPr marL="627620" marR="0" lvl="1" indent="-171450" algn="l" latinLnBrk="0">
                        <a:lnSpc>
                          <a:spcPct val="90000"/>
                        </a:lnSpc>
                        <a:spcBef>
                          <a:spcPct val="20000"/>
                        </a:spcBef>
                        <a:spcAft>
                          <a:spcPct val="0"/>
                        </a:spcAft>
                        <a:buFont typeface="Arial" panose="020B0604020202020204" pitchFamily="34" charset="0"/>
                        <a:buChar char="•"/>
                      </a:pPr>
                      <a:r>
                        <a:rPr lang="en-US" sz="900" b="0" i="0" u="none" strike="noStrike" cap="none" normalizeH="0" baseline="0" noProof="0" dirty="0">
                          <a:ln>
                            <a:noFill/>
                          </a:ln>
                          <a:solidFill>
                            <a:srgbClr val="000000"/>
                          </a:solidFill>
                          <a:effectLst/>
                          <a:latin typeface="Arial Narrow" panose="020B0606020202030204" pitchFamily="34" charset="0"/>
                          <a:ea typeface="LG스마트체 Regular" panose="020B0600000101010101"/>
                        </a:rPr>
                        <a:t>Answer questions about historical work orders in natural language.</a:t>
                      </a:r>
                    </a:p>
                    <a:p>
                      <a:pPr marL="456170" marR="0" lvl="1" indent="0" algn="l" latinLnBrk="0">
                        <a:lnSpc>
                          <a:spcPct val="90000"/>
                        </a:lnSpc>
                        <a:spcBef>
                          <a:spcPct val="20000"/>
                        </a:spcBef>
                        <a:spcAft>
                          <a:spcPct val="0"/>
                        </a:spcAft>
                        <a:buFont typeface="Arial" panose="020B0604020202020204" pitchFamily="34" charset="0"/>
                        <a:buNone/>
                      </a:pPr>
                      <a:r>
                        <a:rPr lang="ko-KR" altLang="en-US" sz="900" b="0" i="0" u="none" strike="noStrike" cap="none" normalizeH="0" baseline="0" noProof="0" dirty="0">
                          <a:ln>
                            <a:noFill/>
                          </a:ln>
                          <a:solidFill>
                            <a:srgbClr val="008000"/>
                          </a:solidFill>
                          <a:effectLst/>
                          <a:latin typeface="Arial Narrow" panose="020B0606020202030204" pitchFamily="34" charset="0"/>
                          <a:ea typeface="LG스마트체 Regular" panose="020B0600000101010101"/>
                        </a:rPr>
                        <a:t>검색요구사항에 대해 </a:t>
                      </a:r>
                      <a:r>
                        <a:rPr lang="en-US" altLang="ko-KR" sz="900" b="0" i="0" u="none" strike="noStrike" cap="none" normalizeH="0" baseline="0" noProof="0" dirty="0">
                          <a:ln>
                            <a:noFill/>
                          </a:ln>
                          <a:solidFill>
                            <a:srgbClr val="008000"/>
                          </a:solidFill>
                          <a:effectLst/>
                          <a:latin typeface="Arial Narrow" panose="020B0606020202030204" pitchFamily="34" charset="0"/>
                          <a:ea typeface="LG스마트체 Regular" panose="020B0600000101010101"/>
                        </a:rPr>
                        <a:t>AI </a:t>
                      </a:r>
                      <a:r>
                        <a:rPr lang="ko-KR" altLang="en-US" sz="900" b="0" i="0" u="none" strike="noStrike" cap="none" normalizeH="0" baseline="0" noProof="0" dirty="0">
                          <a:ln>
                            <a:noFill/>
                          </a:ln>
                          <a:solidFill>
                            <a:srgbClr val="008000"/>
                          </a:solidFill>
                          <a:effectLst/>
                          <a:latin typeface="Arial Narrow" panose="020B0606020202030204" pitchFamily="34" charset="0"/>
                          <a:ea typeface="LG스마트체 Regular" panose="020B0600000101010101"/>
                        </a:rPr>
                        <a:t>활용 자동 검색 후 유사이력 정보제공</a:t>
                      </a:r>
                    </a:p>
                    <a:p>
                      <a:pPr marL="627620" marR="0" lvl="1" indent="-171450" algn="l" latinLnBrk="0">
                        <a:lnSpc>
                          <a:spcPct val="90000"/>
                        </a:lnSpc>
                        <a:spcBef>
                          <a:spcPct val="20000"/>
                        </a:spcBef>
                        <a:spcAft>
                          <a:spcPct val="0"/>
                        </a:spcAft>
                        <a:buFont typeface="Arial" panose="020B0604020202020204" pitchFamily="34" charset="0"/>
                        <a:buChar char="•"/>
                      </a:pPr>
                      <a:r>
                        <a:rPr lang="en-US" sz="900" b="0" i="0" u="none" strike="noStrike" cap="none" normalizeH="0" baseline="0" noProof="0" dirty="0">
                          <a:ln>
                            <a:noFill/>
                          </a:ln>
                          <a:solidFill>
                            <a:srgbClr val="000000"/>
                          </a:solidFill>
                          <a:effectLst/>
                          <a:latin typeface="Arial Narrow" panose="020B0606020202030204" pitchFamily="34" charset="0"/>
                          <a:ea typeface="LG스마트체 Regular" panose="020B0600000101010101"/>
                        </a:rPr>
                        <a:t>- Generate dashboards and graphs for maintenance KPIs, including predictive and preventive maintenance.</a:t>
                      </a:r>
                      <a:r>
                        <a:rPr lang="en-US" sz="900" b="0" i="0" u="none" strike="noStrike" cap="none" normalizeH="0" baseline="0" noProof="0" dirty="0">
                          <a:ln>
                            <a:noFill/>
                          </a:ln>
                          <a:solidFill>
                            <a:srgbClr val="008000"/>
                          </a:solidFill>
                          <a:effectLst/>
                          <a:latin typeface="Arial Narrow" panose="020B0606020202030204" pitchFamily="34" charset="0"/>
                          <a:ea typeface="LG스마트체 Regular" panose="020B0600000101010101"/>
                        </a:rPr>
                        <a:t> 예측 및 예방 유지보수를 포함한 유지보수 KPI를 위한 대시보드 및 그래프 생성..</a:t>
                      </a:r>
                    </a:p>
                    <a:p>
                      <a:pPr marL="171450" marR="0" lvl="0" indent="-171450" algn="l" latinLnBrk="0">
                        <a:lnSpc>
                          <a:spcPct val="90000"/>
                        </a:lnSpc>
                        <a:spcBef>
                          <a:spcPct val="20000"/>
                        </a:spcBef>
                        <a:spcAft>
                          <a:spcPct val="0"/>
                        </a:spcAft>
                        <a:buFont typeface="Arial" panose="020B0604020202020204" pitchFamily="34" charset="0"/>
                        <a:buChar char="•"/>
                      </a:pPr>
                      <a:r>
                        <a:rPr lang="en-US" sz="900" b="0" i="0" u="none" strike="noStrike" cap="none" normalizeH="0" baseline="0" noProof="0" dirty="0">
                          <a:ln>
                            <a:noFill/>
                          </a:ln>
                          <a:solidFill>
                            <a:srgbClr val="000000"/>
                          </a:solidFill>
                          <a:effectLst/>
                          <a:latin typeface="Arial Narrow" panose="020B0606020202030204" pitchFamily="34" charset="0"/>
                          <a:ea typeface="LG스마트체 Regular" panose="020B0600000101010101"/>
                        </a:rPr>
                        <a:t>Enable data-driven decision-making for predictive maintenance and resource allocation.</a:t>
                      </a:r>
                    </a:p>
                    <a:p>
                      <a:pPr marL="0" marR="0" lvl="0" indent="0" algn="l" latinLnBrk="0">
                        <a:lnSpc>
                          <a:spcPct val="90000"/>
                        </a:lnSpc>
                        <a:spcBef>
                          <a:spcPct val="20000"/>
                        </a:spcBef>
                        <a:spcAft>
                          <a:spcPct val="0"/>
                        </a:spcAft>
                        <a:buFont typeface="Arial" panose="020B0604020202020204" pitchFamily="34" charset="0"/>
                        <a:buNone/>
                      </a:pPr>
                      <a:r>
                        <a:rPr lang="en-US" sz="900" b="0" i="0" u="none" strike="noStrike" cap="none" normalizeH="0" baseline="0" noProof="0" dirty="0">
                          <a:ln>
                            <a:noFill/>
                          </a:ln>
                          <a:solidFill>
                            <a:srgbClr val="008000"/>
                          </a:solidFill>
                          <a:effectLst/>
                          <a:latin typeface="Arial Narrow" panose="020B0606020202030204" pitchFamily="34" charset="0"/>
                          <a:ea typeface="LG스마트체 Regular" panose="020B0600000101010101"/>
                        </a:rPr>
                        <a:t>예측 유지보수 및 자원 배분을 위한 데이터 기반 의사결정 지원.</a:t>
                      </a:r>
                    </a:p>
                    <a:p>
                      <a:pPr marL="171450" marR="0" lvl="0" indent="-171450" algn="l" latinLnBrk="0">
                        <a:lnSpc>
                          <a:spcPct val="90000"/>
                        </a:lnSpc>
                        <a:spcBef>
                          <a:spcPct val="20000"/>
                        </a:spcBef>
                        <a:spcAft>
                          <a:spcPct val="0"/>
                        </a:spcAft>
                        <a:buFont typeface="Arial" panose="020B0604020202020204" pitchFamily="34" charset="0"/>
                        <a:buChar char="•"/>
                      </a:pPr>
                      <a:r>
                        <a:rPr lang="en-US" sz="900" b="0" i="0" u="none" strike="noStrike" cap="none" normalizeH="0" baseline="0" noProof="0" dirty="0">
                          <a:ln>
                            <a:noFill/>
                          </a:ln>
                          <a:solidFill>
                            <a:srgbClr val="000000"/>
                          </a:solidFill>
                          <a:effectLst/>
                          <a:latin typeface="Arial Narrow" panose="020B0606020202030204" pitchFamily="34" charset="0"/>
                          <a:ea typeface="LG스마트체 Regular" panose="020B0600000101010101"/>
                        </a:rPr>
                        <a:t>Improve predictive maintenance accuracy and preventive compliance through AI insights.</a:t>
                      </a:r>
                      <a:r>
                        <a:rPr lang="en-US" sz="900" b="0" i="0" u="none" strike="noStrike" cap="none" normalizeH="0" baseline="0" noProof="0" dirty="0">
                          <a:ln>
                            <a:noFill/>
                          </a:ln>
                          <a:solidFill>
                            <a:srgbClr val="008000"/>
                          </a:solidFill>
                          <a:effectLst/>
                          <a:latin typeface="Arial Narrow" panose="020B0606020202030204" pitchFamily="34" charset="0"/>
                        </a:rPr>
                        <a:t> </a:t>
                      </a:r>
                    </a:p>
                    <a:p>
                      <a:pPr marL="0" marR="0" lvl="0" indent="0" algn="l" defTabSz="912342" rtl="0" eaLnBrk="1" latinLnBrk="0" hangingPunct="1">
                        <a:lnSpc>
                          <a:spcPct val="90000"/>
                        </a:lnSpc>
                        <a:spcBef>
                          <a:spcPct val="20000"/>
                        </a:spcBef>
                        <a:spcAft>
                          <a:spcPct val="0"/>
                        </a:spcAft>
                        <a:buFont typeface="Arial" panose="020B0604020202020204" pitchFamily="34" charset="0"/>
                        <a:buNone/>
                      </a:pPr>
                      <a:r>
                        <a:rPr lang="en-US" sz="900" b="0" i="0" u="none" strike="noStrike" kern="1200" cap="none" normalizeH="0" baseline="0" noProof="0" dirty="0">
                          <a:ln>
                            <a:noFill/>
                          </a:ln>
                          <a:solidFill>
                            <a:srgbClr val="008000"/>
                          </a:solidFill>
                          <a:effectLst/>
                          <a:latin typeface="Arial Narrow" panose="020B0606020202030204" pitchFamily="34" charset="0"/>
                          <a:ea typeface="LG스마트체 Regular" panose="020B0600000101010101"/>
                          <a:cs typeface="+mn-cs"/>
                        </a:rPr>
                        <a:t>AI 인사이트를 통해 예측 유지보수 정확도 및 예방 유지보수 준수율 향상.</a:t>
                      </a:r>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hMerge="1">
                  <a:txBody>
                    <a:bodyPr/>
                    <a:lstStyle/>
                    <a:p>
                      <a:endParaRPr lang="en-US"/>
                    </a:p>
                  </a:txBody>
                  <a:tcPr/>
                </a:tc>
                <a:tc gridSpan="3">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endParaRPr kumimoji="1" lang="en-US" sz="1000" b="1" i="0" u="none" strike="noStrike" kern="1200" cap="none" spc="0" normalizeH="0" baseline="0" noProof="0" dirty="0">
                        <a:ln>
                          <a:noFill/>
                        </a:ln>
                        <a:solidFill>
                          <a:srgbClr val="000000"/>
                        </a:solidFill>
                        <a:effectLst/>
                        <a:uLnTx/>
                        <a:uFillTx/>
                        <a:latin typeface="Arial Narrow" pitchFamily="34" charset="0"/>
                        <a:ea typeface="LG스마트체 Regular" pitchFamily="50" charset="-127"/>
                        <a:cs typeface="Arial" pitchFamily="34" charset="0"/>
                      </a:endParaRPr>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28532">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sz="120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Process (Execution Plan)</a:t>
                      </a:r>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hMerge="1">
                  <a:txBody>
                    <a:bodyPr/>
                    <a:lstStyle/>
                    <a:p>
                      <a:endParaRPr lang="en-US"/>
                    </a:p>
                  </a:txBody>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sz="120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Participating Dept. / Necessary Tools</a:t>
                      </a:r>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1539900">
                <a:tc gridSpan="2">
                  <a:txBody>
                    <a:bodyPr/>
                    <a:lstStyle/>
                    <a:p>
                      <a:pPr marL="228600" indent="-228600" latinLnBrk="0">
                        <a:buFont typeface="Arial" panose="020B0604020202020204" pitchFamily="34" charset="0"/>
                        <a:buChar char="•"/>
                      </a:pPr>
                      <a:endParaRPr lang="en-US" sz="1100" b="1" noProof="0" dirty="0">
                        <a:solidFill>
                          <a:srgbClr val="000000"/>
                        </a:solidFill>
                        <a:latin typeface="Arial Narrow" panose="020B0606020202030204" pitchFamily="34" charset="0"/>
                        <a:ea typeface="LG스마트체 Regular" panose="020B0600000101010101" pitchFamily="50" charset="-127"/>
                        <a:cs typeface="Arial"/>
                      </a:endParaRPr>
                    </a:p>
                    <a:p>
                      <a:pPr marL="171450" marR="0" lvl="0" indent="-171450" algn="l" latinLnBrk="0">
                        <a:lnSpc>
                          <a:spcPct val="100000"/>
                        </a:lnSpc>
                        <a:spcBef>
                          <a:spcPts val="0"/>
                        </a:spcBef>
                        <a:spcAft>
                          <a:spcPts val="0"/>
                        </a:spcAft>
                        <a:buFont typeface="Arial" panose="020B0604020202020204" pitchFamily="34" charset="0"/>
                        <a:buChar char="•"/>
                      </a:pPr>
                      <a:endParaRPr lang="en-US" sz="1000" b="0" i="0" u="none" strike="noStrike" noProof="0" dirty="0">
                        <a:solidFill>
                          <a:srgbClr val="000000"/>
                        </a:solidFill>
                        <a:latin typeface="Arial Narrow" panose="020B0606020202030204" pitchFamily="34" charset="0"/>
                      </a:endParaRPr>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hMerge="1">
                  <a:txBody>
                    <a:bodyPr/>
                    <a:lstStyle/>
                    <a:p>
                      <a:endParaRPr lang="en-US"/>
                    </a:p>
                  </a:txBody>
                  <a:tcPr/>
                </a:tc>
                <a:tc rowSpan="3" gridSpan="3">
                  <a:txBody>
                    <a:bodyPr/>
                    <a:lstStyle/>
                    <a:p>
                      <a:pPr marL="0" indent="0">
                        <a:buFont typeface="Arial" panose="020B0604020202020204" pitchFamily="34" charset="0"/>
                        <a:buNone/>
                      </a:pPr>
                      <a:endParaRPr lang="en-US" sz="800" b="1" noProof="0" dirty="0"/>
                    </a:p>
                  </a:txBody>
                  <a:tcPr marL="7200" marR="7200" marT="7200" marB="7200" anchor="ctr" horzOverflow="overflow">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hMerge="1">
                  <a:txBody>
                    <a:bodyPr/>
                    <a:lstStyle/>
                    <a:p>
                      <a:endParaRPr lang="en-US"/>
                    </a:p>
                  </a:txBody>
                  <a:tcPr/>
                </a:tc>
                <a:tc rowSpan="3" hMerge="1">
                  <a:txBody>
                    <a:bodyPr/>
                    <a:lstStyle/>
                    <a:p>
                      <a:endParaRPr lang="en-US"/>
                    </a:p>
                  </a:txBody>
                  <a:tcPr/>
                </a:tc>
                <a:extLst>
                  <a:ext uri="{0D108BD9-81ED-4DB2-BD59-A6C34878D82A}">
                    <a16:rowId xmlns:a16="http://schemas.microsoft.com/office/drawing/2014/main" val="10004"/>
                  </a:ext>
                </a:extLst>
              </a:tr>
              <a:tr h="328532">
                <a:tc grid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1" lang="en-US" sz="1200" b="1" i="0" u="none" strike="noStrike" cap="none" normalizeH="0" baseline="0" noProof="0" dirty="0">
                          <a:ln>
                            <a:noFill/>
                          </a:ln>
                          <a:solidFill>
                            <a:schemeClr val="tx1"/>
                          </a:solidFill>
                          <a:effectLst/>
                          <a:latin typeface="Arial Narrow" panose="020B0606020202030204" pitchFamily="34" charset="0"/>
                          <a:ea typeface="LG스마트체 Regular" pitchFamily="50" charset="-127"/>
                          <a:cs typeface="Arial"/>
                        </a:rPr>
                        <a:t>Other support Item</a:t>
                      </a:r>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hMerge="1">
                  <a:txBody>
                    <a:bodyPr/>
                    <a:lstStyle/>
                    <a:p>
                      <a:endParaRPr lang="en-US"/>
                    </a:p>
                  </a:txBody>
                  <a:tcPr/>
                </a:tc>
                <a:tc gridSpan="3"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ko-KR" altLang="en-US" sz="1200" b="1" i="0" u="none" strike="noStrike" cap="none" normalizeH="0" baseline="0" dirty="0">
                        <a:ln>
                          <a:noFill/>
                        </a:ln>
                        <a:solidFill>
                          <a:schemeClr val="tx1"/>
                        </a:solidFill>
                        <a:effectLst/>
                        <a:latin typeface="Arial Narrow" panose="020B0606020202030204" pitchFamily="34" charset="0"/>
                        <a:ea typeface="LG스마트체 Regular" pitchFamily="50" charset="-127"/>
                        <a:cs typeface="Arial"/>
                      </a:endParaRPr>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5"/>
                  </a:ext>
                </a:extLst>
              </a:tr>
              <a:tr h="299543">
                <a:tc gridSpan="2">
                  <a:txBody>
                    <a:bodyPr/>
                    <a:lstStyle/>
                    <a:p>
                      <a:pPr marL="0" marR="0" lvl="0" indent="0" algn="l" rtl="0" eaLnBrk="1" fontAlgn="base" latinLnBrk="0" hangingPunct="1">
                        <a:lnSpc>
                          <a:spcPct val="100000"/>
                        </a:lnSpc>
                        <a:spcBef>
                          <a:spcPct val="20000"/>
                        </a:spcBef>
                        <a:spcAft>
                          <a:spcPct val="0"/>
                        </a:spcAft>
                        <a:buClrTx/>
                        <a:buSzTx/>
                        <a:buFontTx/>
                        <a:buNone/>
                      </a:pPr>
                      <a:r>
                        <a:rPr lang="en-US" sz="1000" b="0" i="0" u="none" strike="noStrike" cap="none" normalizeH="0" baseline="0" noProof="0" dirty="0">
                          <a:ln>
                            <a:noFill/>
                          </a:ln>
                          <a:solidFill>
                            <a:schemeClr val="tx1"/>
                          </a:solidFill>
                          <a:effectLst/>
                          <a:latin typeface="Arial Narrow" panose="020B0606020202030204" pitchFamily="34" charset="0"/>
                          <a:ea typeface="LG스마트체 Regular" panose="020B0600000101010101"/>
                          <a:cs typeface="Arial"/>
                        </a:rPr>
                        <a:t>Access to Azure subscription and Microsoft services listed above. Regular progress reporting every 2 weeks.</a:t>
                      </a:r>
                      <a:endParaRPr kumimoji="0" lang="en-US" sz="1000" b="0" i="0" u="none" strike="noStrike" cap="none" normalizeH="0" baseline="0" noProof="0" dirty="0">
                        <a:ln>
                          <a:noFill/>
                        </a:ln>
                        <a:solidFill>
                          <a:schemeClr val="tx1"/>
                        </a:solidFill>
                        <a:effectLst/>
                        <a:latin typeface="Arial Narrow" pitchFamily="34" charset="0"/>
                        <a:ea typeface="LG스마트체 Regular" pitchFamily="50" charset="-127"/>
                        <a:cs typeface="Arial" pitchFamily="34" charset="0"/>
                      </a:endParaRPr>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hMerge="1">
                  <a:txBody>
                    <a:bodyPr/>
                    <a:lstStyle/>
                    <a:p>
                      <a:endParaRPr lang="en-US"/>
                    </a:p>
                  </a:txBody>
                  <a:tcPr/>
                </a:tc>
                <a:tc gridSpan="3" vMerge="1">
                  <a:txBody>
                    <a:bodyPr/>
                    <a:lstStyle/>
                    <a:p>
                      <a:endParaRPr lang="en-US" sz="900" dirty="0"/>
                    </a:p>
                  </a:txBody>
                  <a:tcPr marL="72001" marR="72001" marT="72000" marB="72000"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6"/>
                  </a:ext>
                </a:extLst>
              </a:tr>
            </a:tbl>
          </a:graphicData>
        </a:graphic>
      </p:graphicFrame>
      <p:graphicFrame>
        <p:nvGraphicFramePr>
          <p:cNvPr id="8" name="Table 7">
            <a:extLst>
              <a:ext uri="{FF2B5EF4-FFF2-40B4-BE49-F238E27FC236}">
                <a16:creationId xmlns:a16="http://schemas.microsoft.com/office/drawing/2014/main" id="{81615829-C76F-43C5-80D7-28CB6AB9D29D}"/>
              </a:ext>
            </a:extLst>
          </p:cNvPr>
          <p:cNvGraphicFramePr>
            <a:graphicFrameLocks noGrp="1"/>
          </p:cNvGraphicFramePr>
          <p:nvPr>
            <p:extLst>
              <p:ext uri="{D42A27DB-BD31-4B8C-83A1-F6EECF244321}">
                <p14:modId xmlns:p14="http://schemas.microsoft.com/office/powerpoint/2010/main" val="933507125"/>
              </p:ext>
            </p:extLst>
          </p:nvPr>
        </p:nvGraphicFramePr>
        <p:xfrm>
          <a:off x="5634522" y="4775174"/>
          <a:ext cx="3811191" cy="617220"/>
        </p:xfrm>
        <a:graphic>
          <a:graphicData uri="http://schemas.openxmlformats.org/drawingml/2006/table">
            <a:tbl>
              <a:tblPr firstRow="1" bandRow="1">
                <a:tableStyleId>{D7AC3CCA-C797-4891-BE02-D94E43425B78}</a:tableStyleId>
              </a:tblPr>
              <a:tblGrid>
                <a:gridCol w="765650">
                  <a:extLst>
                    <a:ext uri="{9D8B030D-6E8A-4147-A177-3AD203B41FA5}">
                      <a16:colId xmlns:a16="http://schemas.microsoft.com/office/drawing/2014/main" val="20000"/>
                    </a:ext>
                  </a:extLst>
                </a:gridCol>
                <a:gridCol w="955992">
                  <a:extLst>
                    <a:ext uri="{9D8B030D-6E8A-4147-A177-3AD203B41FA5}">
                      <a16:colId xmlns:a16="http://schemas.microsoft.com/office/drawing/2014/main" val="20001"/>
                    </a:ext>
                  </a:extLst>
                </a:gridCol>
                <a:gridCol w="982209">
                  <a:extLst>
                    <a:ext uri="{9D8B030D-6E8A-4147-A177-3AD203B41FA5}">
                      <a16:colId xmlns:a16="http://schemas.microsoft.com/office/drawing/2014/main" val="1865233757"/>
                    </a:ext>
                  </a:extLst>
                </a:gridCol>
                <a:gridCol w="545742">
                  <a:extLst>
                    <a:ext uri="{9D8B030D-6E8A-4147-A177-3AD203B41FA5}">
                      <a16:colId xmlns:a16="http://schemas.microsoft.com/office/drawing/2014/main" val="20002"/>
                    </a:ext>
                  </a:extLst>
                </a:gridCol>
                <a:gridCol w="561598">
                  <a:extLst>
                    <a:ext uri="{9D8B030D-6E8A-4147-A177-3AD203B41FA5}">
                      <a16:colId xmlns:a16="http://schemas.microsoft.com/office/drawing/2014/main" val="20003"/>
                    </a:ext>
                  </a:extLst>
                </a:gridCol>
              </a:tblGrid>
              <a:tr h="146814">
                <a:tc>
                  <a:txBody>
                    <a:bodyPr/>
                    <a:lstStyle/>
                    <a:p>
                      <a:pPr algn="ctr"/>
                      <a:r>
                        <a:rPr lang="en-US" sz="750" noProof="0" dirty="0">
                          <a:latin typeface="Arial Narrow"/>
                        </a:rPr>
                        <a:t>Department</a:t>
                      </a:r>
                    </a:p>
                  </a:txBody>
                  <a:tcPr anchor="ctr"/>
                </a:tc>
                <a:tc>
                  <a:txBody>
                    <a:bodyPr/>
                    <a:lstStyle/>
                    <a:p>
                      <a:pPr algn="ctr"/>
                      <a:r>
                        <a:rPr lang="en-US" sz="750" noProof="0" dirty="0">
                          <a:latin typeface="Arial Narrow"/>
                        </a:rPr>
                        <a:t>Name</a:t>
                      </a:r>
                    </a:p>
                  </a:txBody>
                  <a:tcPr anchor="ctr"/>
                </a:tc>
                <a:tc>
                  <a:txBody>
                    <a:bodyPr/>
                    <a:lstStyle/>
                    <a:p>
                      <a:pPr lvl="0" algn="ctr">
                        <a:buNone/>
                      </a:pPr>
                      <a:r>
                        <a:rPr lang="en-US" sz="750" noProof="0" dirty="0">
                          <a:latin typeface="Arial Narrow"/>
                        </a:rPr>
                        <a:t>Scope</a:t>
                      </a:r>
                    </a:p>
                  </a:txBody>
                  <a:tcPr anchor="ctr"/>
                </a:tc>
                <a:tc>
                  <a:txBody>
                    <a:bodyPr/>
                    <a:lstStyle/>
                    <a:p>
                      <a:pPr algn="ctr"/>
                      <a:r>
                        <a:rPr lang="en-US" sz="750" noProof="0" dirty="0">
                          <a:latin typeface="Arial Narrow"/>
                        </a:rPr>
                        <a:t>Full Time</a:t>
                      </a:r>
                    </a:p>
                  </a:txBody>
                  <a:tcPr anchor="ctr"/>
                </a:tc>
                <a:tc>
                  <a:txBody>
                    <a:bodyPr/>
                    <a:lstStyle/>
                    <a:p>
                      <a:pPr algn="ctr"/>
                      <a:r>
                        <a:rPr lang="en-US" sz="750" noProof="0" dirty="0">
                          <a:latin typeface="Arial Narrow"/>
                        </a:rPr>
                        <a:t>Part</a:t>
                      </a:r>
                      <a:r>
                        <a:rPr lang="en-US" sz="750" baseline="0" noProof="0" dirty="0">
                          <a:latin typeface="Arial Narrow"/>
                        </a:rPr>
                        <a:t> </a:t>
                      </a:r>
                      <a:r>
                        <a:rPr lang="en-US" sz="750" noProof="0" dirty="0">
                          <a:latin typeface="Arial Narrow"/>
                        </a:rPr>
                        <a:t>Time</a:t>
                      </a:r>
                    </a:p>
                  </a:txBody>
                  <a:tcPr anchor="ctr"/>
                </a:tc>
                <a:extLst>
                  <a:ext uri="{0D108BD9-81ED-4DB2-BD59-A6C34878D82A}">
                    <a16:rowId xmlns:a16="http://schemas.microsoft.com/office/drawing/2014/main" val="10000"/>
                  </a:ext>
                </a:extLst>
              </a:tr>
              <a:tr h="0">
                <a:tc>
                  <a:txBody>
                    <a:bodyPr/>
                    <a:lstStyle/>
                    <a:p>
                      <a:pPr algn="ctr"/>
                      <a:r>
                        <a:rPr lang="en-US" sz="750" noProof="0" dirty="0">
                          <a:latin typeface="Arial Narrow"/>
                        </a:rPr>
                        <a:t>PE Team</a:t>
                      </a:r>
                    </a:p>
                  </a:txBody>
                  <a:tcPr anchor="ctr">
                    <a:noFill/>
                  </a:tcPr>
                </a:tc>
                <a:tc>
                  <a:txBody>
                    <a:bodyPr/>
                    <a:lstStyle/>
                    <a:p>
                      <a:pPr marL="0" marR="0" lvl="0" indent="0" algn="ctr" defTabSz="912342" rtl="0" eaLnBrk="1" fontAlgn="auto" latinLnBrk="1" hangingPunct="1">
                        <a:lnSpc>
                          <a:spcPct val="100000"/>
                        </a:lnSpc>
                        <a:spcBef>
                          <a:spcPts val="0"/>
                        </a:spcBef>
                        <a:spcAft>
                          <a:spcPts val="0"/>
                        </a:spcAft>
                        <a:buClrTx/>
                        <a:buSzTx/>
                        <a:buFontTx/>
                        <a:buNone/>
                        <a:tabLst/>
                        <a:defRPr/>
                      </a:pPr>
                      <a:r>
                        <a:rPr kumimoji="1" lang="en-US" sz="750" b="0" i="0" u="none" strike="noStrike" cap="none" normalizeH="0" baseline="0" noProof="0" dirty="0">
                          <a:ln>
                            <a:noFill/>
                          </a:ln>
                          <a:solidFill>
                            <a:schemeClr val="tx1"/>
                          </a:solidFill>
                          <a:effectLst/>
                          <a:latin typeface="Arial Narrow"/>
                          <a:ea typeface="LG스마트체 Regular" pitchFamily="50" charset="-127"/>
                        </a:rPr>
                        <a:t>Henry Colmenares</a:t>
                      </a:r>
                    </a:p>
                  </a:txBody>
                  <a:tcPr anchor="ctr">
                    <a:noFill/>
                  </a:tcPr>
                </a:tc>
                <a:tc>
                  <a:txBody>
                    <a:bodyPr/>
                    <a:lstStyle/>
                    <a:p>
                      <a:pPr marL="0" marR="0" lvl="0" indent="0" algn="ctr" defTabSz="912342" rtl="0" eaLnBrk="1" fontAlgn="auto" latinLnBrk="1" hangingPunct="1">
                        <a:lnSpc>
                          <a:spcPct val="100000"/>
                        </a:lnSpc>
                        <a:spcBef>
                          <a:spcPts val="0"/>
                        </a:spcBef>
                        <a:spcAft>
                          <a:spcPts val="0"/>
                        </a:spcAft>
                        <a:buClrTx/>
                        <a:buSzTx/>
                        <a:buFontTx/>
                        <a:buNone/>
                        <a:tabLst/>
                        <a:defRPr/>
                      </a:pPr>
                      <a:r>
                        <a:rPr kumimoji="1" lang="en-US" sz="700" b="0" i="0" u="none" strike="noStrike" cap="none" normalizeH="0" baseline="0" noProof="0" dirty="0">
                          <a:ln>
                            <a:noFill/>
                          </a:ln>
                          <a:solidFill>
                            <a:schemeClr val="tx1"/>
                          </a:solidFill>
                          <a:effectLst/>
                          <a:latin typeface="Arial Narrow" pitchFamily="34" charset="0"/>
                          <a:ea typeface="LG스마트체 Regular" pitchFamily="50" charset="-127"/>
                          <a:cs typeface="Arial" pitchFamily="34" charset="0"/>
                        </a:rPr>
                        <a:t>Program Developer</a:t>
                      </a:r>
                    </a:p>
                  </a:txBody>
                  <a:tcPr anchor="ctr">
                    <a:noFill/>
                  </a:tcPr>
                </a:tc>
                <a:tc>
                  <a:txBody>
                    <a:bodyPr/>
                    <a:lstStyle/>
                    <a:p>
                      <a:pPr lvl="0" algn="ctr">
                        <a:lnSpc>
                          <a:spcPct val="100000"/>
                        </a:lnSpc>
                        <a:spcBef>
                          <a:spcPts val="0"/>
                        </a:spcBef>
                        <a:spcAft>
                          <a:spcPts val="0"/>
                        </a:spcAft>
                        <a:buNone/>
                      </a:pPr>
                      <a:r>
                        <a:rPr lang="en-US" sz="750" b="0" i="0" u="none" strike="noStrike" baseline="0" noProof="0" dirty="0">
                          <a:solidFill>
                            <a:srgbClr val="000000"/>
                          </a:solidFill>
                          <a:latin typeface="Dotum"/>
                          <a:ea typeface="Dotum"/>
                        </a:rPr>
                        <a:t>●</a:t>
                      </a:r>
                      <a:endParaRPr lang="en-US" sz="750" noProof="0" dirty="0"/>
                    </a:p>
                  </a:txBody>
                  <a:tcPr anchor="ctr">
                    <a:noFill/>
                  </a:tcPr>
                </a:tc>
                <a:tc>
                  <a:txBody>
                    <a:bodyPr/>
                    <a:lstStyle/>
                    <a:p>
                      <a:pPr marL="0" marR="0" lvl="0" indent="0" algn="ctr" defTabSz="912342" rtl="0" eaLnBrk="1" fontAlgn="auto" latinLnBrk="1" hangingPunct="1">
                        <a:lnSpc>
                          <a:spcPct val="100000"/>
                        </a:lnSpc>
                        <a:spcBef>
                          <a:spcPts val="0"/>
                        </a:spcBef>
                        <a:spcAft>
                          <a:spcPts val="0"/>
                        </a:spcAft>
                        <a:buClrTx/>
                        <a:buSzTx/>
                        <a:buFontTx/>
                        <a:buNone/>
                        <a:tabLst/>
                        <a:defRPr/>
                      </a:pPr>
                      <a:endParaRPr kumimoji="0" lang="en-US" sz="750" b="0" i="0" u="none" strike="noStrike" cap="none" normalizeH="0" baseline="0" noProof="0" dirty="0">
                        <a:ln>
                          <a:noFill/>
                        </a:ln>
                        <a:solidFill>
                          <a:schemeClr val="tx1"/>
                        </a:solidFill>
                        <a:effectLst/>
                        <a:latin typeface="Arial Narrow"/>
                        <a:ea typeface="LG스마트체 Regular" pitchFamily="50" charset="-127"/>
                      </a:endParaRPr>
                    </a:p>
                  </a:txBody>
                  <a:tcPr anchor="ctr">
                    <a:noFill/>
                  </a:tcPr>
                </a:tc>
                <a:extLst>
                  <a:ext uri="{0D108BD9-81ED-4DB2-BD59-A6C34878D82A}">
                    <a16:rowId xmlns:a16="http://schemas.microsoft.com/office/drawing/2014/main" val="10001"/>
                  </a:ext>
                </a:extLst>
              </a:tr>
              <a:tr h="0">
                <a:tc>
                  <a:txBody>
                    <a:bodyPr/>
                    <a:lstStyle/>
                    <a:p>
                      <a:pPr lvl="0" algn="ctr">
                        <a:buNone/>
                      </a:pPr>
                      <a:r>
                        <a:rPr lang="en-US" sz="750" noProof="0" dirty="0">
                          <a:latin typeface="Arial Narrow"/>
                        </a:rPr>
                        <a:t>PE Team</a:t>
                      </a:r>
                    </a:p>
                  </a:txBody>
                  <a:tcPr anchor="ctr">
                    <a:noFill/>
                  </a:tcPr>
                </a:tc>
                <a:tc>
                  <a:txBody>
                    <a:bodyPr/>
                    <a:lstStyle/>
                    <a:p>
                      <a:pPr lvl="0" algn="ctr">
                        <a:buNone/>
                      </a:pPr>
                      <a:r>
                        <a:rPr lang="en-US" sz="750" noProof="0" dirty="0">
                          <a:latin typeface="Arial Narrow"/>
                        </a:rPr>
                        <a:t>Gianluca Leonarduzzi</a:t>
                      </a:r>
                    </a:p>
                  </a:txBody>
                  <a:tcPr anchor="ctr">
                    <a:noFill/>
                  </a:tcPr>
                </a:tc>
                <a:tc>
                  <a:txBody>
                    <a:bodyPr/>
                    <a:lstStyle/>
                    <a:p>
                      <a:pPr marL="0" marR="0" lvl="0" indent="0" algn="ctr" defTabSz="912342" rtl="0" eaLnBrk="1" fontAlgn="auto" latinLnBrk="1" hangingPunct="1">
                        <a:lnSpc>
                          <a:spcPct val="100000"/>
                        </a:lnSpc>
                        <a:spcBef>
                          <a:spcPts val="0"/>
                        </a:spcBef>
                        <a:spcAft>
                          <a:spcPts val="0"/>
                        </a:spcAft>
                        <a:buClrTx/>
                        <a:buSzTx/>
                        <a:buFontTx/>
                        <a:buNone/>
                        <a:tabLst/>
                        <a:defRPr/>
                      </a:pPr>
                      <a:r>
                        <a:rPr kumimoji="1" lang="en-US" sz="700" b="0" i="0" u="none" strike="noStrike" kern="1200" cap="none" spc="0" normalizeH="0" baseline="0" noProof="0" dirty="0">
                          <a:ln>
                            <a:noFill/>
                          </a:ln>
                          <a:solidFill>
                            <a:srgbClr val="000000"/>
                          </a:solidFill>
                          <a:effectLst/>
                          <a:uLnTx/>
                          <a:uFillTx/>
                          <a:latin typeface="Arial Narrow" pitchFamily="34" charset="0"/>
                          <a:ea typeface="LG스마트체 Regular" pitchFamily="50" charset="-127"/>
                          <a:cs typeface="Arial" pitchFamily="34" charset="0"/>
                        </a:rPr>
                        <a:t>UX &amp; UI Advisor</a:t>
                      </a:r>
                    </a:p>
                  </a:txBody>
                  <a:tcPr anchor="ctr">
                    <a:noFill/>
                  </a:tcPr>
                </a:tc>
                <a:tc>
                  <a:txBody>
                    <a:bodyPr/>
                    <a:lstStyle/>
                    <a:p>
                      <a:pPr lvl="0" algn="ctr">
                        <a:lnSpc>
                          <a:spcPct val="100000"/>
                        </a:lnSpc>
                        <a:spcBef>
                          <a:spcPts val="0"/>
                        </a:spcBef>
                        <a:spcAft>
                          <a:spcPts val="0"/>
                        </a:spcAft>
                        <a:buNone/>
                      </a:pPr>
                      <a:endParaRPr lang="en-US" sz="750" b="0" i="0" u="none" strike="noStrike" noProof="0" dirty="0">
                        <a:solidFill>
                          <a:srgbClr val="000000"/>
                        </a:solidFill>
                        <a:latin typeface="Dotum"/>
                        <a:ea typeface="Dotum"/>
                      </a:endParaRPr>
                    </a:p>
                  </a:txBody>
                  <a:tcPr anchor="c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750" b="0" i="0" u="none" strike="noStrike" kern="1200" cap="none" spc="0" normalizeH="0" baseline="0" noProof="0" dirty="0">
                          <a:ln>
                            <a:noFill/>
                          </a:ln>
                          <a:solidFill>
                            <a:srgbClr val="000000"/>
                          </a:solidFill>
                          <a:effectLst/>
                          <a:uLnTx/>
                          <a:uFillTx/>
                          <a:latin typeface="Gulim"/>
                          <a:ea typeface="Gulim"/>
                        </a:rPr>
                        <a:t>◐</a:t>
                      </a:r>
                      <a:endParaRPr kumimoji="0" lang="en-US" sz="750" noProof="0" dirty="0"/>
                    </a:p>
                  </a:txBody>
                  <a:tcPr marL="0" marR="0" marT="0" marB="0" anchor="ctr">
                    <a:noFill/>
                  </a:tcPr>
                </a:tc>
                <a:extLst>
                  <a:ext uri="{0D108BD9-81ED-4DB2-BD59-A6C34878D82A}">
                    <a16:rowId xmlns:a16="http://schemas.microsoft.com/office/drawing/2014/main" val="10002"/>
                  </a:ext>
                </a:extLst>
              </a:tr>
            </a:tbl>
          </a:graphicData>
        </a:graphic>
      </p:graphicFrame>
      <p:sp>
        <p:nvSpPr>
          <p:cNvPr id="3" name="TextBox 8">
            <a:extLst>
              <a:ext uri="{FF2B5EF4-FFF2-40B4-BE49-F238E27FC236}">
                <a16:creationId xmlns:a16="http://schemas.microsoft.com/office/drawing/2014/main" id="{4DE5E47D-9D3A-25D5-1FCD-EA4642B0B589}"/>
              </a:ext>
            </a:extLst>
          </p:cNvPr>
          <p:cNvSpPr txBox="1"/>
          <p:nvPr/>
        </p:nvSpPr>
        <p:spPr>
          <a:xfrm>
            <a:off x="6782006" y="1391873"/>
            <a:ext cx="447558" cy="253916"/>
          </a:xfrm>
          <a:prstGeom prst="rect">
            <a:avLst/>
          </a:prstGeom>
          <a:noFill/>
        </p:spPr>
        <p:txBody>
          <a:bodyPr wrap="none" rtlCol="0">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1050" b="1" noProof="0" dirty="0">
                <a:solidFill>
                  <a:srgbClr val="000000"/>
                </a:solidFill>
                <a:latin typeface="Arial Narrow" panose="020B0606020202030204" pitchFamily="34" charset="0"/>
              </a:rPr>
              <a:t>ITEM</a:t>
            </a:r>
          </a:p>
        </p:txBody>
      </p:sp>
      <p:sp>
        <p:nvSpPr>
          <p:cNvPr id="6" name="TextBox 11">
            <a:extLst>
              <a:ext uri="{FF2B5EF4-FFF2-40B4-BE49-F238E27FC236}">
                <a16:creationId xmlns:a16="http://schemas.microsoft.com/office/drawing/2014/main" id="{4A5E173E-EF12-BF21-1E7E-FF8023D053EE}"/>
              </a:ext>
            </a:extLst>
          </p:cNvPr>
          <p:cNvSpPr txBox="1"/>
          <p:nvPr/>
        </p:nvSpPr>
        <p:spPr>
          <a:xfrm>
            <a:off x="5651320" y="1804318"/>
            <a:ext cx="3190111" cy="1615827"/>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pPr marL="171450" lvl="0" indent="-171450">
              <a:buFont typeface="Arial" panose="020B0604020202020204" pitchFamily="34" charset="0"/>
              <a:buChar char="•"/>
            </a:pPr>
            <a:r>
              <a:rPr lang="en-US" sz="1100" b="1" noProof="0" dirty="0">
                <a:solidFill>
                  <a:srgbClr val="000000"/>
                </a:solidFill>
                <a:latin typeface="Arial Narrow" panose="020B0606020202030204" pitchFamily="34" charset="0"/>
                <a:ea typeface="LG스마트체 Regular" panose="020B0600000101010101"/>
              </a:rPr>
              <a:t>Predictive maintenance accuracy: ≥ 85%</a:t>
            </a:r>
          </a:p>
          <a:p>
            <a:pPr lvl="0"/>
            <a:r>
              <a:rPr lang="en-US" sz="1100" noProof="0" dirty="0">
                <a:solidFill>
                  <a:srgbClr val="008000"/>
                </a:solidFill>
                <a:latin typeface="Arial Narrow" panose="020B0606020202030204" pitchFamily="34" charset="0"/>
              </a:rPr>
              <a:t>예측 유지보수 정확도 ≥ 85%</a:t>
            </a:r>
          </a:p>
          <a:p>
            <a:pPr lvl="0"/>
            <a:endParaRPr lang="en-US" sz="1100" b="1" noProof="0" dirty="0">
              <a:solidFill>
                <a:srgbClr val="008000"/>
              </a:solidFill>
              <a:latin typeface="Arial Narrow" panose="020B0606020202030204" pitchFamily="34" charset="0"/>
              <a:ea typeface="LG스마트체 Regular" panose="020B0600000101010101"/>
            </a:endParaRPr>
          </a:p>
          <a:p>
            <a:pPr marL="171450" indent="-171450">
              <a:buFont typeface="Arial" panose="020B0604020202020204" pitchFamily="34" charset="0"/>
              <a:buChar char="•"/>
            </a:pPr>
            <a:r>
              <a:rPr lang="en-US" sz="1100" b="1" noProof="0" dirty="0">
                <a:solidFill>
                  <a:srgbClr val="000000"/>
                </a:solidFill>
                <a:latin typeface="Arial Narrow" panose="020B0606020202030204" pitchFamily="34" charset="0"/>
                <a:ea typeface="LG스마트체 Regular" panose="020B0600000101010101"/>
              </a:rPr>
              <a:t>Workload reduction: 90 min/day </a:t>
            </a:r>
            <a:r>
              <a:rPr lang="en-US" sz="1100" b="1" noProof="0" dirty="0">
                <a:solidFill>
                  <a:srgbClr val="000000"/>
                </a:solidFill>
                <a:latin typeface="Arial Narrow" panose="020B0606020202030204" pitchFamily="34" charset="0"/>
                <a:ea typeface="LG스마트체 Regular" panose="020B0600000101010101"/>
                <a:sym typeface="Wingdings" panose="05000000000000000000" pitchFamily="2" charset="2"/>
              </a:rPr>
              <a:t> 5min/day</a:t>
            </a:r>
            <a:endParaRPr lang="en-US" sz="1100" b="1" noProof="0" dirty="0">
              <a:solidFill>
                <a:srgbClr val="000000"/>
              </a:solidFill>
              <a:latin typeface="Arial Narrow" panose="020B0606020202030204" pitchFamily="34" charset="0"/>
              <a:ea typeface="LG스마트체 Regular" panose="020B0600000101010101"/>
            </a:endParaRPr>
          </a:p>
          <a:p>
            <a:r>
              <a:rPr lang="ko-KR" altLang="en-US" sz="1100" noProof="0" dirty="0">
                <a:solidFill>
                  <a:srgbClr val="008000"/>
                </a:solidFill>
                <a:latin typeface="Arial Narrow" panose="020B0606020202030204" pitchFamily="34" charset="0"/>
              </a:rPr>
              <a:t>업무량 감소</a:t>
            </a:r>
            <a:r>
              <a:rPr lang="en-US" altLang="ko-KR" sz="1100" noProof="0" dirty="0">
                <a:solidFill>
                  <a:srgbClr val="008000"/>
                </a:solidFill>
                <a:latin typeface="Arial Narrow" panose="020B0606020202030204" pitchFamily="34" charset="0"/>
              </a:rPr>
              <a:t>: </a:t>
            </a:r>
            <a:r>
              <a:rPr lang="ko-KR" altLang="en-US" sz="1100" noProof="0" dirty="0">
                <a:solidFill>
                  <a:srgbClr val="008000"/>
                </a:solidFill>
                <a:latin typeface="Arial Narrow" panose="020B0606020202030204" pitchFamily="34" charset="0"/>
              </a:rPr>
              <a:t>하루 </a:t>
            </a:r>
            <a:r>
              <a:rPr lang="en-US" altLang="ko-KR" sz="1100" noProof="0" dirty="0">
                <a:solidFill>
                  <a:srgbClr val="008000"/>
                </a:solidFill>
                <a:latin typeface="Arial Narrow" panose="020B0606020202030204" pitchFamily="34" charset="0"/>
              </a:rPr>
              <a:t>90</a:t>
            </a:r>
            <a:r>
              <a:rPr lang="ko-KR" altLang="en-US" sz="1100" noProof="0" dirty="0">
                <a:solidFill>
                  <a:srgbClr val="008000"/>
                </a:solidFill>
                <a:latin typeface="Arial Narrow" panose="020B0606020202030204" pitchFamily="34" charset="0"/>
              </a:rPr>
              <a:t>분 → 하루 </a:t>
            </a:r>
            <a:r>
              <a:rPr lang="en-US" altLang="ko-KR" sz="1100" noProof="0" dirty="0">
                <a:solidFill>
                  <a:srgbClr val="008000"/>
                </a:solidFill>
                <a:latin typeface="Arial Narrow" panose="020B0606020202030204" pitchFamily="34" charset="0"/>
              </a:rPr>
              <a:t>5</a:t>
            </a:r>
            <a:r>
              <a:rPr lang="ko-KR" altLang="en-US" sz="1100" noProof="0" dirty="0">
                <a:solidFill>
                  <a:srgbClr val="008000"/>
                </a:solidFill>
                <a:latin typeface="Arial Narrow" panose="020B0606020202030204" pitchFamily="34" charset="0"/>
              </a:rPr>
              <a:t>분</a:t>
            </a:r>
            <a:endParaRPr lang="en-US" altLang="ko-KR" sz="1100" noProof="0" dirty="0">
              <a:solidFill>
                <a:srgbClr val="008000"/>
              </a:solidFill>
              <a:latin typeface="Arial Narrow" panose="020B0606020202030204" pitchFamily="34" charset="0"/>
            </a:endParaRPr>
          </a:p>
          <a:p>
            <a:endParaRPr lang="en-US" sz="1100" b="1" noProof="0" dirty="0">
              <a:solidFill>
                <a:srgbClr val="008000"/>
              </a:solidFill>
              <a:latin typeface="Arial Narrow" panose="020B0606020202030204" pitchFamily="34" charset="0"/>
              <a:ea typeface="LG스마트체 Regular" panose="020B0600000101010101"/>
            </a:endParaRPr>
          </a:p>
          <a:p>
            <a:endParaRPr lang="en-US" sz="1100" b="1" noProof="0" dirty="0">
              <a:solidFill>
                <a:srgbClr val="008000"/>
              </a:solidFill>
              <a:latin typeface="Arial Narrow" panose="020B0606020202030204" pitchFamily="34" charset="0"/>
              <a:ea typeface="LG스마트체 Regular" panose="020B0600000101010101"/>
            </a:endParaRPr>
          </a:p>
          <a:p>
            <a:pPr marL="171450" indent="-171450">
              <a:buFont typeface="Arial" panose="020B0604020202020204" pitchFamily="34" charset="0"/>
              <a:buChar char="•"/>
            </a:pPr>
            <a:r>
              <a:rPr lang="en-US" sz="1100" b="1" noProof="0" dirty="0">
                <a:solidFill>
                  <a:srgbClr val="000000"/>
                </a:solidFill>
                <a:latin typeface="Arial Narrow" panose="020B0606020202030204" pitchFamily="34" charset="0"/>
                <a:ea typeface="LG스마트체 Regular" panose="020B0600000101010101"/>
              </a:rPr>
              <a:t>Reduction in unplanned downtime: ≥ 20%</a:t>
            </a:r>
          </a:p>
          <a:p>
            <a:r>
              <a:rPr lang="en-US" sz="1100" noProof="0" dirty="0">
                <a:solidFill>
                  <a:srgbClr val="008000"/>
                </a:solidFill>
                <a:latin typeface="Arial Narrow" panose="020B0606020202030204" pitchFamily="34" charset="0"/>
              </a:rPr>
              <a:t>예기치 않은 가동 중단 감소율 ≥ 20%</a:t>
            </a:r>
          </a:p>
        </p:txBody>
      </p:sp>
      <p:sp>
        <p:nvSpPr>
          <p:cNvPr id="10" name="TextBox 19">
            <a:extLst>
              <a:ext uri="{FF2B5EF4-FFF2-40B4-BE49-F238E27FC236}">
                <a16:creationId xmlns:a16="http://schemas.microsoft.com/office/drawing/2014/main" id="{5C227816-EB91-57CB-F5DF-F920EE87E2F7}"/>
              </a:ext>
            </a:extLst>
          </p:cNvPr>
          <p:cNvSpPr txBox="1"/>
          <p:nvPr/>
        </p:nvSpPr>
        <p:spPr>
          <a:xfrm>
            <a:off x="8405778" y="1391873"/>
            <a:ext cx="1007007" cy="253916"/>
          </a:xfrm>
          <a:prstGeom prst="rect">
            <a:avLst/>
          </a:prstGeom>
          <a:noFill/>
        </p:spPr>
        <p:txBody>
          <a:bodyPr wrap="none" rtlCol="0">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1050" b="1" noProof="0" dirty="0">
                <a:solidFill>
                  <a:srgbClr val="000000"/>
                </a:solidFill>
                <a:latin typeface="Arial Narrow" panose="020B0606020202030204" pitchFamily="34" charset="0"/>
              </a:rPr>
              <a:t>IMPROVEMENT</a:t>
            </a:r>
          </a:p>
        </p:txBody>
      </p:sp>
      <p:sp>
        <p:nvSpPr>
          <p:cNvPr id="11" name="TextBox 20">
            <a:extLst>
              <a:ext uri="{FF2B5EF4-FFF2-40B4-BE49-F238E27FC236}">
                <a16:creationId xmlns:a16="http://schemas.microsoft.com/office/drawing/2014/main" id="{6FE87A9C-C986-6890-65A4-BC38A22C5EF8}"/>
              </a:ext>
            </a:extLst>
          </p:cNvPr>
          <p:cNvSpPr txBox="1"/>
          <p:nvPr/>
        </p:nvSpPr>
        <p:spPr>
          <a:xfrm>
            <a:off x="8736280" y="1799711"/>
            <a:ext cx="508473" cy="253916"/>
          </a:xfrm>
          <a:prstGeom prst="rect">
            <a:avLst/>
          </a:prstGeom>
          <a:noFill/>
        </p:spPr>
        <p:txBody>
          <a:bodyPr wrap="non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1050" b="1" noProof="0" dirty="0">
                <a:solidFill>
                  <a:srgbClr val="008000"/>
                </a:solidFill>
                <a:latin typeface="Arial Narrow"/>
                <a:ea typeface="LG스마트체 Regular" panose="020B0600000101010101"/>
              </a:rPr>
              <a:t>≥ 85%</a:t>
            </a:r>
            <a:endParaRPr lang="en-US" sz="1050" b="1" noProof="0" dirty="0">
              <a:solidFill>
                <a:srgbClr val="008000"/>
              </a:solidFill>
              <a:latin typeface="Arial Narrow"/>
            </a:endParaRPr>
          </a:p>
        </p:txBody>
      </p:sp>
      <p:graphicFrame>
        <p:nvGraphicFramePr>
          <p:cNvPr id="2" name="다이어그램 6">
            <a:extLst>
              <a:ext uri="{FF2B5EF4-FFF2-40B4-BE49-F238E27FC236}">
                <a16:creationId xmlns:a16="http://schemas.microsoft.com/office/drawing/2014/main" id="{568903A3-56DD-F9CB-73EE-9C16EA8FD4A2}"/>
              </a:ext>
            </a:extLst>
          </p:cNvPr>
          <p:cNvGraphicFramePr/>
          <p:nvPr>
            <p:extLst>
              <p:ext uri="{D42A27DB-BD31-4B8C-83A1-F6EECF244321}">
                <p14:modId xmlns:p14="http://schemas.microsoft.com/office/powerpoint/2010/main" val="132776576"/>
              </p:ext>
            </p:extLst>
          </p:nvPr>
        </p:nvGraphicFramePr>
        <p:xfrm>
          <a:off x="362760" y="4566615"/>
          <a:ext cx="5099520" cy="8257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78" name="TextBox 45">
            <a:extLst>
              <a:ext uri="{FF2B5EF4-FFF2-40B4-BE49-F238E27FC236}">
                <a16:creationId xmlns:a16="http://schemas.microsoft.com/office/drawing/2014/main" id="{BC3BBAC5-1583-3949-2653-3FC1DC10CD55}"/>
              </a:ext>
            </a:extLst>
          </p:cNvPr>
          <p:cNvSpPr txBox="1"/>
          <p:nvPr/>
        </p:nvSpPr>
        <p:spPr>
          <a:xfrm>
            <a:off x="1449417" y="5365822"/>
            <a:ext cx="1187397" cy="230832"/>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900" b="1" noProof="0" dirty="0">
                <a:solidFill>
                  <a:srgbClr val="008000"/>
                </a:solidFill>
                <a:latin typeface="Arial Narrow"/>
                <a:cs typeface="Arial"/>
              </a:rPr>
              <a:t>Mar 15  – May 31</a:t>
            </a:r>
            <a:endParaRPr lang="en-US" sz="900" b="1" noProof="0" dirty="0">
              <a:solidFill>
                <a:srgbClr val="008000"/>
              </a:solidFill>
              <a:cs typeface="Tahoma"/>
            </a:endParaRPr>
          </a:p>
        </p:txBody>
      </p:sp>
      <p:sp>
        <p:nvSpPr>
          <p:cNvPr id="379" name="TextBox 45">
            <a:extLst>
              <a:ext uri="{FF2B5EF4-FFF2-40B4-BE49-F238E27FC236}">
                <a16:creationId xmlns:a16="http://schemas.microsoft.com/office/drawing/2014/main" id="{C09034E8-104C-342B-AD83-567C9F14295D}"/>
              </a:ext>
            </a:extLst>
          </p:cNvPr>
          <p:cNvSpPr txBox="1"/>
          <p:nvPr/>
        </p:nvSpPr>
        <p:spPr>
          <a:xfrm>
            <a:off x="405582" y="5365822"/>
            <a:ext cx="1179365" cy="230832"/>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900" b="1" noProof="0" dirty="0">
                <a:solidFill>
                  <a:srgbClr val="008000"/>
                </a:solidFill>
                <a:latin typeface="Arial Narrow"/>
                <a:cs typeface="Arial"/>
              </a:rPr>
              <a:t>Mar. 19 – Mar 22</a:t>
            </a:r>
            <a:endParaRPr lang="en-US" sz="900" b="1" noProof="0" dirty="0">
              <a:solidFill>
                <a:srgbClr val="008000"/>
              </a:solidFill>
              <a:cs typeface="Tahoma"/>
            </a:endParaRPr>
          </a:p>
        </p:txBody>
      </p:sp>
      <p:sp>
        <p:nvSpPr>
          <p:cNvPr id="380" name="TextBox 45">
            <a:extLst>
              <a:ext uri="{FF2B5EF4-FFF2-40B4-BE49-F238E27FC236}">
                <a16:creationId xmlns:a16="http://schemas.microsoft.com/office/drawing/2014/main" id="{5B1193BB-D73E-33E5-8E20-184D564A14C9}"/>
              </a:ext>
            </a:extLst>
          </p:cNvPr>
          <p:cNvSpPr txBox="1"/>
          <p:nvPr/>
        </p:nvSpPr>
        <p:spPr>
          <a:xfrm>
            <a:off x="2545445" y="5365822"/>
            <a:ext cx="1095860" cy="230832"/>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900" b="1" noProof="0" dirty="0">
                <a:solidFill>
                  <a:srgbClr val="008000"/>
                </a:solidFill>
                <a:latin typeface="Arial Narrow"/>
                <a:cs typeface="Arial"/>
              </a:rPr>
              <a:t>Jun 1  – Jun 12</a:t>
            </a:r>
            <a:endParaRPr lang="en-US" sz="900" b="1" noProof="0" dirty="0">
              <a:solidFill>
                <a:srgbClr val="008000"/>
              </a:solidFill>
              <a:latin typeface="Arial Narrow" panose="020B0606020202030204" pitchFamily="34" charset="0"/>
              <a:cs typeface="Arial" pitchFamily="34" charset="0"/>
            </a:endParaRPr>
          </a:p>
        </p:txBody>
      </p:sp>
      <p:sp>
        <p:nvSpPr>
          <p:cNvPr id="381" name="TextBox 45">
            <a:extLst>
              <a:ext uri="{FF2B5EF4-FFF2-40B4-BE49-F238E27FC236}">
                <a16:creationId xmlns:a16="http://schemas.microsoft.com/office/drawing/2014/main" id="{D99E4141-BBD2-A768-D998-F8740D17C723}"/>
              </a:ext>
            </a:extLst>
          </p:cNvPr>
          <p:cNvSpPr txBox="1"/>
          <p:nvPr/>
        </p:nvSpPr>
        <p:spPr>
          <a:xfrm>
            <a:off x="3970730" y="5365822"/>
            <a:ext cx="1200243" cy="230832"/>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900" b="1" noProof="0" dirty="0">
                <a:solidFill>
                  <a:srgbClr val="008000"/>
                </a:solidFill>
                <a:latin typeface="Arial Narrow"/>
                <a:cs typeface="Arial"/>
              </a:rPr>
              <a:t>Jun 13 – Jun 26</a:t>
            </a:r>
          </a:p>
        </p:txBody>
      </p:sp>
      <p:sp>
        <p:nvSpPr>
          <p:cNvPr id="382" name="TextBox 50">
            <a:extLst>
              <a:ext uri="{FF2B5EF4-FFF2-40B4-BE49-F238E27FC236}">
                <a16:creationId xmlns:a16="http://schemas.microsoft.com/office/drawing/2014/main" id="{EB93432C-D00B-FD4C-9D74-3357CDBC6C06}"/>
              </a:ext>
            </a:extLst>
          </p:cNvPr>
          <p:cNvSpPr txBox="1"/>
          <p:nvPr/>
        </p:nvSpPr>
        <p:spPr>
          <a:xfrm>
            <a:off x="392028" y="5593443"/>
            <a:ext cx="1201398" cy="338554"/>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pPr marL="171450" indent="-171450">
              <a:buFont typeface="Arial" panose="020B0604020202020204" pitchFamily="34" charset="0"/>
              <a:buChar char="•"/>
            </a:pPr>
            <a:r>
              <a:rPr lang="en-US" sz="800" noProof="0" dirty="0">
                <a:solidFill>
                  <a:srgbClr val="000000"/>
                </a:solidFill>
                <a:latin typeface="Arial Narrow"/>
                <a:cs typeface="Arial"/>
              </a:rPr>
              <a:t>Collect requirements</a:t>
            </a:r>
          </a:p>
          <a:p>
            <a:pPr marL="171450" indent="-171450">
              <a:buFont typeface="Arial" panose="020B0604020202020204" pitchFamily="34" charset="0"/>
              <a:buChar char="•"/>
            </a:pPr>
            <a:r>
              <a:rPr lang="en-US" sz="800" noProof="0" dirty="0">
                <a:solidFill>
                  <a:srgbClr val="000000"/>
                </a:solidFill>
                <a:latin typeface="Arial Narrow"/>
                <a:cs typeface="Arial"/>
              </a:rPr>
              <a:t>Identify action items.</a:t>
            </a:r>
            <a:endParaRPr lang="en-US" sz="800" noProof="0" dirty="0">
              <a:latin typeface="Arial Narrow"/>
              <a:cs typeface="Arial"/>
            </a:endParaRPr>
          </a:p>
        </p:txBody>
      </p:sp>
      <p:sp>
        <p:nvSpPr>
          <p:cNvPr id="407" name="TextBox 50">
            <a:extLst>
              <a:ext uri="{FF2B5EF4-FFF2-40B4-BE49-F238E27FC236}">
                <a16:creationId xmlns:a16="http://schemas.microsoft.com/office/drawing/2014/main" id="{6277936F-276E-FC9F-6D99-5B99069375AD}"/>
              </a:ext>
            </a:extLst>
          </p:cNvPr>
          <p:cNvSpPr txBox="1"/>
          <p:nvPr/>
        </p:nvSpPr>
        <p:spPr>
          <a:xfrm>
            <a:off x="1443895" y="5593443"/>
            <a:ext cx="1085121" cy="584775"/>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pPr marL="171450" indent="-171450" latinLnBrk="0">
              <a:buFont typeface="Arial" panose="020B0604020202020204" pitchFamily="34" charset="0"/>
              <a:buChar char="•"/>
            </a:pPr>
            <a:r>
              <a:rPr lang="en-US" sz="800" noProof="0" dirty="0">
                <a:latin typeface="Arial Narrow" panose="020B0606020202030204" pitchFamily="34" charset="0"/>
                <a:cs typeface="Tahoma"/>
              </a:rPr>
              <a:t>Develop and integrate AI model with database and search.</a:t>
            </a:r>
          </a:p>
        </p:txBody>
      </p:sp>
      <p:sp>
        <p:nvSpPr>
          <p:cNvPr id="408" name="TextBox 50">
            <a:extLst>
              <a:ext uri="{FF2B5EF4-FFF2-40B4-BE49-F238E27FC236}">
                <a16:creationId xmlns:a16="http://schemas.microsoft.com/office/drawing/2014/main" id="{E381C191-9BBE-843C-9B94-E82DD9E9B882}"/>
              </a:ext>
            </a:extLst>
          </p:cNvPr>
          <p:cNvSpPr txBox="1"/>
          <p:nvPr/>
        </p:nvSpPr>
        <p:spPr>
          <a:xfrm>
            <a:off x="2551722" y="5628138"/>
            <a:ext cx="1131411" cy="338554"/>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pPr marL="171450" indent="-171450" latinLnBrk="0">
              <a:buFont typeface="Arial" panose="020B0604020202020204" pitchFamily="34" charset="0"/>
              <a:buChar char="•"/>
            </a:pPr>
            <a:r>
              <a:rPr lang="en-US" sz="800" noProof="0" dirty="0">
                <a:solidFill>
                  <a:srgbClr val="000000"/>
                </a:solidFill>
                <a:latin typeface="Arial Narrow"/>
                <a:cs typeface="Arial"/>
              </a:rPr>
              <a:t>Test and refine application.</a:t>
            </a:r>
            <a:endParaRPr lang="en-US" sz="800" noProof="0" dirty="0">
              <a:cs typeface="Tahoma"/>
            </a:endParaRPr>
          </a:p>
        </p:txBody>
      </p:sp>
      <p:sp>
        <p:nvSpPr>
          <p:cNvPr id="409" name="TextBox 408">
            <a:extLst>
              <a:ext uri="{FF2B5EF4-FFF2-40B4-BE49-F238E27FC236}">
                <a16:creationId xmlns:a16="http://schemas.microsoft.com/office/drawing/2014/main" id="{2F040CBE-C749-2F9E-5EBA-4CE5BE2A404B}"/>
              </a:ext>
            </a:extLst>
          </p:cNvPr>
          <p:cNvSpPr txBox="1"/>
          <p:nvPr/>
        </p:nvSpPr>
        <p:spPr>
          <a:xfrm>
            <a:off x="3773181" y="5614539"/>
            <a:ext cx="1438881"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panose="020B0604020202020204" pitchFamily="34" charset="0"/>
              <a:buChar char="•"/>
            </a:pPr>
            <a:r>
              <a:rPr lang="en-US" sz="800" noProof="0" dirty="0">
                <a:latin typeface="Arial Narrow"/>
                <a:cs typeface="Segoe UI"/>
              </a:rPr>
              <a:t>Deploy and train users.</a:t>
            </a:r>
            <a:endParaRPr lang="en-US" sz="800" noProof="0" dirty="0">
              <a:cs typeface="Tahoma"/>
            </a:endParaRPr>
          </a:p>
        </p:txBody>
      </p:sp>
      <p:sp>
        <p:nvSpPr>
          <p:cNvPr id="17" name="TextBox 20">
            <a:extLst>
              <a:ext uri="{FF2B5EF4-FFF2-40B4-BE49-F238E27FC236}">
                <a16:creationId xmlns:a16="http://schemas.microsoft.com/office/drawing/2014/main" id="{F1780822-4859-07C1-FDBB-211FF9BBAFF9}"/>
              </a:ext>
            </a:extLst>
          </p:cNvPr>
          <p:cNvSpPr txBox="1"/>
          <p:nvPr/>
        </p:nvSpPr>
        <p:spPr>
          <a:xfrm>
            <a:off x="8672160" y="2279356"/>
            <a:ext cx="593432" cy="253916"/>
          </a:xfrm>
          <a:prstGeom prst="rect">
            <a:avLst/>
          </a:prstGeom>
          <a:noFill/>
        </p:spPr>
        <p:txBody>
          <a:bodyPr wrap="non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1050" b="1" dirty="0">
                <a:solidFill>
                  <a:srgbClr val="008000"/>
                </a:solidFill>
                <a:latin typeface="Arial Narrow"/>
                <a:ea typeface="LG스마트체 Regular" panose="020B0600000101010101"/>
              </a:rPr>
              <a:t>  </a:t>
            </a:r>
            <a:r>
              <a:rPr lang="en-US" sz="1050" b="1" noProof="0" dirty="0">
                <a:solidFill>
                  <a:srgbClr val="008000"/>
                </a:solidFill>
                <a:latin typeface="Arial Narrow"/>
              </a:rPr>
              <a:t>95% ↓ </a:t>
            </a:r>
          </a:p>
        </p:txBody>
      </p:sp>
      <p:sp>
        <p:nvSpPr>
          <p:cNvPr id="21" name="TextBox 20">
            <a:extLst>
              <a:ext uri="{FF2B5EF4-FFF2-40B4-BE49-F238E27FC236}">
                <a16:creationId xmlns:a16="http://schemas.microsoft.com/office/drawing/2014/main" id="{F1780822-4859-07C1-FDBB-211FF9BBAFF9}"/>
              </a:ext>
            </a:extLst>
          </p:cNvPr>
          <p:cNvSpPr txBox="1"/>
          <p:nvPr/>
        </p:nvSpPr>
        <p:spPr>
          <a:xfrm>
            <a:off x="8695403" y="2996952"/>
            <a:ext cx="590226" cy="253916"/>
          </a:xfrm>
          <a:prstGeom prst="rect">
            <a:avLst/>
          </a:prstGeom>
          <a:noFill/>
        </p:spPr>
        <p:txBody>
          <a:bodyPr wrap="non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r>
              <a:rPr lang="en-US" sz="1000" b="1" noProof="0" dirty="0">
                <a:solidFill>
                  <a:srgbClr val="008000"/>
                </a:solidFill>
                <a:latin typeface="Arial Narrow"/>
                <a:ea typeface="LG스마트체 Regular" panose="020B0600000101010101"/>
              </a:rPr>
              <a:t>≥ </a:t>
            </a:r>
            <a:r>
              <a:rPr lang="en-US" sz="1000" b="1" noProof="0" dirty="0">
                <a:solidFill>
                  <a:srgbClr val="008000"/>
                </a:solidFill>
                <a:latin typeface="Arial Narrow"/>
              </a:rPr>
              <a:t>20% ↓</a:t>
            </a:r>
          </a:p>
        </p:txBody>
      </p:sp>
      <p:sp>
        <p:nvSpPr>
          <p:cNvPr id="9" name="TextBox 8">
            <a:extLst>
              <a:ext uri="{FF2B5EF4-FFF2-40B4-BE49-F238E27FC236}">
                <a16:creationId xmlns:a16="http://schemas.microsoft.com/office/drawing/2014/main" id="{6FEBAD17-0FC1-86EF-B6F0-285E553547A0}"/>
              </a:ext>
            </a:extLst>
          </p:cNvPr>
          <p:cNvSpPr txBox="1"/>
          <p:nvPr/>
        </p:nvSpPr>
        <p:spPr>
          <a:xfrm>
            <a:off x="5634522" y="5445224"/>
            <a:ext cx="3811191" cy="1338828"/>
          </a:xfrm>
          <a:prstGeom prst="rect">
            <a:avLst/>
          </a:prstGeom>
          <a:noFill/>
        </p:spPr>
        <p:txBody>
          <a:bodyPr wrap="square" numCol="2" rtlCol="0">
            <a:spAutoFit/>
          </a:bodyPr>
          <a:lstStyle/>
          <a:p>
            <a:pPr marL="171450" indent="-171450" latinLnBrk="0">
              <a:buFont typeface="Arial" panose="020B0604020202020204" pitchFamily="34" charset="0"/>
              <a:buChar char="•"/>
            </a:pPr>
            <a:r>
              <a:rPr lang="en-US" sz="900" b="1" noProof="0" dirty="0">
                <a:latin typeface="Arial Narrow" panose="020B0606020202030204" pitchFamily="34" charset="0"/>
              </a:rPr>
              <a:t>Azure OpenAI Service</a:t>
            </a:r>
            <a:r>
              <a:rPr lang="en-US" sz="900" noProof="0" dirty="0">
                <a:latin typeface="Arial Narrow" panose="020B0606020202030204" pitchFamily="34" charset="0"/>
              </a:rPr>
              <a:t> – For GPT-based natural language processing. </a:t>
            </a:r>
          </a:p>
          <a:p>
            <a:pPr marL="171450" indent="-171450" latinLnBrk="0">
              <a:buFont typeface="Arial" panose="020B0604020202020204" pitchFamily="34" charset="0"/>
              <a:buChar char="•"/>
            </a:pPr>
            <a:r>
              <a:rPr lang="en-US" sz="900" b="1" noProof="0" dirty="0">
                <a:latin typeface="Arial Narrow" panose="020B0606020202030204" pitchFamily="34" charset="0"/>
              </a:rPr>
              <a:t>Azure Cognitive Search</a:t>
            </a:r>
            <a:r>
              <a:rPr lang="en-US" sz="900" noProof="0" dirty="0">
                <a:latin typeface="Arial Narrow" panose="020B0606020202030204" pitchFamily="34" charset="0"/>
              </a:rPr>
              <a:t> – For indexing and retrieving work order data. </a:t>
            </a:r>
          </a:p>
          <a:p>
            <a:pPr marL="171450" indent="-171450" latinLnBrk="0">
              <a:buFont typeface="Arial" panose="020B0604020202020204" pitchFamily="34" charset="0"/>
              <a:buChar char="•"/>
            </a:pPr>
            <a:endParaRPr lang="en-US" sz="900" b="1" noProof="0" dirty="0">
              <a:latin typeface="Arial Narrow" panose="020B0606020202030204" pitchFamily="34" charset="0"/>
            </a:endParaRPr>
          </a:p>
          <a:p>
            <a:pPr marL="171450" indent="-171450" latinLnBrk="0">
              <a:buFont typeface="Arial" panose="020B0604020202020204" pitchFamily="34" charset="0"/>
              <a:buChar char="•"/>
            </a:pPr>
            <a:endParaRPr lang="en-US" sz="900" b="1" dirty="0">
              <a:latin typeface="Arial Narrow" panose="020B0606020202030204" pitchFamily="34" charset="0"/>
            </a:endParaRPr>
          </a:p>
          <a:p>
            <a:pPr marL="171450" indent="-171450" latinLnBrk="0">
              <a:buFont typeface="Arial" panose="020B0604020202020204" pitchFamily="34" charset="0"/>
              <a:buChar char="•"/>
            </a:pPr>
            <a:endParaRPr lang="en-US" sz="900" b="1" noProof="0" dirty="0">
              <a:latin typeface="Arial Narrow" panose="020B0606020202030204" pitchFamily="34" charset="0"/>
            </a:endParaRPr>
          </a:p>
          <a:p>
            <a:pPr marL="171450" indent="-171450" latinLnBrk="0">
              <a:buFont typeface="Arial" panose="020B0604020202020204" pitchFamily="34" charset="0"/>
              <a:buChar char="•"/>
            </a:pPr>
            <a:endParaRPr lang="en-US" sz="900" b="1" dirty="0">
              <a:latin typeface="Arial Narrow" panose="020B0606020202030204" pitchFamily="34" charset="0"/>
            </a:endParaRPr>
          </a:p>
          <a:p>
            <a:pPr marL="171450" indent="-171450" latinLnBrk="0">
              <a:buFont typeface="Arial" panose="020B0604020202020204" pitchFamily="34" charset="0"/>
              <a:buChar char="•"/>
            </a:pPr>
            <a:r>
              <a:rPr lang="en-US" sz="900" b="1" noProof="0" dirty="0">
                <a:latin typeface="Arial Narrow" panose="020B0606020202030204" pitchFamily="34" charset="0"/>
              </a:rPr>
              <a:t>Azure SQL Database</a:t>
            </a:r>
            <a:r>
              <a:rPr lang="en-US" sz="900" noProof="0" dirty="0">
                <a:latin typeface="Arial Narrow" panose="020B0606020202030204" pitchFamily="34" charset="0"/>
              </a:rPr>
              <a:t> – To store historical work order data. </a:t>
            </a:r>
          </a:p>
          <a:p>
            <a:pPr marL="171450" indent="-171450" latinLnBrk="0">
              <a:buFont typeface="Arial" panose="020B0604020202020204" pitchFamily="34" charset="0"/>
              <a:buChar char="•"/>
            </a:pPr>
            <a:r>
              <a:rPr lang="en-US" sz="900" b="1" noProof="0" dirty="0">
                <a:latin typeface="Arial Narrow" panose="020B0606020202030204" pitchFamily="34" charset="0"/>
              </a:rPr>
              <a:t>Copilot Studio</a:t>
            </a:r>
            <a:r>
              <a:rPr lang="en-US" sz="900" noProof="0" dirty="0">
                <a:latin typeface="Arial Narrow" panose="020B0606020202030204" pitchFamily="34" charset="0"/>
              </a:rPr>
              <a:t> – For conversational AI integration with Microsoft ecosystem.</a:t>
            </a:r>
            <a:endParaRPr kumimoji="1" lang="en-US" sz="900" noProof="0" dirty="0">
              <a:latin typeface="Arial Narrow" panose="020B0606020202030204" pitchFamily="34" charset="0"/>
              <a:ea typeface="LG스마트체 Regular" pitchFamily="50" charset="-127"/>
              <a:cs typeface="Arial"/>
            </a:endParaRPr>
          </a:p>
          <a:p>
            <a:pPr latinLnBrk="0"/>
            <a:endParaRPr lang="en-US" sz="800" noProof="0" dirty="0">
              <a:latin typeface="Arial Narrow" panose="020B0606020202030204" pitchFamily="34" charset="0"/>
            </a:endParaRPr>
          </a:p>
        </p:txBody>
      </p:sp>
    </p:spTree>
    <p:extLst>
      <p:ext uri="{BB962C8B-B14F-4D97-AF65-F5344CB8AC3E}">
        <p14:creationId xmlns:p14="http://schemas.microsoft.com/office/powerpoint/2010/main" val="241962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F1B90-5A76-8E82-2C75-350C8D8FF07F}"/>
            </a:ext>
          </a:extLst>
        </p:cNvPr>
        <p:cNvGrpSpPr/>
        <p:nvPr/>
      </p:nvGrpSpPr>
      <p:grpSpPr>
        <a:xfrm>
          <a:off x="0" y="0"/>
          <a:ext cx="0" cy="0"/>
          <a:chOff x="0" y="0"/>
          <a:chExt cx="0" cy="0"/>
        </a:xfrm>
      </p:grpSpPr>
      <p:sp>
        <p:nvSpPr>
          <p:cNvPr id="6" name="Text Box 237">
            <a:extLst>
              <a:ext uri="{FF2B5EF4-FFF2-40B4-BE49-F238E27FC236}">
                <a16:creationId xmlns:a16="http://schemas.microsoft.com/office/drawing/2014/main" id="{85E5EA46-740E-1220-67BF-C5A02926EFCB}"/>
              </a:ext>
            </a:extLst>
          </p:cNvPr>
          <p:cNvSpPr txBox="1">
            <a:spLocks noChangeArrowheads="1"/>
          </p:cNvSpPr>
          <p:nvPr/>
        </p:nvSpPr>
        <p:spPr bwMode="gray">
          <a:xfrm>
            <a:off x="448885" y="65731"/>
            <a:ext cx="1566236" cy="39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3077" tIns="43200" rIns="83077" bIns="43200" anchor="ctr">
            <a:spAutoFit/>
          </a:bodyPr>
          <a:lstStyle>
            <a:lvl1pPr eaLnBrk="0" hangingPunct="0">
              <a:defRPr kumimoji="1" sz="1200" b="1">
                <a:solidFill>
                  <a:schemeClr val="tx1"/>
                </a:solidFill>
                <a:latin typeface="Arial" charset="0"/>
                <a:ea typeface="돋움" pitchFamily="50" charset="-127"/>
              </a:defRPr>
            </a:lvl1pPr>
            <a:lvl2pPr marL="742950" indent="-285750" eaLnBrk="0" hangingPunct="0">
              <a:defRPr kumimoji="1" sz="1200" b="1">
                <a:solidFill>
                  <a:schemeClr val="tx1"/>
                </a:solidFill>
                <a:latin typeface="Arial" charset="0"/>
                <a:ea typeface="돋움" pitchFamily="50" charset="-127"/>
              </a:defRPr>
            </a:lvl2pPr>
            <a:lvl3pPr marL="1143000" indent="-228600" eaLnBrk="0" hangingPunct="0">
              <a:defRPr kumimoji="1" sz="1200" b="1">
                <a:solidFill>
                  <a:schemeClr val="tx1"/>
                </a:solidFill>
                <a:latin typeface="Arial" charset="0"/>
                <a:ea typeface="돋움" pitchFamily="50" charset="-127"/>
              </a:defRPr>
            </a:lvl3pPr>
            <a:lvl4pPr marL="1600200" indent="-228600" eaLnBrk="0" hangingPunct="0">
              <a:defRPr kumimoji="1" sz="1200" b="1">
                <a:solidFill>
                  <a:schemeClr val="tx1"/>
                </a:solidFill>
                <a:latin typeface="Arial" charset="0"/>
                <a:ea typeface="돋움" pitchFamily="50" charset="-127"/>
              </a:defRPr>
            </a:lvl4pPr>
            <a:lvl5pPr marL="2057400" indent="-228600" eaLnBrk="0" hangingPunct="0">
              <a:defRPr kumimoji="1" sz="1200" b="1">
                <a:solidFill>
                  <a:schemeClr val="tx1"/>
                </a:solidFill>
                <a:latin typeface="Arial" charset="0"/>
                <a:ea typeface="돋움" pitchFamily="50" charset="-127"/>
              </a:defRPr>
            </a:lvl5pPr>
            <a:lvl6pPr marL="25146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6pPr>
            <a:lvl7pPr marL="29718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7pPr>
            <a:lvl8pPr marL="34290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8pPr>
            <a:lvl9pPr marL="38862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9pPr>
          </a:lstStyle>
          <a:p>
            <a:pPr marL="0" marR="0" lvl="0" indent="0" algn="l" defTabSz="952799" rtl="0" eaLnBrk="0" fontAlgn="auto" latinLnBrk="1" hangingPunct="0">
              <a:lnSpc>
                <a:spcPct val="100000"/>
              </a:lnSpc>
              <a:spcBef>
                <a:spcPts val="0"/>
              </a:spcBef>
              <a:spcAft>
                <a:spcPts val="0"/>
              </a:spcAft>
              <a:buClrTx/>
              <a:buSzTx/>
              <a:buFontTx/>
              <a:buNone/>
              <a:tabLst/>
              <a:defRPr/>
            </a:pPr>
            <a:r>
              <a:rPr kumimoji="1" lang="en-US" sz="2000" b="1" i="0" u="none" strike="noStrike" kern="1200" cap="none" spc="0" normalizeH="0" baseline="0" noProof="0" dirty="0">
                <a:ln>
                  <a:noFill/>
                </a:ln>
                <a:solidFill>
                  <a:srgbClr val="000000"/>
                </a:solidFill>
                <a:effectLst/>
                <a:uLnTx/>
                <a:uFillTx/>
                <a:latin typeface="Arial Narrow" panose="020B0606020202030204" pitchFamily="34" charset="0"/>
                <a:ea typeface="돋움" pitchFamily="50" charset="-127"/>
                <a:cs typeface="+mn-cs"/>
              </a:rPr>
              <a:t>Project Target</a:t>
            </a:r>
          </a:p>
        </p:txBody>
      </p:sp>
      <p:sp>
        <p:nvSpPr>
          <p:cNvPr id="77" name="Text Box 15">
            <a:extLst>
              <a:ext uri="{FF2B5EF4-FFF2-40B4-BE49-F238E27FC236}">
                <a16:creationId xmlns:a16="http://schemas.microsoft.com/office/drawing/2014/main" id="{0E96B9EA-7114-8B73-57AF-A95FA87C67BD}"/>
              </a:ext>
            </a:extLst>
          </p:cNvPr>
          <p:cNvSpPr txBox="1">
            <a:spLocks noChangeArrowheads="1"/>
          </p:cNvSpPr>
          <p:nvPr/>
        </p:nvSpPr>
        <p:spPr bwMode="auto">
          <a:xfrm>
            <a:off x="523176" y="1730251"/>
            <a:ext cx="1651093" cy="184666"/>
          </a:xfrm>
          <a:prstGeom prst="rect">
            <a:avLst/>
          </a:prstGeom>
          <a:noFill/>
          <a:ln w="6350" algn="ctr">
            <a:noFill/>
            <a:miter lim="800000"/>
            <a:headEnd/>
            <a:tailEnd/>
          </a:ln>
          <a:effectLst/>
        </p:spPr>
        <p:txBody>
          <a:bodyPr wrap="none" lIns="0" tIns="0" rIns="0" bIns="0">
            <a:spAutoFit/>
          </a:bodyPr>
          <a:lstStyle/>
          <a:p>
            <a:pPr marL="0" marR="0" lvl="0" indent="0" algn="ctr" defTabSz="952799" rtl="0" eaLnBrk="1" fontAlgn="auto" latinLnBrk="1" hangingPunct="1">
              <a:lnSpc>
                <a:spcPct val="100000"/>
              </a:lnSpc>
              <a:spcBef>
                <a:spcPct val="50000"/>
              </a:spcBef>
              <a:spcAft>
                <a:spcPts val="0"/>
              </a:spcAft>
              <a:buClrTx/>
              <a:buSzTx/>
              <a:buFontTx/>
              <a:buNone/>
              <a:tabLst/>
              <a:defRPr/>
            </a:pPr>
            <a:r>
              <a:rPr kumimoji="0" lang="en-US" sz="1200" b="1" i="0" u="sng"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Key Implementation Details</a:t>
            </a:r>
            <a:endParaRPr kumimoji="0" lang="en-US" sz="1200" b="1" i="0" u="sng"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78" name="Rectangle 573">
            <a:extLst>
              <a:ext uri="{FF2B5EF4-FFF2-40B4-BE49-F238E27FC236}">
                <a16:creationId xmlns:a16="http://schemas.microsoft.com/office/drawing/2014/main" id="{1D7D2B5B-B0B2-2B3E-C8E5-A66F1A0161A1}"/>
              </a:ext>
            </a:extLst>
          </p:cNvPr>
          <p:cNvSpPr>
            <a:spLocks noChangeArrowheads="1"/>
          </p:cNvSpPr>
          <p:nvPr/>
        </p:nvSpPr>
        <p:spPr bwMode="auto">
          <a:xfrm>
            <a:off x="551012" y="2317542"/>
            <a:ext cx="3618286" cy="463903"/>
          </a:xfrm>
          <a:prstGeom prst="rect">
            <a:avLst/>
          </a:prstGeom>
          <a:solidFill>
            <a:schemeClr val="bg1"/>
          </a:solidFill>
          <a:ln w="9525" algn="ctr">
            <a:noFill/>
            <a:prstDash val="dash"/>
            <a:miter lim="800000"/>
            <a:headEnd/>
            <a:tailEnd/>
          </a:ln>
          <a:effectLst/>
        </p:spPr>
        <p:txBody>
          <a:bodyPr wrap="square" lIns="84385" tIns="42193" rIns="84385" bIns="42193">
            <a:spAutoFit/>
          </a:bodyPr>
          <a:lstStyle/>
          <a:p>
            <a:pPr marL="0" marR="0" lvl="0" indent="0" algn="l" defTabSz="914400" rtl="0" eaLnBrk="0" fontAlgn="base" latinLnBrk="0" hangingPunct="0">
              <a:lnSpc>
                <a:spcPct val="130000"/>
              </a:lnSpc>
              <a:spcBef>
                <a:spcPct val="0"/>
              </a:spcBef>
              <a:spcAft>
                <a:spcPct val="0"/>
              </a:spcAft>
              <a:buClrTx/>
              <a:buSzTx/>
              <a:buFontTx/>
              <a:buChar char="•"/>
              <a:tabLst/>
              <a:defRPr/>
            </a:pP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a:cs typeface="+mn-cs"/>
              </a:rPr>
              <a:t> Establish Azure SQL as the central database for 7 years of work‑order data and configure Azure OpenAI, Azure AI Search, and Copilot Studio.</a:t>
            </a:r>
            <a:endPar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endParaRPr>
          </a:p>
        </p:txBody>
      </p:sp>
      <p:sp>
        <p:nvSpPr>
          <p:cNvPr id="79" name="Rectangle 6">
            <a:extLst>
              <a:ext uri="{FF2B5EF4-FFF2-40B4-BE49-F238E27FC236}">
                <a16:creationId xmlns:a16="http://schemas.microsoft.com/office/drawing/2014/main" id="{AAD876DD-A485-FD58-901E-085525520DCC}"/>
              </a:ext>
            </a:extLst>
          </p:cNvPr>
          <p:cNvSpPr>
            <a:spLocks noChangeArrowheads="1"/>
          </p:cNvSpPr>
          <p:nvPr>
            <p:custDataLst>
              <p:tags r:id="rId1"/>
            </p:custDataLst>
          </p:nvPr>
        </p:nvSpPr>
        <p:spPr bwMode="auto">
          <a:xfrm>
            <a:off x="492980" y="2058523"/>
            <a:ext cx="3748618" cy="294543"/>
          </a:xfrm>
          <a:prstGeom prst="rect">
            <a:avLst/>
          </a:prstGeom>
          <a:solidFill>
            <a:schemeClr val="bg1">
              <a:lumMod val="95000"/>
            </a:schemeClr>
          </a:solidFill>
          <a:ln w="9525" algn="ctr">
            <a:noFill/>
            <a:miter lim="800000"/>
            <a:headEnd/>
            <a:tailEnd/>
          </a:ln>
        </p:spPr>
        <p:txBody>
          <a:bodyPr wrap="none" lIns="84385" tIns="42193" rIns="84385" bIns="42193" anchor="ctr"/>
          <a:lstStyle/>
          <a:p>
            <a:pPr marL="86440" marR="0" lvl="0" indent="-86440" algn="l" defTabSz="952799" rtl="0" eaLnBrk="1" fontAlgn="auto" latinLnBrk="1" hangingPunct="1">
              <a:lnSpc>
                <a:spcPct val="100000"/>
              </a:lnSpc>
              <a:spcBef>
                <a:spcPts val="0"/>
              </a:spcBef>
              <a:spcAft>
                <a:spcPts val="0"/>
              </a:spcAft>
              <a:buClrTx/>
              <a:buSzPct val="120000"/>
              <a:buFontTx/>
              <a:buNone/>
              <a:tabLst/>
              <a:defRPr/>
            </a:pP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Arial" pitchFamily="34" charset="0"/>
              </a:rPr>
              <a:t>■ </a:t>
            </a: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Data &amp; Infrastructure Setup</a:t>
            </a:r>
            <a:endPar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Arial" pitchFamily="34" charset="0"/>
            </a:endParaRPr>
          </a:p>
        </p:txBody>
      </p:sp>
      <p:sp>
        <p:nvSpPr>
          <p:cNvPr id="102" name="Rectangle 573">
            <a:extLst>
              <a:ext uri="{FF2B5EF4-FFF2-40B4-BE49-F238E27FC236}">
                <a16:creationId xmlns:a16="http://schemas.microsoft.com/office/drawing/2014/main" id="{6B50984E-61AD-FC4D-F86C-2DB5DE6ED225}"/>
              </a:ext>
            </a:extLst>
          </p:cNvPr>
          <p:cNvSpPr>
            <a:spLocks noChangeArrowheads="1"/>
          </p:cNvSpPr>
          <p:nvPr/>
        </p:nvSpPr>
        <p:spPr bwMode="auto">
          <a:xfrm>
            <a:off x="551662" y="3556232"/>
            <a:ext cx="3615892" cy="664536"/>
          </a:xfrm>
          <a:prstGeom prst="rect">
            <a:avLst/>
          </a:prstGeom>
          <a:solidFill>
            <a:schemeClr val="bg1"/>
          </a:solidFill>
          <a:ln w="9525" algn="ctr">
            <a:noFill/>
            <a:prstDash val="dash"/>
            <a:miter lim="800000"/>
            <a:headEnd/>
            <a:tailEnd/>
          </a:ln>
          <a:effectLst/>
        </p:spPr>
        <p:txBody>
          <a:bodyPr wrap="square" lIns="84385" tIns="42193" rIns="84385" bIns="42193">
            <a:spAutoFit/>
          </a:bodyPr>
          <a:lstStyle/>
          <a:p>
            <a:pPr marL="0" marR="0" lvl="0" indent="0" algn="l" defTabSz="914400" rtl="0" eaLnBrk="0" fontAlgn="base" latinLnBrk="0" hangingPunct="0">
              <a:lnSpc>
                <a:spcPct val="130000"/>
              </a:lnSpc>
              <a:spcBef>
                <a:spcPct val="0"/>
              </a:spcBef>
              <a:spcAft>
                <a:spcPct val="0"/>
              </a:spcAft>
              <a:buClrTx/>
              <a:buSzTx/>
              <a:buFontTx/>
              <a:buChar char="•"/>
              <a:tabLst/>
              <a:defRPr/>
            </a:pPr>
            <a:r>
              <a:rPr kumimoji="0" lang="en-US" sz="1000" b="0" i="0" u="none" strike="noStrike" kern="1200" cap="none" spc="0" normalizeH="0" baseline="0" noProof="0" dirty="0">
                <a:ln>
                  <a:noFill/>
                </a:ln>
                <a:solidFill>
                  <a:srgbClr val="000000"/>
                </a:solidFill>
                <a:effectLst/>
                <a:uLnTx/>
                <a:uFillTx/>
                <a:latin typeface="Arial Narrow"/>
                <a:ea typeface="LG Smart_H2.0 R"/>
                <a:cs typeface="+mn-cs"/>
              </a:rPr>
              <a:t> Use Azure AI Search to locate the correct work orders—even when technicians write inconsistently—and Azure OpenAI to analyze and summarize answers.</a:t>
            </a:r>
            <a:endPar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endParaRPr>
          </a:p>
        </p:txBody>
      </p:sp>
      <p:sp>
        <p:nvSpPr>
          <p:cNvPr id="103" name="Rectangle 573">
            <a:extLst>
              <a:ext uri="{FF2B5EF4-FFF2-40B4-BE49-F238E27FC236}">
                <a16:creationId xmlns:a16="http://schemas.microsoft.com/office/drawing/2014/main" id="{06082D0A-F36D-E398-3AD2-CE6E7DDDC24C}"/>
              </a:ext>
            </a:extLst>
          </p:cNvPr>
          <p:cNvSpPr>
            <a:spLocks noChangeArrowheads="1"/>
          </p:cNvSpPr>
          <p:nvPr/>
        </p:nvSpPr>
        <p:spPr bwMode="auto">
          <a:xfrm>
            <a:off x="5442204" y="2357523"/>
            <a:ext cx="3611137" cy="546875"/>
          </a:xfrm>
          <a:prstGeom prst="rect">
            <a:avLst/>
          </a:prstGeom>
          <a:solidFill>
            <a:schemeClr val="bg1"/>
          </a:solidFill>
          <a:ln w="9525" algn="ctr">
            <a:noFill/>
            <a:prstDash val="dash"/>
            <a:miter lim="800000"/>
            <a:headEnd/>
            <a:tailEnd/>
          </a:ln>
          <a:effectLst/>
        </p:spPr>
        <p:txBody>
          <a:bodyPr wrap="square" lIns="84385" tIns="42193" rIns="84385" bIns="42193">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a:cs typeface="+mn-cs"/>
              </a:rPr>
              <a:t> Provide insights to support preventive and predictive maintenance, reduce manual searching, and improve visibility of recurring failure patterns.</a:t>
            </a:r>
          </a:p>
        </p:txBody>
      </p:sp>
      <p:sp>
        <p:nvSpPr>
          <p:cNvPr id="104" name="Rectangle 6">
            <a:extLst>
              <a:ext uri="{FF2B5EF4-FFF2-40B4-BE49-F238E27FC236}">
                <a16:creationId xmlns:a16="http://schemas.microsoft.com/office/drawing/2014/main" id="{2AF94EEC-F738-1CE6-0486-B7A8ECCEC854}"/>
              </a:ext>
            </a:extLst>
          </p:cNvPr>
          <p:cNvSpPr>
            <a:spLocks noChangeArrowheads="1"/>
          </p:cNvSpPr>
          <p:nvPr>
            <p:custDataLst>
              <p:tags r:id="rId2"/>
            </p:custDataLst>
          </p:nvPr>
        </p:nvSpPr>
        <p:spPr bwMode="auto">
          <a:xfrm>
            <a:off x="491236" y="3284984"/>
            <a:ext cx="3748618" cy="294542"/>
          </a:xfrm>
          <a:prstGeom prst="rect">
            <a:avLst/>
          </a:prstGeom>
          <a:solidFill>
            <a:schemeClr val="bg1">
              <a:lumMod val="95000"/>
            </a:schemeClr>
          </a:solidFill>
          <a:ln w="9525" algn="ctr">
            <a:noFill/>
            <a:miter lim="800000"/>
            <a:headEnd/>
            <a:tailEnd/>
          </a:ln>
        </p:spPr>
        <p:txBody>
          <a:bodyPr wrap="none" lIns="84385" tIns="42193" rIns="84385" bIns="42193" anchor="ctr"/>
          <a:lstStyle/>
          <a:p>
            <a:pPr marL="86440" marR="0" lvl="0" indent="-86440" algn="l" defTabSz="952799" rtl="0" eaLnBrk="1" fontAlgn="auto" latinLnBrk="1" hangingPunct="1">
              <a:lnSpc>
                <a:spcPct val="100000"/>
              </a:lnSpc>
              <a:spcBef>
                <a:spcPts val="0"/>
              </a:spcBef>
              <a:spcAft>
                <a:spcPts val="0"/>
              </a:spcAft>
              <a:buClrTx/>
              <a:buSzPct val="120000"/>
              <a:buFontTx/>
              <a:buNone/>
              <a:tabLst/>
              <a:defRPr/>
            </a:pP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Arial" pitchFamily="34" charset="0"/>
              </a:rPr>
              <a:t>■ </a:t>
            </a: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AI Retrieval &amp; Reasoning Integration</a:t>
            </a:r>
          </a:p>
        </p:txBody>
      </p:sp>
      <p:sp>
        <p:nvSpPr>
          <p:cNvPr id="105" name="Rectangle 6">
            <a:extLst>
              <a:ext uri="{FF2B5EF4-FFF2-40B4-BE49-F238E27FC236}">
                <a16:creationId xmlns:a16="http://schemas.microsoft.com/office/drawing/2014/main" id="{9E6DAE46-8ABA-35D8-42FD-6A83A087F193}"/>
              </a:ext>
            </a:extLst>
          </p:cNvPr>
          <p:cNvSpPr>
            <a:spLocks noChangeArrowheads="1"/>
          </p:cNvSpPr>
          <p:nvPr>
            <p:custDataLst>
              <p:tags r:id="rId3"/>
            </p:custDataLst>
          </p:nvPr>
        </p:nvSpPr>
        <p:spPr bwMode="auto">
          <a:xfrm>
            <a:off x="5377023" y="2058523"/>
            <a:ext cx="3748618" cy="294542"/>
          </a:xfrm>
          <a:prstGeom prst="rect">
            <a:avLst/>
          </a:prstGeom>
          <a:solidFill>
            <a:schemeClr val="bg1">
              <a:lumMod val="95000"/>
            </a:schemeClr>
          </a:solidFill>
          <a:ln w="9525" algn="ctr">
            <a:noFill/>
            <a:miter lim="800000"/>
            <a:headEnd/>
            <a:tailEnd/>
          </a:ln>
        </p:spPr>
        <p:txBody>
          <a:bodyPr wrap="none" lIns="84385" tIns="42193" rIns="84385" bIns="42193" anchor="ctr"/>
          <a:lstStyle/>
          <a:p>
            <a:pPr marL="86440" marR="0" lvl="0" indent="-86440" algn="l" defTabSz="952799" rtl="0" eaLnBrk="1" fontAlgn="auto" latinLnBrk="1" hangingPunct="1">
              <a:lnSpc>
                <a:spcPct val="100000"/>
              </a:lnSpc>
              <a:spcBef>
                <a:spcPts val="0"/>
              </a:spcBef>
              <a:spcAft>
                <a:spcPts val="0"/>
              </a:spcAft>
              <a:buClrTx/>
              <a:buSzPct val="120000"/>
              <a:buFontTx/>
              <a:buNone/>
              <a:tabLst/>
              <a:defRPr/>
            </a:pP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Arial" pitchFamily="34" charset="0"/>
              </a:rPr>
              <a:t>■ </a:t>
            </a: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Maintenance Decision Enhancement</a:t>
            </a:r>
          </a:p>
        </p:txBody>
      </p:sp>
      <p:sp>
        <p:nvSpPr>
          <p:cNvPr id="2" name="Rectangle 573">
            <a:extLst>
              <a:ext uri="{FF2B5EF4-FFF2-40B4-BE49-F238E27FC236}">
                <a16:creationId xmlns:a16="http://schemas.microsoft.com/office/drawing/2014/main" id="{92619FB9-0725-F247-1563-E2FB90B345A6}"/>
              </a:ext>
            </a:extLst>
          </p:cNvPr>
          <p:cNvSpPr>
            <a:spLocks noChangeArrowheads="1"/>
          </p:cNvSpPr>
          <p:nvPr/>
        </p:nvSpPr>
        <p:spPr bwMode="auto">
          <a:xfrm>
            <a:off x="5445764" y="3655992"/>
            <a:ext cx="3611137" cy="464481"/>
          </a:xfrm>
          <a:prstGeom prst="rect">
            <a:avLst/>
          </a:prstGeom>
          <a:solidFill>
            <a:schemeClr val="bg1"/>
          </a:solidFill>
          <a:ln w="9525" algn="ctr">
            <a:noFill/>
            <a:prstDash val="dash"/>
            <a:miter lim="800000"/>
            <a:headEnd/>
            <a:tailEnd/>
          </a:ln>
          <a:effectLst/>
        </p:spPr>
        <p:txBody>
          <a:bodyPr wrap="square" lIns="84385" tIns="42193" rIns="84385" bIns="42193">
            <a:spAutoFit/>
          </a:bodyPr>
          <a:lstStyle/>
          <a:p>
            <a:pPr marL="0" marR="0" lvl="0" indent="0" algn="l" defTabSz="914400" rtl="0" eaLnBrk="0" fontAlgn="base" latinLnBrk="0" hangingPunct="0">
              <a:lnSpc>
                <a:spcPct val="130000"/>
              </a:lnSpc>
              <a:spcBef>
                <a:spcPct val="0"/>
              </a:spcBef>
              <a:spcAft>
                <a:spcPct val="0"/>
              </a:spcAft>
              <a:buClrTx/>
              <a:buSzTx/>
              <a:buFontTx/>
              <a:buChar char="•"/>
              <a:tabLst/>
              <a:defRPr/>
            </a:pP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 Deploy the assistant, train users, collect feedback, and continuously improve accuracy and usability.</a:t>
            </a:r>
          </a:p>
        </p:txBody>
      </p:sp>
      <p:sp>
        <p:nvSpPr>
          <p:cNvPr id="5" name="Rectangle 6">
            <a:extLst>
              <a:ext uri="{FF2B5EF4-FFF2-40B4-BE49-F238E27FC236}">
                <a16:creationId xmlns:a16="http://schemas.microsoft.com/office/drawing/2014/main" id="{B8371BB5-F368-F381-FEF7-75515C7C228D}"/>
              </a:ext>
            </a:extLst>
          </p:cNvPr>
          <p:cNvSpPr>
            <a:spLocks noChangeArrowheads="1"/>
          </p:cNvSpPr>
          <p:nvPr>
            <p:custDataLst>
              <p:tags r:id="rId4"/>
            </p:custDataLst>
          </p:nvPr>
        </p:nvSpPr>
        <p:spPr bwMode="auto">
          <a:xfrm>
            <a:off x="5377023" y="3356992"/>
            <a:ext cx="3748617" cy="294542"/>
          </a:xfrm>
          <a:prstGeom prst="rect">
            <a:avLst/>
          </a:prstGeom>
          <a:solidFill>
            <a:schemeClr val="bg1">
              <a:lumMod val="95000"/>
            </a:schemeClr>
          </a:solidFill>
          <a:ln w="9525" algn="ctr">
            <a:noFill/>
            <a:miter lim="800000"/>
            <a:headEnd/>
            <a:tailEnd/>
          </a:ln>
        </p:spPr>
        <p:txBody>
          <a:bodyPr wrap="none" lIns="84385" tIns="42193" rIns="84385" bIns="42193" anchor="ctr"/>
          <a:lstStyle/>
          <a:p>
            <a:pPr marL="86440" marR="0" lvl="0" indent="-86440" algn="l" defTabSz="952799" rtl="0" eaLnBrk="1" fontAlgn="auto" latinLnBrk="1" hangingPunct="1">
              <a:lnSpc>
                <a:spcPct val="100000"/>
              </a:lnSpc>
              <a:spcBef>
                <a:spcPts val="0"/>
              </a:spcBef>
              <a:spcAft>
                <a:spcPts val="0"/>
              </a:spcAft>
              <a:buClrTx/>
              <a:buSzPct val="120000"/>
              <a:buFontTx/>
              <a:buNone/>
              <a:tabLst/>
              <a:defRPr/>
            </a:pP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Arial" pitchFamily="34" charset="0"/>
              </a:rPr>
              <a:t>■ </a:t>
            </a: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Operational Deployment &amp; Continuous Improvement</a:t>
            </a:r>
          </a:p>
        </p:txBody>
      </p:sp>
      <p:sp>
        <p:nvSpPr>
          <p:cNvPr id="8" name="Rectangle 573">
            <a:extLst>
              <a:ext uri="{FF2B5EF4-FFF2-40B4-BE49-F238E27FC236}">
                <a16:creationId xmlns:a16="http://schemas.microsoft.com/office/drawing/2014/main" id="{5CB97ED3-C1E0-08B1-6CF5-D74E65C66BA6}"/>
              </a:ext>
            </a:extLst>
          </p:cNvPr>
          <p:cNvSpPr>
            <a:spLocks noChangeArrowheads="1"/>
          </p:cNvSpPr>
          <p:nvPr/>
        </p:nvSpPr>
        <p:spPr bwMode="auto">
          <a:xfrm>
            <a:off x="556417" y="4994126"/>
            <a:ext cx="3611137" cy="464481"/>
          </a:xfrm>
          <a:prstGeom prst="rect">
            <a:avLst/>
          </a:prstGeom>
          <a:solidFill>
            <a:schemeClr val="bg1"/>
          </a:solidFill>
          <a:ln w="9525" algn="ctr">
            <a:noFill/>
            <a:prstDash val="dash"/>
            <a:miter lim="800000"/>
            <a:headEnd/>
            <a:tailEnd/>
          </a:ln>
          <a:effectLst/>
        </p:spPr>
        <p:txBody>
          <a:bodyPr wrap="square" lIns="84385" tIns="42193" rIns="84385" bIns="42193">
            <a:spAutoFit/>
          </a:bodyPr>
          <a:lstStyle/>
          <a:p>
            <a:pPr marL="0" marR="0" lvl="0" indent="0" algn="l" defTabSz="952799" rtl="0" eaLnBrk="1" fontAlgn="auto" latinLnBrk="1" hangingPunct="1">
              <a:lnSpc>
                <a:spcPct val="13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 Allow users to ask questions about failures, downtime, PM records, corrective actions, and trends directly in Teams.</a:t>
            </a:r>
          </a:p>
        </p:txBody>
      </p:sp>
      <p:sp>
        <p:nvSpPr>
          <p:cNvPr id="9" name="Rectangle 6">
            <a:extLst>
              <a:ext uri="{FF2B5EF4-FFF2-40B4-BE49-F238E27FC236}">
                <a16:creationId xmlns:a16="http://schemas.microsoft.com/office/drawing/2014/main" id="{0BE99BFD-D3D9-79D5-DD2C-B87AA23BBB75}"/>
              </a:ext>
            </a:extLst>
          </p:cNvPr>
          <p:cNvSpPr>
            <a:spLocks noChangeArrowheads="1"/>
          </p:cNvSpPr>
          <p:nvPr>
            <p:custDataLst>
              <p:tags r:id="rId5"/>
            </p:custDataLst>
          </p:nvPr>
        </p:nvSpPr>
        <p:spPr bwMode="auto">
          <a:xfrm>
            <a:off x="491236" y="4695126"/>
            <a:ext cx="3748618" cy="294542"/>
          </a:xfrm>
          <a:prstGeom prst="rect">
            <a:avLst/>
          </a:prstGeom>
          <a:solidFill>
            <a:schemeClr val="bg1">
              <a:lumMod val="95000"/>
            </a:schemeClr>
          </a:solidFill>
          <a:ln w="9525" algn="ctr">
            <a:noFill/>
            <a:miter lim="800000"/>
            <a:headEnd/>
            <a:tailEnd/>
          </a:ln>
        </p:spPr>
        <p:txBody>
          <a:bodyPr wrap="none" lIns="84385" tIns="42193" rIns="84385" bIns="42193" anchor="ctr"/>
          <a:lstStyle/>
          <a:p>
            <a:pPr marL="86440" marR="0" lvl="0" indent="-86440" algn="l" defTabSz="952799" rtl="0" eaLnBrk="1" fontAlgn="auto" latinLnBrk="1" hangingPunct="1">
              <a:lnSpc>
                <a:spcPct val="100000"/>
              </a:lnSpc>
              <a:spcBef>
                <a:spcPts val="0"/>
              </a:spcBef>
              <a:spcAft>
                <a:spcPts val="0"/>
              </a:spcAft>
              <a:buClrTx/>
              <a:buSzPct val="120000"/>
              <a:buFontTx/>
              <a:buNone/>
              <a:tabLst/>
              <a:defRPr/>
            </a:pP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Arial" pitchFamily="34" charset="0"/>
              </a:rPr>
              <a:t>■ Natural‑Language Inquiry Capability</a:t>
            </a:r>
            <a:endPar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endParaRPr>
          </a:p>
        </p:txBody>
      </p:sp>
      <p:sp>
        <p:nvSpPr>
          <p:cNvPr id="4" name="TextBox 3">
            <a:extLst>
              <a:ext uri="{FF2B5EF4-FFF2-40B4-BE49-F238E27FC236}">
                <a16:creationId xmlns:a16="http://schemas.microsoft.com/office/drawing/2014/main" id="{1E8B45C2-81B8-0273-5E4A-D82281670990}"/>
              </a:ext>
            </a:extLst>
          </p:cNvPr>
          <p:cNvSpPr txBox="1"/>
          <p:nvPr/>
        </p:nvSpPr>
        <p:spPr>
          <a:xfrm>
            <a:off x="448885" y="644824"/>
            <a:ext cx="8634404" cy="692497"/>
          </a:xfrm>
          <a:prstGeom prst="rect">
            <a:avLst/>
          </a:prstGeom>
          <a:noFill/>
        </p:spPr>
        <p:txBody>
          <a:bodyPr wrap="square" rtlCol="0">
            <a:spAutoFit/>
          </a:bodyPr>
          <a:lstStyle/>
          <a:p>
            <a:pPr lvl="0" defTabSz="952799" latinLnBrk="0"/>
            <a:r>
              <a:rPr kumimoji="0" lang="en-US" sz="1300" b="0" i="0" u="none" strike="noStrike" kern="1200" cap="none" spc="0" normalizeH="0" baseline="0" noProof="0" dirty="0">
                <a:ln>
                  <a:noFill/>
                </a:ln>
                <a:solidFill>
                  <a:srgbClr val="000000"/>
                </a:solidFill>
                <a:effectLst/>
                <a:uLnTx/>
                <a:uFillTx/>
                <a:latin typeface="Arial Narrow" panose="020B0606020202030204" pitchFamily="34" charset="0"/>
                <a:ea typeface="LG Smart_H2.0 R"/>
                <a:cs typeface="+mn-cs"/>
              </a:rPr>
              <a:t>Build an AI‑based Work‑Order Management and Analytics System that enables technicians and PE engineers to search, understand, and analyze maintenance history using natural language, improving troubleshooting speed, preventive maintenance compliance, and data‑driven decision‑making.</a:t>
            </a:r>
            <a:endParaRPr kumimoji="0" lang="en-US" sz="13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Arial" pitchFamily="34" charset="0"/>
            </a:endParaRPr>
          </a:p>
        </p:txBody>
      </p:sp>
      <p:sp>
        <p:nvSpPr>
          <p:cNvPr id="12" name="TextBox 11">
            <a:extLst>
              <a:ext uri="{FF2B5EF4-FFF2-40B4-BE49-F238E27FC236}">
                <a16:creationId xmlns:a16="http://schemas.microsoft.com/office/drawing/2014/main" id="{5FE50084-F7D8-E062-37E0-A0FDA165FFE5}"/>
              </a:ext>
            </a:extLst>
          </p:cNvPr>
          <p:cNvSpPr txBox="1"/>
          <p:nvPr/>
        </p:nvSpPr>
        <p:spPr>
          <a:xfrm>
            <a:off x="551012" y="2805244"/>
            <a:ext cx="3927348" cy="338554"/>
          </a:xfrm>
          <a:prstGeom prst="rect">
            <a:avLst/>
          </a:prstGeom>
          <a:noFill/>
        </p:spPr>
        <p:txBody>
          <a:bodyPr wrap="square">
            <a:spAutoFit/>
          </a:bodyPr>
          <a:lstStyle/>
          <a:p>
            <a:pPr>
              <a:buFont typeface="Arial" panose="020B0604020202020204" pitchFamily="34" charset="0"/>
              <a:buChar char="•"/>
            </a:pPr>
            <a:r>
              <a:rPr lang="en-US" sz="800" noProof="0" dirty="0">
                <a:solidFill>
                  <a:srgbClr val="008000"/>
                </a:solidFill>
                <a:latin typeface="LG Smart_H Regular" panose="020B0600000101010101" pitchFamily="34" charset="-127"/>
                <a:ea typeface="LG Smart_H Regular" panose="020B0600000101010101" pitchFamily="34" charset="-127"/>
              </a:rPr>
              <a:t>7년간의 작업지시 데이터를 Azure SQL에 통합 저장하고 Azure OpenAI·Azure AI Search·Copilot Studio 환경을 구성함.</a:t>
            </a:r>
          </a:p>
        </p:txBody>
      </p:sp>
      <p:sp>
        <p:nvSpPr>
          <p:cNvPr id="13" name="TextBox 12">
            <a:extLst>
              <a:ext uri="{FF2B5EF4-FFF2-40B4-BE49-F238E27FC236}">
                <a16:creationId xmlns:a16="http://schemas.microsoft.com/office/drawing/2014/main" id="{A830B72A-52A6-F93D-DE97-BAF73517E6B9}"/>
              </a:ext>
            </a:extLst>
          </p:cNvPr>
          <p:cNvSpPr txBox="1"/>
          <p:nvPr/>
        </p:nvSpPr>
        <p:spPr>
          <a:xfrm>
            <a:off x="551012" y="4250691"/>
            <a:ext cx="3927348" cy="338554"/>
          </a:xfrm>
          <a:prstGeom prst="rect">
            <a:avLst/>
          </a:prstGeom>
          <a:noFill/>
        </p:spPr>
        <p:txBody>
          <a:bodyPr wrap="square">
            <a:spAutoFit/>
          </a:bodyPr>
          <a:lstStyle/>
          <a:p>
            <a:pPr>
              <a:buFont typeface="Arial" panose="020B0604020202020204" pitchFamily="34" charset="0"/>
              <a:buChar char="•"/>
            </a:pPr>
            <a:r>
              <a:rPr lang="en-US" sz="800" noProof="0" dirty="0">
                <a:solidFill>
                  <a:srgbClr val="008000"/>
                </a:solidFill>
                <a:latin typeface="LG Smart_H Regular" panose="020B0600000101010101" pitchFamily="34" charset="-127"/>
                <a:ea typeface="LG Smart_H Regular" panose="020B0600000101010101" pitchFamily="34" charset="-127"/>
              </a:rPr>
              <a:t>표현이 제각각인 작업지시에서도 정확한 기록을 찾기 위해 Azure AI Search를 사용하고, Azure OpenAI로 의미 분석 및 자연어 응답을 생성함.</a:t>
            </a:r>
          </a:p>
        </p:txBody>
      </p:sp>
      <p:sp>
        <p:nvSpPr>
          <p:cNvPr id="14" name="TextBox 13">
            <a:extLst>
              <a:ext uri="{FF2B5EF4-FFF2-40B4-BE49-F238E27FC236}">
                <a16:creationId xmlns:a16="http://schemas.microsoft.com/office/drawing/2014/main" id="{E279D8DB-1A7B-414B-5B84-D39A91A13361}"/>
              </a:ext>
            </a:extLst>
          </p:cNvPr>
          <p:cNvSpPr txBox="1"/>
          <p:nvPr/>
        </p:nvSpPr>
        <p:spPr>
          <a:xfrm>
            <a:off x="551012" y="5544709"/>
            <a:ext cx="3927348" cy="338554"/>
          </a:xfrm>
          <a:prstGeom prst="rect">
            <a:avLst/>
          </a:prstGeom>
          <a:noFill/>
        </p:spPr>
        <p:txBody>
          <a:bodyPr wrap="square">
            <a:spAutoFit/>
          </a:bodyPr>
          <a:lstStyle/>
          <a:p>
            <a:pPr>
              <a:buFont typeface="Arial" panose="020B0604020202020204" pitchFamily="34" charset="0"/>
              <a:buChar char="•"/>
            </a:pPr>
            <a:r>
              <a:rPr lang="en-US" sz="800" noProof="0" dirty="0">
                <a:solidFill>
                  <a:srgbClr val="008000"/>
                </a:solidFill>
                <a:latin typeface="LG Smart_H Regular" panose="020B0600000101010101" pitchFamily="34" charset="-127"/>
                <a:ea typeface="LG Smart_H Regular" panose="020B0600000101010101" pitchFamily="34" charset="-127"/>
              </a:rPr>
              <a:t>고장 이력, 다운타임, 예방정비 기록, 조치 이력, 패턴 확인 등을 Teams에서 자연어로 질의할 수 있도록 기능 제공.</a:t>
            </a:r>
          </a:p>
        </p:txBody>
      </p:sp>
      <p:sp>
        <p:nvSpPr>
          <p:cNvPr id="15" name="TextBox 14">
            <a:extLst>
              <a:ext uri="{FF2B5EF4-FFF2-40B4-BE49-F238E27FC236}">
                <a16:creationId xmlns:a16="http://schemas.microsoft.com/office/drawing/2014/main" id="{77C3376B-CFA9-19DF-B602-AFF168142177}"/>
              </a:ext>
            </a:extLst>
          </p:cNvPr>
          <p:cNvSpPr txBox="1"/>
          <p:nvPr/>
        </p:nvSpPr>
        <p:spPr>
          <a:xfrm>
            <a:off x="5442204" y="2946430"/>
            <a:ext cx="3683436" cy="338554"/>
          </a:xfrm>
          <a:prstGeom prst="rect">
            <a:avLst/>
          </a:prstGeom>
          <a:noFill/>
        </p:spPr>
        <p:txBody>
          <a:bodyPr wrap="square">
            <a:spAutoFit/>
          </a:bodyPr>
          <a:lstStyle/>
          <a:p>
            <a:pPr>
              <a:buFont typeface="Arial" panose="020B0604020202020204" pitchFamily="34" charset="0"/>
              <a:buChar char="•"/>
            </a:pPr>
            <a:r>
              <a:rPr lang="en-US" sz="800" noProof="0" dirty="0">
                <a:solidFill>
                  <a:srgbClr val="008000"/>
                </a:solidFill>
                <a:latin typeface="LG Smart_H Regular" panose="020B0600000101010101" pitchFamily="34" charset="-127"/>
                <a:ea typeface="LG Smart_H Regular" panose="020B0600000101010101" pitchFamily="34" charset="-127"/>
              </a:rPr>
              <a:t>예방·예지 정비 의사결정을 지원하고 반복 고장 패턴 분석 및 수작업 검색 감소를 통해 운영 효율성을 향상함.</a:t>
            </a:r>
          </a:p>
        </p:txBody>
      </p:sp>
      <p:sp>
        <p:nvSpPr>
          <p:cNvPr id="16" name="TextBox 15">
            <a:extLst>
              <a:ext uri="{FF2B5EF4-FFF2-40B4-BE49-F238E27FC236}">
                <a16:creationId xmlns:a16="http://schemas.microsoft.com/office/drawing/2014/main" id="{7122A4B9-DC84-8E03-7AAE-86E7CFC7E850}"/>
              </a:ext>
            </a:extLst>
          </p:cNvPr>
          <p:cNvSpPr txBox="1"/>
          <p:nvPr/>
        </p:nvSpPr>
        <p:spPr>
          <a:xfrm>
            <a:off x="5442204" y="4178103"/>
            <a:ext cx="3927348" cy="338554"/>
          </a:xfrm>
          <a:prstGeom prst="rect">
            <a:avLst/>
          </a:prstGeom>
          <a:noFill/>
        </p:spPr>
        <p:txBody>
          <a:bodyPr wrap="square">
            <a:spAutoFit/>
          </a:bodyPr>
          <a:lstStyle/>
          <a:p>
            <a:pPr>
              <a:buFont typeface="Arial" panose="020B0604020202020204" pitchFamily="34" charset="0"/>
              <a:buChar char="•"/>
            </a:pPr>
            <a:r>
              <a:rPr lang="en-US" sz="800" noProof="0" dirty="0">
                <a:solidFill>
                  <a:srgbClr val="008000"/>
                </a:solidFill>
                <a:latin typeface="LG Smart_H Regular" panose="020B0600000101010101" pitchFamily="34" charset="-127"/>
                <a:ea typeface="LG Smart_H Regular" panose="020B0600000101010101" pitchFamily="34" charset="-127"/>
              </a:rPr>
              <a:t>어시스턴트를 배포하고 사용자 교육 및 피드백 수집을 통해 정확도·사용성을 지속적으로 개선함.</a:t>
            </a:r>
          </a:p>
        </p:txBody>
      </p:sp>
      <p:sp>
        <p:nvSpPr>
          <p:cNvPr id="17" name="TextBox 16">
            <a:extLst>
              <a:ext uri="{FF2B5EF4-FFF2-40B4-BE49-F238E27FC236}">
                <a16:creationId xmlns:a16="http://schemas.microsoft.com/office/drawing/2014/main" id="{A3F8D5C4-D088-3F56-E5B3-32D81FD22E0C}"/>
              </a:ext>
            </a:extLst>
          </p:cNvPr>
          <p:cNvSpPr txBox="1"/>
          <p:nvPr/>
        </p:nvSpPr>
        <p:spPr>
          <a:xfrm>
            <a:off x="448885" y="1340768"/>
            <a:ext cx="8634404" cy="338554"/>
          </a:xfrm>
          <a:prstGeom prst="rect">
            <a:avLst/>
          </a:prstGeom>
          <a:noFill/>
        </p:spPr>
        <p:txBody>
          <a:bodyPr wrap="square">
            <a:spAutoFit/>
          </a:bodyPr>
          <a:lstStyle/>
          <a:p>
            <a:pPr>
              <a:buFont typeface="Arial" panose="020B0604020202020204" pitchFamily="34" charset="0"/>
              <a:buChar char="•"/>
            </a:pPr>
            <a:r>
              <a:rPr lang="en-US" sz="800" noProof="0" dirty="0">
                <a:solidFill>
                  <a:srgbClr val="008000"/>
                </a:solidFill>
                <a:latin typeface="LG Smart_H Regular" panose="020B0600000101010101" pitchFamily="34" charset="-127"/>
                <a:ea typeface="LG Smart_H Regular" panose="020B0600000101010101" pitchFamily="34" charset="-127"/>
              </a:rPr>
              <a:t>기술자와 PE 엔지니어가 자연어로 정비 이력을 검색·이해·분석할 수 있는 AI 기반 작업지시 관리 및 분석 시스템을 구축하여, 문제 해결 속도 향상, 예방정비 준수율 개선, 데이터 기반 의사결정 체계를 강화하는 것을 목표로 함.</a:t>
            </a:r>
          </a:p>
        </p:txBody>
      </p:sp>
      <p:sp>
        <p:nvSpPr>
          <p:cNvPr id="21" name="Rectangle 573">
            <a:extLst>
              <a:ext uri="{FF2B5EF4-FFF2-40B4-BE49-F238E27FC236}">
                <a16:creationId xmlns:a16="http://schemas.microsoft.com/office/drawing/2014/main" id="{DA65C159-1F27-D111-252F-CF1AF0A704A6}"/>
              </a:ext>
            </a:extLst>
          </p:cNvPr>
          <p:cNvSpPr>
            <a:spLocks noChangeArrowheads="1"/>
          </p:cNvSpPr>
          <p:nvPr/>
        </p:nvSpPr>
        <p:spPr bwMode="auto">
          <a:xfrm>
            <a:off x="5431202" y="4736112"/>
            <a:ext cx="3611137" cy="1907632"/>
          </a:xfrm>
          <a:prstGeom prst="rect">
            <a:avLst/>
          </a:prstGeom>
          <a:solidFill>
            <a:schemeClr val="bg1"/>
          </a:solidFill>
          <a:ln w="9525" algn="ctr">
            <a:noFill/>
            <a:prstDash val="dash"/>
            <a:miter lim="800000"/>
            <a:headEnd/>
            <a:tailEnd/>
          </a:ln>
          <a:effectLst/>
        </p:spPr>
        <p:txBody>
          <a:bodyPr wrap="square" lIns="84385" tIns="42193" rIns="84385" bIns="42193">
            <a:spAutoFit/>
          </a:bodyPr>
          <a:lstStyle/>
          <a:p>
            <a:pPr marL="0" marR="0" lvl="0" indent="0" algn="l" defTabSz="914400" rtl="0" eaLnBrk="0" fontAlgn="base" latinLnBrk="0" hangingPunct="0">
              <a:lnSpc>
                <a:spcPct val="130000"/>
              </a:lnSpc>
              <a:spcBef>
                <a:spcPct val="0"/>
              </a:spcBef>
              <a:spcAft>
                <a:spcPct val="0"/>
              </a:spcAft>
              <a:buClrTx/>
              <a:buSzTx/>
              <a:buFontTx/>
              <a:buChar char="•"/>
              <a:tabLst/>
              <a:defRPr/>
            </a:pP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 Faster troubleshooting and root‑cause identification</a:t>
            </a:r>
          </a:p>
          <a:p>
            <a:pPr marL="0" marR="0" lvl="0" indent="0" algn="l" defTabSz="914400" rtl="0" eaLnBrk="0" fontAlgn="base" latinLnBrk="0" hangingPunct="0">
              <a:lnSpc>
                <a:spcPct val="130000"/>
              </a:lnSpc>
              <a:spcBef>
                <a:spcPct val="0"/>
              </a:spcBef>
              <a:spcAft>
                <a:spcPct val="0"/>
              </a:spcAft>
              <a:buClrTx/>
              <a:buSzTx/>
              <a:tabLst/>
              <a:defRPr/>
            </a:pPr>
            <a:r>
              <a:rPr kumimoji="0" lang="en-US" sz="800" b="0" i="0" u="none" strike="noStrike" kern="1200" cap="none" spc="0" normalizeH="0" baseline="0" noProof="0" dirty="0">
                <a:ln>
                  <a:noFill/>
                </a:ln>
                <a:solidFill>
                  <a:srgbClr val="008000"/>
                </a:solidFill>
                <a:effectLst/>
                <a:uLnTx/>
                <a:uFillTx/>
                <a:latin typeface="Arial Narrow" panose="020B0606020202030204" pitchFamily="34" charset="0"/>
                <a:ea typeface="LG Smart_H2.0 R" panose="020B0600000101010101" pitchFamily="34" charset="-127"/>
                <a:cs typeface="+mn-cs"/>
              </a:rPr>
              <a:t>문제 해결 및 근본 원인 파악 시간 단축</a:t>
            </a:r>
          </a:p>
          <a:p>
            <a:pPr marL="0" marR="0" lvl="0" indent="0" algn="l" defTabSz="914400" rtl="0" eaLnBrk="0" fontAlgn="base" latinLnBrk="0" hangingPunct="0">
              <a:lnSpc>
                <a:spcPct val="130000"/>
              </a:lnSpc>
              <a:spcBef>
                <a:spcPct val="0"/>
              </a:spcBef>
              <a:spcAft>
                <a:spcPct val="0"/>
              </a:spcAft>
              <a:buClrTx/>
              <a:buSzTx/>
              <a:buFontTx/>
              <a:buChar char="•"/>
              <a:tabLst/>
              <a:defRPr/>
            </a:pPr>
            <a:r>
              <a:rPr lang="en-US" sz="1000" noProof="0" dirty="0">
                <a:solidFill>
                  <a:srgbClr val="000000"/>
                </a:solidFill>
                <a:latin typeface="Arial Narrow" panose="020B0606020202030204" pitchFamily="34" charset="0"/>
                <a:ea typeface="LG Smart_H2.0 R" panose="020B0600000101010101" pitchFamily="34" charset="-127"/>
              </a:rPr>
              <a:t> </a:t>
            </a: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Improved preventive maintenance compliance</a:t>
            </a:r>
          </a:p>
          <a:p>
            <a:pPr marL="0" marR="0" lvl="0" indent="0" algn="l" defTabSz="914400" rtl="0" eaLnBrk="0" fontAlgn="base" latinLnBrk="0" hangingPunct="0">
              <a:lnSpc>
                <a:spcPct val="130000"/>
              </a:lnSpc>
              <a:spcBef>
                <a:spcPct val="0"/>
              </a:spcBef>
              <a:spcAft>
                <a:spcPct val="0"/>
              </a:spcAft>
              <a:buClrTx/>
              <a:buSzTx/>
              <a:tabLst/>
              <a:defRPr/>
            </a:pPr>
            <a:r>
              <a:rPr kumimoji="0" lang="en-US" sz="800" b="0" i="0" u="none" strike="noStrike" kern="1200" cap="none" spc="0" normalizeH="0" baseline="0" noProof="0" dirty="0">
                <a:ln>
                  <a:noFill/>
                </a:ln>
                <a:solidFill>
                  <a:srgbClr val="008000"/>
                </a:solidFill>
                <a:effectLst/>
                <a:uLnTx/>
                <a:uFillTx/>
                <a:latin typeface="Arial Narrow" panose="020B0606020202030204" pitchFamily="34" charset="0"/>
                <a:ea typeface="LG Smart_H2.0 R" panose="020B0600000101010101" pitchFamily="34" charset="-127"/>
                <a:cs typeface="+mn-cs"/>
              </a:rPr>
              <a:t>예방정비 준수율 향상</a:t>
            </a:r>
          </a:p>
          <a:p>
            <a:pPr marL="0" marR="0" lvl="0" indent="0" algn="l" defTabSz="914400" rtl="0" eaLnBrk="0" fontAlgn="base" latinLnBrk="0" hangingPunct="0">
              <a:lnSpc>
                <a:spcPct val="130000"/>
              </a:lnSpc>
              <a:spcBef>
                <a:spcPct val="0"/>
              </a:spcBef>
              <a:spcAft>
                <a:spcPct val="0"/>
              </a:spcAft>
              <a:buClrTx/>
              <a:buSzTx/>
              <a:buFontTx/>
              <a:buChar char="•"/>
              <a:tabLst/>
              <a:defRPr/>
            </a:pPr>
            <a:r>
              <a:rPr lang="en-US" sz="1000" noProof="0" dirty="0">
                <a:solidFill>
                  <a:srgbClr val="000000"/>
                </a:solidFill>
                <a:latin typeface="Arial Narrow" panose="020B0606020202030204" pitchFamily="34" charset="0"/>
                <a:ea typeface="LG Smart_H2.0 R" panose="020B0600000101010101" pitchFamily="34" charset="-127"/>
              </a:rPr>
              <a:t> </a:t>
            </a: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Reduced manual search and reporting effort</a:t>
            </a:r>
          </a:p>
          <a:p>
            <a:pPr marL="0" marR="0" lvl="0" indent="0" algn="l" defTabSz="914400" rtl="0" eaLnBrk="0" fontAlgn="base" latinLnBrk="0" hangingPunct="0">
              <a:lnSpc>
                <a:spcPct val="130000"/>
              </a:lnSpc>
              <a:spcBef>
                <a:spcPct val="0"/>
              </a:spcBef>
              <a:spcAft>
                <a:spcPct val="0"/>
              </a:spcAft>
              <a:buClrTx/>
              <a:buSzTx/>
              <a:tabLst/>
              <a:defRPr/>
            </a:pPr>
            <a:r>
              <a:rPr kumimoji="0" lang="en-US" sz="800" b="0" i="0" u="none" strike="noStrike" kern="1200" cap="none" spc="0" normalizeH="0" baseline="0" noProof="0" dirty="0">
                <a:ln>
                  <a:noFill/>
                </a:ln>
                <a:solidFill>
                  <a:srgbClr val="008000"/>
                </a:solidFill>
                <a:effectLst/>
                <a:uLnTx/>
                <a:uFillTx/>
                <a:latin typeface="Arial Narrow" panose="020B0606020202030204" pitchFamily="34" charset="0"/>
                <a:ea typeface="LG Smart_H2.0 R" panose="020B0600000101010101" pitchFamily="34" charset="-127"/>
                <a:cs typeface="+mn-cs"/>
              </a:rPr>
              <a:t>수작업 검색 및 보고 업무 감소</a:t>
            </a:r>
          </a:p>
          <a:p>
            <a:pPr marL="0" marR="0" lvl="0" indent="0" algn="l" defTabSz="914400" rtl="0" eaLnBrk="0" fontAlgn="base" latinLnBrk="0" hangingPunct="0">
              <a:lnSpc>
                <a:spcPct val="130000"/>
              </a:lnSpc>
              <a:spcBef>
                <a:spcPct val="0"/>
              </a:spcBef>
              <a:spcAft>
                <a:spcPct val="0"/>
              </a:spcAft>
              <a:buClrTx/>
              <a:buSzTx/>
              <a:buFontTx/>
              <a:buChar char="•"/>
              <a:tabLst/>
              <a:defRPr/>
            </a:pPr>
            <a:r>
              <a:rPr lang="en-US" sz="1000" noProof="0" dirty="0">
                <a:solidFill>
                  <a:srgbClr val="000000"/>
                </a:solidFill>
                <a:latin typeface="Arial Narrow" panose="020B0606020202030204" pitchFamily="34" charset="0"/>
                <a:ea typeface="LG Smart_H2.0 R" panose="020B0600000101010101" pitchFamily="34" charset="-127"/>
              </a:rPr>
              <a:t> </a:t>
            </a: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Clear visibility of recurring equipment issues</a:t>
            </a:r>
          </a:p>
          <a:p>
            <a:pPr marL="0" marR="0" lvl="0" indent="0" algn="l" defTabSz="914400" rtl="0" eaLnBrk="0" fontAlgn="base" latinLnBrk="0" hangingPunct="0">
              <a:lnSpc>
                <a:spcPct val="130000"/>
              </a:lnSpc>
              <a:spcBef>
                <a:spcPct val="0"/>
              </a:spcBef>
              <a:spcAft>
                <a:spcPct val="0"/>
              </a:spcAft>
              <a:buClrTx/>
              <a:buSzTx/>
              <a:tabLst/>
              <a:defRPr/>
            </a:pPr>
            <a:r>
              <a:rPr kumimoji="0" lang="en-US" sz="800" b="0" i="0" u="none" strike="noStrike" kern="1200" cap="none" spc="0" normalizeH="0" baseline="0" noProof="0" dirty="0">
                <a:ln>
                  <a:noFill/>
                </a:ln>
                <a:solidFill>
                  <a:srgbClr val="008000"/>
                </a:solidFill>
                <a:effectLst/>
                <a:uLnTx/>
                <a:uFillTx/>
                <a:latin typeface="Arial Narrow" panose="020B0606020202030204" pitchFamily="34" charset="0"/>
                <a:ea typeface="LG Smart_H2.0 R" panose="020B0600000101010101" pitchFamily="34" charset="-127"/>
                <a:cs typeface="+mn-cs"/>
              </a:rPr>
              <a:t>반복 고장 및 장비 문제에 대한 가시성 확보</a:t>
            </a:r>
          </a:p>
          <a:p>
            <a:pPr marL="0" marR="0" lvl="0" indent="0" algn="l" defTabSz="914400" rtl="0" eaLnBrk="0" fontAlgn="base" latinLnBrk="0" hangingPunct="0">
              <a:lnSpc>
                <a:spcPct val="130000"/>
              </a:lnSpc>
              <a:spcBef>
                <a:spcPct val="0"/>
              </a:spcBef>
              <a:spcAft>
                <a:spcPct val="0"/>
              </a:spcAft>
              <a:buClrTx/>
              <a:buSzTx/>
              <a:buFontTx/>
              <a:buChar char="•"/>
              <a:tabLst/>
              <a:defRPr/>
            </a:pPr>
            <a:r>
              <a:rPr lang="en-US" sz="1000" noProof="0" dirty="0">
                <a:solidFill>
                  <a:srgbClr val="000000"/>
                </a:solidFill>
                <a:latin typeface="Arial Narrow" panose="020B0606020202030204" pitchFamily="34" charset="0"/>
                <a:ea typeface="LG Smart_H2.0 R" panose="020B0600000101010101" pitchFamily="34" charset="-127"/>
              </a:rPr>
              <a:t> </a:t>
            </a: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Strengthened data‑driven maintenance planning</a:t>
            </a:r>
          </a:p>
          <a:p>
            <a:pPr marL="0" marR="0" lvl="0" indent="0" algn="l" defTabSz="914400" rtl="0" eaLnBrk="0" fontAlgn="base" latinLnBrk="0" hangingPunct="0">
              <a:lnSpc>
                <a:spcPct val="130000"/>
              </a:lnSpc>
              <a:spcBef>
                <a:spcPct val="0"/>
              </a:spcBef>
              <a:spcAft>
                <a:spcPct val="0"/>
              </a:spcAft>
              <a:buClrTx/>
              <a:buSzTx/>
              <a:tabLst/>
              <a:defRPr/>
            </a:pPr>
            <a:r>
              <a:rPr kumimoji="0" lang="en-US" sz="800" b="0" i="0" u="none" strike="noStrike" kern="1200" cap="none" spc="0" normalizeH="0" baseline="0" noProof="0" dirty="0">
                <a:ln>
                  <a:noFill/>
                </a:ln>
                <a:solidFill>
                  <a:srgbClr val="008000"/>
                </a:solidFill>
                <a:effectLst/>
                <a:uLnTx/>
                <a:uFillTx/>
                <a:latin typeface="Arial Narrow" panose="020B0606020202030204" pitchFamily="34" charset="0"/>
                <a:ea typeface="LG Smart_H2.0 R" panose="020B0600000101010101" pitchFamily="34" charset="-127"/>
                <a:cs typeface="+mn-cs"/>
              </a:rPr>
              <a:t>데이터 기반 유지보수 계획 수립 능력 강화</a:t>
            </a:r>
          </a:p>
        </p:txBody>
      </p:sp>
      <p:sp>
        <p:nvSpPr>
          <p:cNvPr id="22" name="Rectangle 6">
            <a:extLst>
              <a:ext uri="{FF2B5EF4-FFF2-40B4-BE49-F238E27FC236}">
                <a16:creationId xmlns:a16="http://schemas.microsoft.com/office/drawing/2014/main" id="{E85E5DAF-6B72-E139-0211-E1CF2E179420}"/>
              </a:ext>
            </a:extLst>
          </p:cNvPr>
          <p:cNvSpPr>
            <a:spLocks noChangeArrowheads="1"/>
          </p:cNvSpPr>
          <p:nvPr>
            <p:custDataLst>
              <p:tags r:id="rId6"/>
            </p:custDataLst>
          </p:nvPr>
        </p:nvSpPr>
        <p:spPr bwMode="auto">
          <a:xfrm>
            <a:off x="5362461" y="4437112"/>
            <a:ext cx="3748617" cy="294542"/>
          </a:xfrm>
          <a:prstGeom prst="rect">
            <a:avLst/>
          </a:prstGeom>
          <a:solidFill>
            <a:schemeClr val="bg1">
              <a:lumMod val="95000"/>
            </a:schemeClr>
          </a:solidFill>
          <a:ln w="9525" algn="ctr">
            <a:noFill/>
            <a:miter lim="800000"/>
            <a:headEnd/>
            <a:tailEnd/>
          </a:ln>
        </p:spPr>
        <p:txBody>
          <a:bodyPr wrap="none" lIns="84385" tIns="42193" rIns="84385" bIns="42193" anchor="ctr"/>
          <a:lstStyle/>
          <a:p>
            <a:pPr marL="86440" marR="0" lvl="0" indent="-86440" algn="l" defTabSz="952799" rtl="0" eaLnBrk="1" fontAlgn="auto" latinLnBrk="1" hangingPunct="1">
              <a:lnSpc>
                <a:spcPct val="100000"/>
              </a:lnSpc>
              <a:spcBef>
                <a:spcPts val="0"/>
              </a:spcBef>
              <a:spcAft>
                <a:spcPts val="0"/>
              </a:spcAft>
              <a:buClrTx/>
              <a:buSzPct val="120000"/>
              <a:buFontTx/>
              <a:buNone/>
              <a:tabLst/>
              <a:defRPr/>
            </a:pP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Arial" pitchFamily="34" charset="0"/>
              </a:rPr>
              <a:t>■ </a:t>
            </a:r>
            <a:r>
              <a:rPr kumimoji="0" lang="en-US" sz="1200" b="1" i="0" u="none" strike="noStrike" kern="1200" cap="none" spc="0" normalizeH="0" baseline="0" noProof="0" dirty="0">
                <a:ln>
                  <a:noFill/>
                </a:ln>
                <a:solidFill>
                  <a:srgbClr val="000000"/>
                </a:solidFill>
                <a:effectLst/>
                <a:uLnTx/>
                <a:uFillTx/>
                <a:latin typeface="Arial Narrow" panose="020B0606020202030204" pitchFamily="34" charset="0"/>
                <a:ea typeface="LG Smart_H2.0 R" panose="020B0600000101010101" pitchFamily="34" charset="-127"/>
                <a:cs typeface="+mn-cs"/>
              </a:rPr>
              <a:t>Expected Results / 기대 효과</a:t>
            </a:r>
          </a:p>
        </p:txBody>
      </p:sp>
    </p:spTree>
    <p:extLst>
      <p:ext uri="{BB962C8B-B14F-4D97-AF65-F5344CB8AC3E}">
        <p14:creationId xmlns:p14="http://schemas.microsoft.com/office/powerpoint/2010/main" val="3068860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E7FD5-C916-0ED7-46EE-57A0821476F0}"/>
            </a:ext>
          </a:extLst>
        </p:cNvPr>
        <p:cNvGrpSpPr/>
        <p:nvPr/>
      </p:nvGrpSpPr>
      <p:grpSpPr>
        <a:xfrm>
          <a:off x="0" y="0"/>
          <a:ext cx="0" cy="0"/>
          <a:chOff x="0" y="0"/>
          <a:chExt cx="0" cy="0"/>
        </a:xfrm>
      </p:grpSpPr>
      <p:sp>
        <p:nvSpPr>
          <p:cNvPr id="6" name="Text Box 237">
            <a:extLst>
              <a:ext uri="{FF2B5EF4-FFF2-40B4-BE49-F238E27FC236}">
                <a16:creationId xmlns:a16="http://schemas.microsoft.com/office/drawing/2014/main" id="{19BD5DA4-A4EE-73EB-7EF4-518763926FD5}"/>
              </a:ext>
            </a:extLst>
          </p:cNvPr>
          <p:cNvSpPr txBox="1">
            <a:spLocks noChangeArrowheads="1"/>
          </p:cNvSpPr>
          <p:nvPr/>
        </p:nvSpPr>
        <p:spPr bwMode="gray">
          <a:xfrm>
            <a:off x="448886" y="65731"/>
            <a:ext cx="2830365" cy="39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3077" tIns="43200" rIns="83077" bIns="43200" anchor="ctr">
            <a:spAutoFit/>
          </a:bodyPr>
          <a:lstStyle>
            <a:lvl1pPr eaLnBrk="0" hangingPunct="0">
              <a:defRPr kumimoji="1" sz="1200" b="1">
                <a:solidFill>
                  <a:schemeClr val="tx1"/>
                </a:solidFill>
                <a:latin typeface="Arial" charset="0"/>
                <a:ea typeface="돋움" pitchFamily="50" charset="-127"/>
              </a:defRPr>
            </a:lvl1pPr>
            <a:lvl2pPr marL="742950" indent="-285750" eaLnBrk="0" hangingPunct="0">
              <a:defRPr kumimoji="1" sz="1200" b="1">
                <a:solidFill>
                  <a:schemeClr val="tx1"/>
                </a:solidFill>
                <a:latin typeface="Arial" charset="0"/>
                <a:ea typeface="돋움" pitchFamily="50" charset="-127"/>
              </a:defRPr>
            </a:lvl2pPr>
            <a:lvl3pPr marL="1143000" indent="-228600" eaLnBrk="0" hangingPunct="0">
              <a:defRPr kumimoji="1" sz="1200" b="1">
                <a:solidFill>
                  <a:schemeClr val="tx1"/>
                </a:solidFill>
                <a:latin typeface="Arial" charset="0"/>
                <a:ea typeface="돋움" pitchFamily="50" charset="-127"/>
              </a:defRPr>
            </a:lvl3pPr>
            <a:lvl4pPr marL="1600200" indent="-228600" eaLnBrk="0" hangingPunct="0">
              <a:defRPr kumimoji="1" sz="1200" b="1">
                <a:solidFill>
                  <a:schemeClr val="tx1"/>
                </a:solidFill>
                <a:latin typeface="Arial" charset="0"/>
                <a:ea typeface="돋움" pitchFamily="50" charset="-127"/>
              </a:defRPr>
            </a:lvl4pPr>
            <a:lvl5pPr marL="2057400" indent="-228600" eaLnBrk="0" hangingPunct="0">
              <a:defRPr kumimoji="1" sz="1200" b="1">
                <a:solidFill>
                  <a:schemeClr val="tx1"/>
                </a:solidFill>
                <a:latin typeface="Arial" charset="0"/>
                <a:ea typeface="돋움" pitchFamily="50" charset="-127"/>
              </a:defRPr>
            </a:lvl5pPr>
            <a:lvl6pPr marL="25146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6pPr>
            <a:lvl7pPr marL="29718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7pPr>
            <a:lvl8pPr marL="34290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8pPr>
            <a:lvl9pPr marL="38862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9pPr>
          </a:lstStyle>
          <a:p>
            <a:r>
              <a:rPr lang="en-US" sz="2000" noProof="0" dirty="0">
                <a:solidFill>
                  <a:prstClr val="black"/>
                </a:solidFill>
                <a:latin typeface="Arial Narrow" panose="020B0606020202030204" pitchFamily="34" charset="0"/>
              </a:rPr>
              <a:t>Project Organization Chart</a:t>
            </a:r>
          </a:p>
        </p:txBody>
      </p:sp>
      <p:cxnSp>
        <p:nvCxnSpPr>
          <p:cNvPr id="2" name="Straight Connector 1">
            <a:extLst>
              <a:ext uri="{FF2B5EF4-FFF2-40B4-BE49-F238E27FC236}">
                <a16:creationId xmlns:a16="http://schemas.microsoft.com/office/drawing/2014/main" id="{D3F2E35D-D416-263D-BB07-AE812A68421F}"/>
              </a:ext>
            </a:extLst>
          </p:cNvPr>
          <p:cNvCxnSpPr/>
          <p:nvPr/>
        </p:nvCxnSpPr>
        <p:spPr bwMode="auto">
          <a:xfrm flipV="1">
            <a:off x="6303512" y="2244810"/>
            <a:ext cx="0" cy="5877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3AA222E-5EE8-3A58-54DE-C28B1C76B40F}"/>
              </a:ext>
            </a:extLst>
          </p:cNvPr>
          <p:cNvCxnSpPr>
            <a:cxnSpLocks/>
          </p:cNvCxnSpPr>
          <p:nvPr/>
        </p:nvCxnSpPr>
        <p:spPr>
          <a:xfrm>
            <a:off x="4973200" y="1375821"/>
            <a:ext cx="0" cy="496171"/>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id="{7F8E6F08-F1D7-0832-57B9-061ED56D3190}"/>
              </a:ext>
            </a:extLst>
          </p:cNvPr>
          <p:cNvSpPr txBox="1">
            <a:spLocks noChangeArrowheads="1"/>
          </p:cNvSpPr>
          <p:nvPr/>
        </p:nvSpPr>
        <p:spPr bwMode="auto">
          <a:xfrm>
            <a:off x="4918582" y="2636138"/>
            <a:ext cx="662744" cy="156197"/>
          </a:xfrm>
          <a:prstGeom prst="rect">
            <a:avLst/>
          </a:prstGeom>
          <a:solidFill>
            <a:schemeClr val="bg1"/>
          </a:solidFill>
          <a:ln w="3175" algn="ctr">
            <a:noFill/>
            <a:miter lim="800000"/>
            <a:headEnd/>
            <a:tailEnd/>
          </a:ln>
        </p:spPr>
        <p:txBody>
          <a:bodyPr wrap="square" lIns="0" tIns="0" rIns="0" bIns="0">
            <a:spAutoFit/>
          </a:bodyPr>
          <a:lstStyle/>
          <a:p>
            <a:pPr algn="ctr" fontAlgn="base" latinLnBrk="1">
              <a:spcBef>
                <a:spcPct val="0"/>
              </a:spcBef>
              <a:spcAft>
                <a:spcPct val="0"/>
              </a:spcAft>
            </a:pPr>
            <a:r>
              <a:rPr kumimoji="1" lang="en-US" sz="1015" b="1" noProof="0" dirty="0">
                <a:solidFill>
                  <a:srgbClr val="006600"/>
                </a:solidFill>
                <a:latin typeface="Arial Narrow" panose="020B0606020202030204" pitchFamily="34" charset="0"/>
                <a:ea typeface="LG스마트체 Regular" panose="020B0600000101010101" pitchFamily="50" charset="-127"/>
                <a:cs typeface="Arial" pitchFamily="34" charset="0"/>
              </a:rPr>
              <a:t>Task Leader</a:t>
            </a:r>
          </a:p>
        </p:txBody>
      </p:sp>
      <p:sp>
        <p:nvSpPr>
          <p:cNvPr id="11" name="직사각형 111">
            <a:extLst>
              <a:ext uri="{FF2B5EF4-FFF2-40B4-BE49-F238E27FC236}">
                <a16:creationId xmlns:a16="http://schemas.microsoft.com/office/drawing/2014/main" id="{8BA4D57C-F4B4-65AD-7D10-9A571CFB7226}"/>
              </a:ext>
            </a:extLst>
          </p:cNvPr>
          <p:cNvSpPr/>
          <p:nvPr/>
        </p:nvSpPr>
        <p:spPr>
          <a:xfrm>
            <a:off x="4974954" y="1066477"/>
            <a:ext cx="752574" cy="301229"/>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Yong Park</a:t>
            </a:r>
          </a:p>
        </p:txBody>
      </p:sp>
      <p:sp>
        <p:nvSpPr>
          <p:cNvPr id="12" name="직사각형 115">
            <a:extLst>
              <a:ext uri="{FF2B5EF4-FFF2-40B4-BE49-F238E27FC236}">
                <a16:creationId xmlns:a16="http://schemas.microsoft.com/office/drawing/2014/main" id="{7A3E9A8B-8A5D-9780-9EF0-E5FCB53AEC1E}"/>
              </a:ext>
            </a:extLst>
          </p:cNvPr>
          <p:cNvSpPr/>
          <p:nvPr/>
        </p:nvSpPr>
        <p:spPr>
          <a:xfrm>
            <a:off x="4974954" y="757567"/>
            <a:ext cx="752574" cy="309117"/>
          </a:xfrm>
          <a:prstGeom prst="rect">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a:lnSpc>
                <a:spcPts val="1200"/>
              </a:lnSpc>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President</a:t>
            </a:r>
          </a:p>
        </p:txBody>
      </p:sp>
      <p:sp>
        <p:nvSpPr>
          <p:cNvPr id="13" name="직사각형 202">
            <a:extLst>
              <a:ext uri="{FF2B5EF4-FFF2-40B4-BE49-F238E27FC236}">
                <a16:creationId xmlns:a16="http://schemas.microsoft.com/office/drawing/2014/main" id="{BDCA2185-5CFD-9A28-4FBE-8447DB530B92}"/>
              </a:ext>
            </a:extLst>
          </p:cNvPr>
          <p:cNvSpPr/>
          <p:nvPr/>
        </p:nvSpPr>
        <p:spPr>
          <a:xfrm>
            <a:off x="4422499" y="757566"/>
            <a:ext cx="552452" cy="610136"/>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923" b="1" noProof="0" dirty="0">
                <a:solidFill>
                  <a:prstClr val="white">
                    <a:lumMod val="50000"/>
                  </a:prstClr>
                </a:solidFill>
                <a:latin typeface="Arial Narrow" panose="020B0606020202030204" pitchFamily="34" charset="0"/>
                <a:ea typeface="LG스마트체 Regular" panose="020B0600000101010101" pitchFamily="50" charset="-127"/>
              </a:rPr>
              <a:t>(photo)</a:t>
            </a:r>
          </a:p>
        </p:txBody>
      </p:sp>
      <p:grpSp>
        <p:nvGrpSpPr>
          <p:cNvPr id="19" name="Group 18">
            <a:extLst>
              <a:ext uri="{FF2B5EF4-FFF2-40B4-BE49-F238E27FC236}">
                <a16:creationId xmlns:a16="http://schemas.microsoft.com/office/drawing/2014/main" id="{4B19B721-128C-01AB-8B77-92924F3021AE}"/>
              </a:ext>
            </a:extLst>
          </p:cNvPr>
          <p:cNvGrpSpPr/>
          <p:nvPr/>
        </p:nvGrpSpPr>
        <p:grpSpPr>
          <a:xfrm>
            <a:off x="5927296" y="1357771"/>
            <a:ext cx="1337304" cy="583493"/>
            <a:chOff x="6102167" y="1760354"/>
            <a:chExt cx="1357201" cy="632117"/>
          </a:xfrm>
        </p:grpSpPr>
        <p:sp>
          <p:nvSpPr>
            <p:cNvPr id="20" name="직사각형 121">
              <a:extLst>
                <a:ext uri="{FF2B5EF4-FFF2-40B4-BE49-F238E27FC236}">
                  <a16:creationId xmlns:a16="http://schemas.microsoft.com/office/drawing/2014/main" id="{21053FA2-900D-86DE-7A4F-C105CC594CDC}"/>
                </a:ext>
              </a:extLst>
            </p:cNvPr>
            <p:cNvSpPr/>
            <p:nvPr/>
          </p:nvSpPr>
          <p:spPr>
            <a:xfrm>
              <a:off x="6644079" y="2070204"/>
              <a:ext cx="815289" cy="322267"/>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Kiho Hong</a:t>
              </a:r>
            </a:p>
          </p:txBody>
        </p:sp>
        <p:sp>
          <p:nvSpPr>
            <p:cNvPr id="21" name="직사각형 204">
              <a:extLst>
                <a:ext uri="{FF2B5EF4-FFF2-40B4-BE49-F238E27FC236}">
                  <a16:creationId xmlns:a16="http://schemas.microsoft.com/office/drawing/2014/main" id="{6937413A-75AC-7E85-1971-4D42B81E5046}"/>
                </a:ext>
              </a:extLst>
            </p:cNvPr>
            <p:cNvSpPr/>
            <p:nvPr/>
          </p:nvSpPr>
          <p:spPr>
            <a:xfrm>
              <a:off x="6102167" y="1760354"/>
              <a:ext cx="541912" cy="630936"/>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923" b="1" noProof="0" dirty="0">
                  <a:solidFill>
                    <a:prstClr val="white">
                      <a:lumMod val="50000"/>
                    </a:prstClr>
                  </a:solidFill>
                  <a:latin typeface="Arial Narrow" panose="020B0606020202030204" pitchFamily="34" charset="0"/>
                  <a:ea typeface="LG스마트체 Regular" panose="020B0600000101010101" pitchFamily="50" charset="-127"/>
                </a:rPr>
                <a:t>(photo)</a:t>
              </a:r>
            </a:p>
          </p:txBody>
        </p:sp>
        <p:sp>
          <p:nvSpPr>
            <p:cNvPr id="22" name="직사각형 205">
              <a:extLst>
                <a:ext uri="{FF2B5EF4-FFF2-40B4-BE49-F238E27FC236}">
                  <a16:creationId xmlns:a16="http://schemas.microsoft.com/office/drawing/2014/main" id="{1156087D-CF66-2DDA-2D94-103AE594D17A}"/>
                </a:ext>
              </a:extLst>
            </p:cNvPr>
            <p:cNvSpPr/>
            <p:nvPr/>
          </p:nvSpPr>
          <p:spPr>
            <a:xfrm>
              <a:off x="6644079" y="1760354"/>
              <a:ext cx="815289" cy="326331"/>
            </a:xfrm>
            <a:prstGeom prst="rect">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PE Team</a:t>
              </a:r>
            </a:p>
          </p:txBody>
        </p:sp>
      </p:grpSp>
      <p:sp>
        <p:nvSpPr>
          <p:cNvPr id="24" name="Text Box 2">
            <a:extLst>
              <a:ext uri="{FF2B5EF4-FFF2-40B4-BE49-F238E27FC236}">
                <a16:creationId xmlns:a16="http://schemas.microsoft.com/office/drawing/2014/main" id="{316F6EA7-FC72-D0AA-5058-1DCA6347DEE7}"/>
              </a:ext>
            </a:extLst>
          </p:cNvPr>
          <p:cNvSpPr txBox="1">
            <a:spLocks noChangeArrowheads="1"/>
          </p:cNvSpPr>
          <p:nvPr/>
        </p:nvSpPr>
        <p:spPr bwMode="auto">
          <a:xfrm>
            <a:off x="6110497" y="1957361"/>
            <a:ext cx="660437" cy="156197"/>
          </a:xfrm>
          <a:prstGeom prst="rect">
            <a:avLst/>
          </a:prstGeom>
          <a:noFill/>
          <a:ln w="3175" algn="ctr">
            <a:noFill/>
            <a:miter lim="800000"/>
            <a:headEnd/>
            <a:tailEnd/>
          </a:ln>
        </p:spPr>
        <p:txBody>
          <a:bodyPr wrap="none" lIns="0" tIns="0" rIns="0" bIns="0">
            <a:spAutoFit/>
          </a:bodyPr>
          <a:lstStyle/>
          <a:p>
            <a:pPr fontAlgn="base" latinLnBrk="1">
              <a:spcBef>
                <a:spcPct val="0"/>
              </a:spcBef>
              <a:spcAft>
                <a:spcPct val="0"/>
              </a:spcAft>
            </a:pPr>
            <a:r>
              <a:rPr kumimoji="1" lang="en-US" sz="1015" b="1" noProof="0" dirty="0">
                <a:solidFill>
                  <a:srgbClr val="006600"/>
                </a:solidFill>
                <a:latin typeface="Arial Narrow" panose="020B0606020202030204" pitchFamily="34" charset="0"/>
                <a:ea typeface="LG스마트체 Regular" panose="020B0600000101010101" pitchFamily="50" charset="-127"/>
                <a:cs typeface="Arial" pitchFamily="34" charset="0"/>
              </a:rPr>
              <a:t>Team Leader</a:t>
            </a:r>
          </a:p>
        </p:txBody>
      </p:sp>
      <p:cxnSp>
        <p:nvCxnSpPr>
          <p:cNvPr id="25" name="Straight Connector 24">
            <a:extLst>
              <a:ext uri="{FF2B5EF4-FFF2-40B4-BE49-F238E27FC236}">
                <a16:creationId xmlns:a16="http://schemas.microsoft.com/office/drawing/2014/main" id="{8CE229E2-C372-DE8E-CFF0-0EAD6F6C736F}"/>
              </a:ext>
            </a:extLst>
          </p:cNvPr>
          <p:cNvCxnSpPr>
            <a:cxnSpLocks/>
          </p:cNvCxnSpPr>
          <p:nvPr/>
        </p:nvCxnSpPr>
        <p:spPr bwMode="auto">
          <a:xfrm>
            <a:off x="3909869" y="1649178"/>
            <a:ext cx="2017426" cy="0"/>
          </a:xfrm>
          <a:prstGeom prst="line">
            <a:avLst/>
          </a:prstGeom>
          <a:solidFill>
            <a:schemeClr val="accent1"/>
          </a:solidFill>
          <a:ln w="9525" cap="flat" cmpd="sng" algn="ctr">
            <a:solidFill>
              <a:schemeClr val="bg1">
                <a:lumMod val="50000"/>
              </a:schemeClr>
            </a:solidFill>
            <a:prstDash val="solid"/>
            <a:round/>
            <a:headEnd type="none" w="med" len="med"/>
            <a:tailEnd type="none" w="med" len="med"/>
          </a:ln>
          <a:effectLst/>
        </p:spPr>
      </p:cxnSp>
      <p:pic>
        <p:nvPicPr>
          <p:cNvPr id="31" name="Picture 30">
            <a:extLst>
              <a:ext uri="{FF2B5EF4-FFF2-40B4-BE49-F238E27FC236}">
                <a16:creationId xmlns:a16="http://schemas.microsoft.com/office/drawing/2014/main" id="{EFAAED90-6804-AF7A-6ADC-27F629411E16}"/>
              </a:ext>
            </a:extLst>
          </p:cNvPr>
          <p:cNvPicPr>
            <a:picLocks noChangeAspect="1"/>
          </p:cNvPicPr>
          <p:nvPr/>
        </p:nvPicPr>
        <p:blipFill>
          <a:blip r:embed="rId2"/>
          <a:stretch>
            <a:fillRect/>
          </a:stretch>
        </p:blipFill>
        <p:spPr>
          <a:xfrm>
            <a:off x="4440370" y="774687"/>
            <a:ext cx="512631" cy="565521"/>
          </a:xfrm>
          <a:prstGeom prst="rect">
            <a:avLst/>
          </a:prstGeom>
        </p:spPr>
      </p:pic>
      <p:grpSp>
        <p:nvGrpSpPr>
          <p:cNvPr id="38" name="Group 37">
            <a:extLst>
              <a:ext uri="{FF2B5EF4-FFF2-40B4-BE49-F238E27FC236}">
                <a16:creationId xmlns:a16="http://schemas.microsoft.com/office/drawing/2014/main" id="{1DDA41DB-9398-9DEF-8857-CAB502DAC12D}"/>
              </a:ext>
            </a:extLst>
          </p:cNvPr>
          <p:cNvGrpSpPr/>
          <p:nvPr/>
        </p:nvGrpSpPr>
        <p:grpSpPr>
          <a:xfrm>
            <a:off x="4248956" y="1873764"/>
            <a:ext cx="1448665" cy="721457"/>
            <a:chOff x="6102167" y="1760354"/>
            <a:chExt cx="1357201" cy="632117"/>
          </a:xfrm>
        </p:grpSpPr>
        <p:sp>
          <p:nvSpPr>
            <p:cNvPr id="75" name="직사각형 121">
              <a:extLst>
                <a:ext uri="{FF2B5EF4-FFF2-40B4-BE49-F238E27FC236}">
                  <a16:creationId xmlns:a16="http://schemas.microsoft.com/office/drawing/2014/main" id="{1512CA9E-295B-13D3-E78E-ADD406905286}"/>
                </a:ext>
              </a:extLst>
            </p:cNvPr>
            <p:cNvSpPr/>
            <p:nvPr/>
          </p:nvSpPr>
          <p:spPr>
            <a:xfrm>
              <a:off x="6644079" y="2070204"/>
              <a:ext cx="815289" cy="322267"/>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Herry </a:t>
              </a:r>
            </a:p>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Colmenares</a:t>
              </a:r>
            </a:p>
          </p:txBody>
        </p:sp>
        <p:sp>
          <p:nvSpPr>
            <p:cNvPr id="76" name="직사각형 204">
              <a:extLst>
                <a:ext uri="{FF2B5EF4-FFF2-40B4-BE49-F238E27FC236}">
                  <a16:creationId xmlns:a16="http://schemas.microsoft.com/office/drawing/2014/main" id="{0AEAD948-9F06-29D6-4C05-99E5590D6BB3}"/>
                </a:ext>
              </a:extLst>
            </p:cNvPr>
            <p:cNvSpPr/>
            <p:nvPr/>
          </p:nvSpPr>
          <p:spPr>
            <a:xfrm>
              <a:off x="6102167" y="1760354"/>
              <a:ext cx="541912" cy="630936"/>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923" b="1" noProof="0" dirty="0">
                  <a:solidFill>
                    <a:prstClr val="white">
                      <a:lumMod val="50000"/>
                    </a:prstClr>
                  </a:solidFill>
                  <a:latin typeface="Arial Narrow" panose="020B0606020202030204" pitchFamily="34" charset="0"/>
                  <a:ea typeface="LG스마트체 Regular" panose="020B0600000101010101" pitchFamily="50" charset="-127"/>
                </a:rPr>
                <a:t>(photo)</a:t>
              </a:r>
            </a:p>
          </p:txBody>
        </p:sp>
        <p:sp>
          <p:nvSpPr>
            <p:cNvPr id="77" name="직사각형 205">
              <a:extLst>
                <a:ext uri="{FF2B5EF4-FFF2-40B4-BE49-F238E27FC236}">
                  <a16:creationId xmlns:a16="http://schemas.microsoft.com/office/drawing/2014/main" id="{CEB8D9E1-27CC-E9C4-4526-5A2D65F261B8}"/>
                </a:ext>
              </a:extLst>
            </p:cNvPr>
            <p:cNvSpPr/>
            <p:nvPr/>
          </p:nvSpPr>
          <p:spPr>
            <a:xfrm>
              <a:off x="6644079" y="1760354"/>
              <a:ext cx="815289" cy="326331"/>
            </a:xfrm>
            <a:prstGeom prst="rect">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PE Team</a:t>
              </a:r>
            </a:p>
          </p:txBody>
        </p:sp>
      </p:grpSp>
      <p:pic>
        <p:nvPicPr>
          <p:cNvPr id="4" name="그림 110">
            <a:extLst>
              <a:ext uri="{FF2B5EF4-FFF2-40B4-BE49-F238E27FC236}">
                <a16:creationId xmlns:a16="http://schemas.microsoft.com/office/drawing/2014/main" id="{8808165C-65F5-25FC-9029-F6685B122FA9}"/>
              </a:ext>
            </a:extLst>
          </p:cNvPr>
          <p:cNvPicPr>
            <a:picLocks noChangeAspect="1"/>
          </p:cNvPicPr>
          <p:nvPr/>
        </p:nvPicPr>
        <p:blipFill rotWithShape="1">
          <a:blip r:embed="rId3"/>
          <a:srcRect b="6393"/>
          <a:stretch/>
        </p:blipFill>
        <p:spPr>
          <a:xfrm>
            <a:off x="4277716" y="1935864"/>
            <a:ext cx="525847" cy="611072"/>
          </a:xfrm>
          <a:prstGeom prst="rect">
            <a:avLst/>
          </a:prstGeom>
        </p:spPr>
      </p:pic>
      <p:pic>
        <p:nvPicPr>
          <p:cNvPr id="9" name="Picture 8">
            <a:extLst>
              <a:ext uri="{FF2B5EF4-FFF2-40B4-BE49-F238E27FC236}">
                <a16:creationId xmlns:a16="http://schemas.microsoft.com/office/drawing/2014/main" id="{5C1381AA-C790-9E55-A94D-2DD12A9C0231}"/>
              </a:ext>
            </a:extLst>
          </p:cNvPr>
          <p:cNvPicPr>
            <a:picLocks noChangeAspect="1"/>
          </p:cNvPicPr>
          <p:nvPr/>
        </p:nvPicPr>
        <p:blipFill>
          <a:blip r:embed="rId4"/>
          <a:stretch>
            <a:fillRect/>
          </a:stretch>
        </p:blipFill>
        <p:spPr>
          <a:xfrm>
            <a:off x="5946366" y="1383230"/>
            <a:ext cx="494349" cy="516950"/>
          </a:xfrm>
          <a:prstGeom prst="rect">
            <a:avLst/>
          </a:prstGeom>
        </p:spPr>
      </p:pic>
      <p:grpSp>
        <p:nvGrpSpPr>
          <p:cNvPr id="3" name="Group 2">
            <a:extLst>
              <a:ext uri="{FF2B5EF4-FFF2-40B4-BE49-F238E27FC236}">
                <a16:creationId xmlns:a16="http://schemas.microsoft.com/office/drawing/2014/main" id="{BB23AF59-7762-F25D-DC1B-B5A20C689078}"/>
              </a:ext>
            </a:extLst>
          </p:cNvPr>
          <p:cNvGrpSpPr/>
          <p:nvPr/>
        </p:nvGrpSpPr>
        <p:grpSpPr>
          <a:xfrm>
            <a:off x="969540" y="1343337"/>
            <a:ext cx="1453365" cy="606389"/>
            <a:chOff x="-965391" y="1379092"/>
            <a:chExt cx="1574479" cy="656921"/>
          </a:xfrm>
        </p:grpSpPr>
        <p:sp>
          <p:nvSpPr>
            <p:cNvPr id="10" name="직사각형 119">
              <a:extLst>
                <a:ext uri="{FF2B5EF4-FFF2-40B4-BE49-F238E27FC236}">
                  <a16:creationId xmlns:a16="http://schemas.microsoft.com/office/drawing/2014/main" id="{35F73842-84CF-B998-69AD-12FDC8F6F62C}"/>
                </a:ext>
              </a:extLst>
            </p:cNvPr>
            <p:cNvSpPr/>
            <p:nvPr/>
          </p:nvSpPr>
          <p:spPr>
            <a:xfrm>
              <a:off x="-426938" y="1379092"/>
              <a:ext cx="1036024" cy="326331"/>
            </a:xfrm>
            <a:prstGeom prst="rect">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a:lnSpc>
                  <a:spcPts val="1200"/>
                </a:lnSpc>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Prod. Head</a:t>
              </a:r>
            </a:p>
          </p:txBody>
        </p:sp>
        <p:sp>
          <p:nvSpPr>
            <p:cNvPr id="14" name="직사각형 124">
              <a:extLst>
                <a:ext uri="{FF2B5EF4-FFF2-40B4-BE49-F238E27FC236}">
                  <a16:creationId xmlns:a16="http://schemas.microsoft.com/office/drawing/2014/main" id="{FC685947-EE0C-4002-AAFC-E5CF9018C7EE}"/>
                </a:ext>
              </a:extLst>
            </p:cNvPr>
            <p:cNvSpPr/>
            <p:nvPr/>
          </p:nvSpPr>
          <p:spPr>
            <a:xfrm>
              <a:off x="-424693" y="1709682"/>
              <a:ext cx="1033781" cy="326331"/>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Hyung Jin Jung</a:t>
              </a:r>
            </a:p>
          </p:txBody>
        </p:sp>
        <p:sp>
          <p:nvSpPr>
            <p:cNvPr id="16" name="직사각형 203">
              <a:extLst>
                <a:ext uri="{FF2B5EF4-FFF2-40B4-BE49-F238E27FC236}">
                  <a16:creationId xmlns:a16="http://schemas.microsoft.com/office/drawing/2014/main" id="{D23ED04E-C23C-AD19-F55F-F180CBAB6815}"/>
                </a:ext>
              </a:extLst>
            </p:cNvPr>
            <p:cNvSpPr/>
            <p:nvPr/>
          </p:nvSpPr>
          <p:spPr>
            <a:xfrm>
              <a:off x="-965391" y="1379093"/>
              <a:ext cx="541912" cy="656918"/>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923" b="1" noProof="0" dirty="0">
                  <a:solidFill>
                    <a:prstClr val="white">
                      <a:lumMod val="50000"/>
                    </a:prstClr>
                  </a:solidFill>
                  <a:latin typeface="Arial Narrow" panose="020B0606020202030204" pitchFamily="34" charset="0"/>
                  <a:ea typeface="LG스마트체 Regular" panose="020B0600000101010101" pitchFamily="50" charset="-127"/>
                </a:rPr>
                <a:t>(photo)</a:t>
              </a:r>
            </a:p>
          </p:txBody>
        </p:sp>
        <p:pic>
          <p:nvPicPr>
            <p:cNvPr id="17" name="Picture 16">
              <a:extLst>
                <a:ext uri="{FF2B5EF4-FFF2-40B4-BE49-F238E27FC236}">
                  <a16:creationId xmlns:a16="http://schemas.microsoft.com/office/drawing/2014/main" id="{86B12EEB-FBE6-1222-942E-6218E2040604}"/>
                </a:ext>
              </a:extLst>
            </p:cNvPr>
            <p:cNvPicPr>
              <a:picLocks noChangeAspect="1"/>
            </p:cNvPicPr>
            <p:nvPr/>
          </p:nvPicPr>
          <p:blipFill rotWithShape="1">
            <a:blip r:embed="rId5"/>
            <a:srcRect l="8708" r="1"/>
            <a:stretch/>
          </p:blipFill>
          <p:spPr>
            <a:xfrm>
              <a:off x="-946598" y="1403919"/>
              <a:ext cx="511013" cy="612648"/>
            </a:xfrm>
            <a:prstGeom prst="rect">
              <a:avLst/>
            </a:prstGeom>
          </p:spPr>
        </p:pic>
      </p:grpSp>
      <p:grpSp>
        <p:nvGrpSpPr>
          <p:cNvPr id="18" name="Group 17">
            <a:extLst>
              <a:ext uri="{FF2B5EF4-FFF2-40B4-BE49-F238E27FC236}">
                <a16:creationId xmlns:a16="http://schemas.microsoft.com/office/drawing/2014/main" id="{13CB5347-280C-2773-7064-A042FD3DD07B}"/>
              </a:ext>
            </a:extLst>
          </p:cNvPr>
          <p:cNvGrpSpPr/>
          <p:nvPr/>
        </p:nvGrpSpPr>
        <p:grpSpPr>
          <a:xfrm>
            <a:off x="2457625" y="1343337"/>
            <a:ext cx="1453365" cy="606389"/>
            <a:chOff x="1255483" y="1508476"/>
            <a:chExt cx="1574479" cy="656921"/>
          </a:xfrm>
        </p:grpSpPr>
        <p:sp>
          <p:nvSpPr>
            <p:cNvPr id="23" name="직사각형 119">
              <a:extLst>
                <a:ext uri="{FF2B5EF4-FFF2-40B4-BE49-F238E27FC236}">
                  <a16:creationId xmlns:a16="http://schemas.microsoft.com/office/drawing/2014/main" id="{1F18A6D8-26B1-C9FE-8590-3E278F730FAD}"/>
                </a:ext>
              </a:extLst>
            </p:cNvPr>
            <p:cNvSpPr/>
            <p:nvPr/>
          </p:nvSpPr>
          <p:spPr>
            <a:xfrm>
              <a:off x="1793936" y="1508476"/>
              <a:ext cx="1036024" cy="326331"/>
            </a:xfrm>
            <a:prstGeom prst="rect">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a:lnSpc>
                  <a:spcPts val="1200"/>
                </a:lnSpc>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CFO</a:t>
              </a:r>
            </a:p>
          </p:txBody>
        </p:sp>
        <p:sp>
          <p:nvSpPr>
            <p:cNvPr id="26" name="직사각형 124">
              <a:extLst>
                <a:ext uri="{FF2B5EF4-FFF2-40B4-BE49-F238E27FC236}">
                  <a16:creationId xmlns:a16="http://schemas.microsoft.com/office/drawing/2014/main" id="{1A6653B5-D9DD-1BB6-A532-529746C5F39B}"/>
                </a:ext>
              </a:extLst>
            </p:cNvPr>
            <p:cNvSpPr/>
            <p:nvPr/>
          </p:nvSpPr>
          <p:spPr>
            <a:xfrm>
              <a:off x="1796181" y="1839066"/>
              <a:ext cx="1033781" cy="326331"/>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Kwangik Son</a:t>
              </a:r>
            </a:p>
          </p:txBody>
        </p:sp>
        <p:sp>
          <p:nvSpPr>
            <p:cNvPr id="27" name="직사각형 203">
              <a:extLst>
                <a:ext uri="{FF2B5EF4-FFF2-40B4-BE49-F238E27FC236}">
                  <a16:creationId xmlns:a16="http://schemas.microsoft.com/office/drawing/2014/main" id="{F883663C-B277-ACB2-AC62-4FE4F482166E}"/>
                </a:ext>
              </a:extLst>
            </p:cNvPr>
            <p:cNvSpPr/>
            <p:nvPr/>
          </p:nvSpPr>
          <p:spPr>
            <a:xfrm>
              <a:off x="1255483" y="1508477"/>
              <a:ext cx="541912" cy="656918"/>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923" b="1" noProof="0" dirty="0">
                  <a:solidFill>
                    <a:prstClr val="white">
                      <a:lumMod val="50000"/>
                    </a:prstClr>
                  </a:solidFill>
                  <a:latin typeface="Arial Narrow" panose="020B0606020202030204" pitchFamily="34" charset="0"/>
                  <a:ea typeface="LG스마트체 Regular" panose="020B0600000101010101" pitchFamily="50" charset="-127"/>
                </a:rPr>
                <a:t>(photo)</a:t>
              </a:r>
            </a:p>
          </p:txBody>
        </p:sp>
        <p:pic>
          <p:nvPicPr>
            <p:cNvPr id="28" name="Picture 27">
              <a:extLst>
                <a:ext uri="{FF2B5EF4-FFF2-40B4-BE49-F238E27FC236}">
                  <a16:creationId xmlns:a16="http://schemas.microsoft.com/office/drawing/2014/main" id="{E2455777-6D5F-C2F3-B4CF-74905F952837}"/>
                </a:ext>
              </a:extLst>
            </p:cNvPr>
            <p:cNvPicPr>
              <a:picLocks/>
            </p:cNvPicPr>
            <p:nvPr/>
          </p:nvPicPr>
          <p:blipFill>
            <a:blip r:embed="rId6"/>
            <a:stretch>
              <a:fillRect/>
            </a:stretch>
          </p:blipFill>
          <p:spPr>
            <a:xfrm>
              <a:off x="1285085" y="1539117"/>
              <a:ext cx="493776" cy="612648"/>
            </a:xfrm>
            <a:prstGeom prst="rect">
              <a:avLst/>
            </a:prstGeom>
          </p:spPr>
        </p:pic>
      </p:grpSp>
      <p:sp>
        <p:nvSpPr>
          <p:cNvPr id="29" name="Text Box 2">
            <a:extLst>
              <a:ext uri="{FF2B5EF4-FFF2-40B4-BE49-F238E27FC236}">
                <a16:creationId xmlns:a16="http://schemas.microsoft.com/office/drawing/2014/main" id="{0E577DFD-47B0-81D4-DF6D-AE24B6180A43}"/>
              </a:ext>
            </a:extLst>
          </p:cNvPr>
          <p:cNvSpPr txBox="1">
            <a:spLocks noChangeArrowheads="1"/>
          </p:cNvSpPr>
          <p:nvPr/>
        </p:nvSpPr>
        <p:spPr bwMode="auto">
          <a:xfrm>
            <a:off x="6202249" y="3447587"/>
            <a:ext cx="410369" cy="156197"/>
          </a:xfrm>
          <a:prstGeom prst="rect">
            <a:avLst/>
          </a:prstGeom>
          <a:noFill/>
          <a:ln w="3175" algn="ctr">
            <a:noFill/>
            <a:miter lim="800000"/>
            <a:headEnd/>
            <a:tailEnd/>
          </a:ln>
        </p:spPr>
        <p:txBody>
          <a:bodyPr wrap="none" lIns="0" tIns="0" rIns="0" bIns="0">
            <a:spAutoFit/>
          </a:bodyPr>
          <a:lstStyle/>
          <a:p>
            <a:pPr fontAlgn="base" latinLnBrk="1">
              <a:spcBef>
                <a:spcPct val="0"/>
              </a:spcBef>
              <a:spcAft>
                <a:spcPct val="0"/>
              </a:spcAft>
            </a:pPr>
            <a:r>
              <a:rPr kumimoji="1" lang="en-US" sz="1015" b="1" noProof="0" dirty="0">
                <a:solidFill>
                  <a:srgbClr val="006600"/>
                </a:solidFill>
                <a:latin typeface="Arial Narrow" panose="020B0606020202030204" pitchFamily="34" charset="0"/>
                <a:ea typeface="LG스마트체 Regular" panose="020B0600000101010101" pitchFamily="50" charset="-127"/>
                <a:cs typeface="Arial" pitchFamily="34" charset="0"/>
              </a:rPr>
              <a:t>Support</a:t>
            </a:r>
          </a:p>
        </p:txBody>
      </p:sp>
      <p:pic>
        <p:nvPicPr>
          <p:cNvPr id="8" name="Picture 7">
            <a:extLst>
              <a:ext uri="{FF2B5EF4-FFF2-40B4-BE49-F238E27FC236}">
                <a16:creationId xmlns:a16="http://schemas.microsoft.com/office/drawing/2014/main" id="{D8678239-172D-7B04-9A42-5EDAF537030F}"/>
              </a:ext>
            </a:extLst>
          </p:cNvPr>
          <p:cNvPicPr>
            <a:picLocks noChangeAspect="1"/>
          </p:cNvPicPr>
          <p:nvPr/>
        </p:nvPicPr>
        <p:blipFill>
          <a:blip r:embed="rId7"/>
          <a:stretch>
            <a:fillRect/>
          </a:stretch>
        </p:blipFill>
        <p:spPr>
          <a:xfrm>
            <a:off x="5757107" y="2827003"/>
            <a:ext cx="507483" cy="577622"/>
          </a:xfrm>
          <a:prstGeom prst="rect">
            <a:avLst/>
          </a:prstGeom>
        </p:spPr>
      </p:pic>
      <p:cxnSp>
        <p:nvCxnSpPr>
          <p:cNvPr id="33" name="Straight Connector 32">
            <a:extLst>
              <a:ext uri="{FF2B5EF4-FFF2-40B4-BE49-F238E27FC236}">
                <a16:creationId xmlns:a16="http://schemas.microsoft.com/office/drawing/2014/main" id="{516691F9-37F1-DFB0-F268-1344C88311E5}"/>
              </a:ext>
            </a:extLst>
          </p:cNvPr>
          <p:cNvCxnSpPr>
            <a:cxnSpLocks/>
          </p:cNvCxnSpPr>
          <p:nvPr/>
        </p:nvCxnSpPr>
        <p:spPr bwMode="auto">
          <a:xfrm flipH="1">
            <a:off x="5674674" y="2241400"/>
            <a:ext cx="6288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FAA66E55-FAA1-06C1-2D50-24B198AED1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02139" y="1398729"/>
            <a:ext cx="516042" cy="516042"/>
          </a:xfrm>
          <a:prstGeom prst="rect">
            <a:avLst/>
          </a:prstGeom>
        </p:spPr>
      </p:pic>
      <p:grpSp>
        <p:nvGrpSpPr>
          <p:cNvPr id="30" name="Group 29">
            <a:extLst>
              <a:ext uri="{FF2B5EF4-FFF2-40B4-BE49-F238E27FC236}">
                <a16:creationId xmlns:a16="http://schemas.microsoft.com/office/drawing/2014/main" id="{F7B58101-8E18-322B-DC88-9B50C7576D09}"/>
              </a:ext>
            </a:extLst>
          </p:cNvPr>
          <p:cNvGrpSpPr/>
          <p:nvPr/>
        </p:nvGrpSpPr>
        <p:grpSpPr>
          <a:xfrm>
            <a:off x="7310046" y="1343337"/>
            <a:ext cx="1453473" cy="606389"/>
            <a:chOff x="7600142" y="1724684"/>
            <a:chExt cx="1574595" cy="656921"/>
          </a:xfrm>
        </p:grpSpPr>
        <p:sp>
          <p:nvSpPr>
            <p:cNvPr id="36" name="직사각형 110">
              <a:extLst>
                <a:ext uri="{FF2B5EF4-FFF2-40B4-BE49-F238E27FC236}">
                  <a16:creationId xmlns:a16="http://schemas.microsoft.com/office/drawing/2014/main" id="{C0E3AFB9-62D1-273C-37AF-56F114B928C1}"/>
                </a:ext>
              </a:extLst>
            </p:cNvPr>
            <p:cNvSpPr/>
            <p:nvPr/>
          </p:nvSpPr>
          <p:spPr>
            <a:xfrm>
              <a:off x="7600142" y="1724684"/>
              <a:ext cx="541912" cy="656918"/>
            </a:xfrm>
            <a:prstGeom prst="rect">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endParaRPr kumimoji="1" lang="en-US" sz="923" b="1" noProof="0" dirty="0">
                <a:solidFill>
                  <a:prstClr val="white">
                    <a:lumMod val="50000"/>
                  </a:prstClr>
                </a:solidFill>
                <a:latin typeface="Arial Narrow" panose="020B0606020202030204" pitchFamily="34" charset="0"/>
                <a:ea typeface="LG스마트체 Regular" panose="020B0600000101010101" pitchFamily="50" charset="-127"/>
              </a:endParaRPr>
            </a:p>
          </p:txBody>
        </p:sp>
        <p:sp>
          <p:nvSpPr>
            <p:cNvPr id="37" name="직사각형 126">
              <a:extLst>
                <a:ext uri="{FF2B5EF4-FFF2-40B4-BE49-F238E27FC236}">
                  <a16:creationId xmlns:a16="http://schemas.microsoft.com/office/drawing/2014/main" id="{B94CB760-3B4F-C70D-6D95-096279FE2AC0}"/>
                </a:ext>
              </a:extLst>
            </p:cNvPr>
            <p:cNvSpPr/>
            <p:nvPr/>
          </p:nvSpPr>
          <p:spPr>
            <a:xfrm>
              <a:off x="8142054" y="2055274"/>
              <a:ext cx="1032683" cy="326331"/>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Gyoung Ho Son</a:t>
              </a:r>
            </a:p>
          </p:txBody>
        </p:sp>
        <p:sp>
          <p:nvSpPr>
            <p:cNvPr id="39" name="직사각형 127">
              <a:extLst>
                <a:ext uri="{FF2B5EF4-FFF2-40B4-BE49-F238E27FC236}">
                  <a16:creationId xmlns:a16="http://schemas.microsoft.com/office/drawing/2014/main" id="{83BE7022-FAED-1982-32B0-56F39851F126}"/>
                </a:ext>
              </a:extLst>
            </p:cNvPr>
            <p:cNvSpPr/>
            <p:nvPr/>
          </p:nvSpPr>
          <p:spPr>
            <a:xfrm>
              <a:off x="8142054" y="1724684"/>
              <a:ext cx="1032683" cy="326331"/>
            </a:xfrm>
            <a:prstGeom prst="rect">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a:lnSpc>
                  <a:spcPts val="1200"/>
                </a:lnSpc>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PE Team</a:t>
              </a:r>
            </a:p>
          </p:txBody>
        </p:sp>
      </p:grpSp>
      <p:grpSp>
        <p:nvGrpSpPr>
          <p:cNvPr id="43" name="Group 42">
            <a:extLst>
              <a:ext uri="{FF2B5EF4-FFF2-40B4-BE49-F238E27FC236}">
                <a16:creationId xmlns:a16="http://schemas.microsoft.com/office/drawing/2014/main" id="{1D44C817-9F4C-E01D-FC99-323E701A621A}"/>
              </a:ext>
            </a:extLst>
          </p:cNvPr>
          <p:cNvGrpSpPr/>
          <p:nvPr/>
        </p:nvGrpSpPr>
        <p:grpSpPr>
          <a:xfrm>
            <a:off x="5655820" y="2812653"/>
            <a:ext cx="1882650" cy="606389"/>
            <a:chOff x="7600142" y="1724684"/>
            <a:chExt cx="1574595" cy="656921"/>
          </a:xfrm>
        </p:grpSpPr>
        <p:sp>
          <p:nvSpPr>
            <p:cNvPr id="44" name="직사각형 110">
              <a:extLst>
                <a:ext uri="{FF2B5EF4-FFF2-40B4-BE49-F238E27FC236}">
                  <a16:creationId xmlns:a16="http://schemas.microsoft.com/office/drawing/2014/main" id="{0648006C-2754-5464-CB2F-A69B4D871584}"/>
                </a:ext>
              </a:extLst>
            </p:cNvPr>
            <p:cNvSpPr/>
            <p:nvPr/>
          </p:nvSpPr>
          <p:spPr>
            <a:xfrm>
              <a:off x="7600142" y="1724684"/>
              <a:ext cx="541912" cy="656918"/>
            </a:xfrm>
            <a:prstGeom prst="rect">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endParaRPr kumimoji="1" lang="en-US" sz="923" b="1" noProof="0" dirty="0">
                <a:solidFill>
                  <a:prstClr val="white">
                    <a:lumMod val="50000"/>
                  </a:prstClr>
                </a:solidFill>
                <a:latin typeface="Arial Narrow" panose="020B0606020202030204" pitchFamily="34" charset="0"/>
                <a:ea typeface="LG스마트체 Regular" panose="020B0600000101010101" pitchFamily="50" charset="-127"/>
              </a:endParaRPr>
            </a:p>
          </p:txBody>
        </p:sp>
        <p:sp>
          <p:nvSpPr>
            <p:cNvPr id="50" name="직사각형 126">
              <a:extLst>
                <a:ext uri="{FF2B5EF4-FFF2-40B4-BE49-F238E27FC236}">
                  <a16:creationId xmlns:a16="http://schemas.microsoft.com/office/drawing/2014/main" id="{71E6ADBD-5758-249C-6A16-CB12B6145D54}"/>
                </a:ext>
              </a:extLst>
            </p:cNvPr>
            <p:cNvSpPr/>
            <p:nvPr/>
          </p:nvSpPr>
          <p:spPr>
            <a:xfrm>
              <a:off x="8142054" y="2055274"/>
              <a:ext cx="1032683" cy="326331"/>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latinLnBrk="1">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Gianluca Leonarduzzi</a:t>
              </a:r>
            </a:p>
          </p:txBody>
        </p:sp>
        <p:sp>
          <p:nvSpPr>
            <p:cNvPr id="51" name="직사각형 127">
              <a:extLst>
                <a:ext uri="{FF2B5EF4-FFF2-40B4-BE49-F238E27FC236}">
                  <a16:creationId xmlns:a16="http://schemas.microsoft.com/office/drawing/2014/main" id="{E0FE898A-AB08-914A-3A43-A5E115F7B8F9}"/>
                </a:ext>
              </a:extLst>
            </p:cNvPr>
            <p:cNvSpPr/>
            <p:nvPr/>
          </p:nvSpPr>
          <p:spPr>
            <a:xfrm>
              <a:off x="8142054" y="1724684"/>
              <a:ext cx="1032683" cy="326331"/>
            </a:xfrm>
            <a:prstGeom prst="rect">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fontAlgn="base">
                <a:lnSpc>
                  <a:spcPts val="1200"/>
                </a:lnSpc>
                <a:spcBef>
                  <a:spcPct val="0"/>
                </a:spcBef>
                <a:spcAft>
                  <a:spcPct val="0"/>
                </a:spcAft>
              </a:pPr>
              <a:r>
                <a:rPr kumimoji="1" lang="en-US" sz="1108" b="1" noProof="0" dirty="0">
                  <a:solidFill>
                    <a:prstClr val="black"/>
                  </a:solidFill>
                  <a:latin typeface="Arial Narrow" panose="020B0606020202030204" pitchFamily="34" charset="0"/>
                  <a:ea typeface="LG스마트체 Regular" panose="020B0600000101010101" pitchFamily="50" charset="-127"/>
                </a:rPr>
                <a:t>PE Team</a:t>
              </a:r>
            </a:p>
          </p:txBody>
        </p:sp>
      </p:grpSp>
    </p:spTree>
    <p:extLst>
      <p:ext uri="{BB962C8B-B14F-4D97-AF65-F5344CB8AC3E}">
        <p14:creationId xmlns:p14="http://schemas.microsoft.com/office/powerpoint/2010/main" val="2391164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37">
            <a:extLst>
              <a:ext uri="{FF2B5EF4-FFF2-40B4-BE49-F238E27FC236}">
                <a16:creationId xmlns:a16="http://schemas.microsoft.com/office/drawing/2014/main" id="{CDFC3F81-0BA3-C030-40B1-014C58F23198}"/>
              </a:ext>
            </a:extLst>
          </p:cNvPr>
          <p:cNvSpPr txBox="1">
            <a:spLocks noChangeArrowheads="1"/>
          </p:cNvSpPr>
          <p:nvPr/>
        </p:nvSpPr>
        <p:spPr bwMode="gray">
          <a:xfrm>
            <a:off x="448886" y="65731"/>
            <a:ext cx="2460007" cy="39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3077" tIns="43200" rIns="83077" bIns="43200" anchor="ctr">
            <a:spAutoFit/>
          </a:bodyPr>
          <a:lstStyle>
            <a:lvl1pPr eaLnBrk="0" hangingPunct="0">
              <a:defRPr kumimoji="1" sz="1200" b="1">
                <a:solidFill>
                  <a:schemeClr val="tx1"/>
                </a:solidFill>
                <a:latin typeface="Arial" charset="0"/>
                <a:ea typeface="돋움" pitchFamily="50" charset="-127"/>
              </a:defRPr>
            </a:lvl1pPr>
            <a:lvl2pPr marL="742950" indent="-285750" eaLnBrk="0" hangingPunct="0">
              <a:defRPr kumimoji="1" sz="1200" b="1">
                <a:solidFill>
                  <a:schemeClr val="tx1"/>
                </a:solidFill>
                <a:latin typeface="Arial" charset="0"/>
                <a:ea typeface="돋움" pitchFamily="50" charset="-127"/>
              </a:defRPr>
            </a:lvl2pPr>
            <a:lvl3pPr marL="1143000" indent="-228600" eaLnBrk="0" hangingPunct="0">
              <a:defRPr kumimoji="1" sz="1200" b="1">
                <a:solidFill>
                  <a:schemeClr val="tx1"/>
                </a:solidFill>
                <a:latin typeface="Arial" charset="0"/>
                <a:ea typeface="돋움" pitchFamily="50" charset="-127"/>
              </a:defRPr>
            </a:lvl3pPr>
            <a:lvl4pPr marL="1600200" indent="-228600" eaLnBrk="0" hangingPunct="0">
              <a:defRPr kumimoji="1" sz="1200" b="1">
                <a:solidFill>
                  <a:schemeClr val="tx1"/>
                </a:solidFill>
                <a:latin typeface="Arial" charset="0"/>
                <a:ea typeface="돋움" pitchFamily="50" charset="-127"/>
              </a:defRPr>
            </a:lvl4pPr>
            <a:lvl5pPr marL="2057400" indent="-228600" eaLnBrk="0" hangingPunct="0">
              <a:defRPr kumimoji="1" sz="1200" b="1">
                <a:solidFill>
                  <a:schemeClr val="tx1"/>
                </a:solidFill>
                <a:latin typeface="Arial" charset="0"/>
                <a:ea typeface="돋움" pitchFamily="50" charset="-127"/>
              </a:defRPr>
            </a:lvl5pPr>
            <a:lvl6pPr marL="25146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6pPr>
            <a:lvl7pPr marL="29718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7pPr>
            <a:lvl8pPr marL="34290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8pPr>
            <a:lvl9pPr marL="38862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9pPr>
          </a:lstStyle>
          <a:p>
            <a:pPr marL="0" marR="0" lvl="0" indent="0" algn="l" defTabSz="952799" rtl="0" eaLnBrk="0" fontAlgn="auto" latinLnBrk="1" hangingPunct="0">
              <a:lnSpc>
                <a:spcPct val="100000"/>
              </a:lnSpc>
              <a:spcBef>
                <a:spcPts val="0"/>
              </a:spcBef>
              <a:spcAft>
                <a:spcPts val="0"/>
              </a:spcAft>
              <a:buClrTx/>
              <a:buSzTx/>
              <a:buFontTx/>
              <a:buNone/>
              <a:tabLst/>
              <a:defRPr/>
            </a:pPr>
            <a:r>
              <a:rPr kumimoji="1" lang="en-US" sz="2000" b="1" i="0" u="none" strike="noStrike" kern="1200" cap="none" spc="0" normalizeH="0" baseline="0" noProof="0" dirty="0">
                <a:ln>
                  <a:noFill/>
                </a:ln>
                <a:solidFill>
                  <a:prstClr val="black"/>
                </a:solidFill>
                <a:effectLst/>
                <a:uLnTx/>
                <a:uFillTx/>
                <a:latin typeface="Arial Narrow" panose="020B0606020202030204" pitchFamily="34" charset="0"/>
                <a:ea typeface="돋움" pitchFamily="50" charset="-127"/>
                <a:cs typeface="+mn-cs"/>
              </a:rPr>
              <a:t>Project AS-IS to TO-BE</a:t>
            </a:r>
          </a:p>
        </p:txBody>
      </p:sp>
      <p:sp>
        <p:nvSpPr>
          <p:cNvPr id="7" name="텍스트 개체 틀 4">
            <a:extLst>
              <a:ext uri="{FF2B5EF4-FFF2-40B4-BE49-F238E27FC236}">
                <a16:creationId xmlns:a16="http://schemas.microsoft.com/office/drawing/2014/main" id="{0B3EB781-2CD0-9B14-C50F-0A2EBC0D1134}"/>
              </a:ext>
            </a:extLst>
          </p:cNvPr>
          <p:cNvSpPr txBox="1">
            <a:spLocks/>
          </p:cNvSpPr>
          <p:nvPr/>
        </p:nvSpPr>
        <p:spPr>
          <a:xfrm>
            <a:off x="421380" y="537721"/>
            <a:ext cx="7667956" cy="286232"/>
          </a:xfrm>
          <a:prstGeom prst="rect">
            <a:avLst/>
          </a:prstGeom>
        </p:spPr>
        <p:txBody>
          <a:bodyPr wrap="square">
            <a:spAutoFit/>
          </a:bodyPr>
          <a:lstStyle>
            <a:lvl1pPr marL="354013" indent="-354013" algn="l" defTabSz="903091" rtl="0" eaLnBrk="1" latinLnBrk="1" hangingPunct="1">
              <a:spcBef>
                <a:spcPct val="20000"/>
              </a:spcBef>
              <a:buFont typeface="Wingdings" panose="05000000000000000000" pitchFamily="2" charset="2"/>
              <a:buChar char="q"/>
              <a:defRPr sz="1400" kern="1200">
                <a:solidFill>
                  <a:schemeClr val="tx1"/>
                </a:solidFill>
                <a:latin typeface="LG스마트체2.0 Regular" panose="020B0600000101010101" pitchFamily="50" charset="-127"/>
                <a:ea typeface="LG스마트체2.0 Regular" panose="020B0600000101010101" pitchFamily="50" charset="-127"/>
                <a:cs typeface="+mn-cs"/>
              </a:defRPr>
            </a:lvl1pPr>
            <a:lvl2pPr marL="719138" indent="-365125" algn="l" defTabSz="903091" rtl="0" eaLnBrk="1" latinLnBrk="1" hangingPunct="1">
              <a:spcBef>
                <a:spcPct val="20000"/>
              </a:spcBef>
              <a:buFont typeface="Arial" panose="020B0604020202020204" pitchFamily="34" charset="0"/>
              <a:buChar char="–"/>
              <a:defRPr sz="1200" kern="1200" baseline="0">
                <a:solidFill>
                  <a:schemeClr val="tx1"/>
                </a:solidFill>
                <a:latin typeface="LG스마트체2.0 Regular" panose="020B0600000101010101" pitchFamily="50" charset="-127"/>
                <a:ea typeface="LG스마트체2.0 Regular" panose="020B0600000101010101" pitchFamily="50" charset="-127"/>
                <a:cs typeface="+mn-cs"/>
              </a:defRPr>
            </a:lvl2pPr>
            <a:lvl3pPr marL="1128864" indent="-225773" algn="l" defTabSz="903091" rtl="0" eaLnBrk="1" latinLnBrk="1" hangingPunct="1">
              <a:spcBef>
                <a:spcPct val="20000"/>
              </a:spcBef>
              <a:buFont typeface="Arial" panose="020B0604020202020204" pitchFamily="34" charset="0"/>
              <a:buChar char="•"/>
              <a:defRPr sz="2358" kern="1200">
                <a:solidFill>
                  <a:schemeClr val="tx1"/>
                </a:solidFill>
                <a:latin typeface="+mn-lt"/>
                <a:ea typeface="+mn-ea"/>
                <a:cs typeface="+mn-cs"/>
              </a:defRPr>
            </a:lvl3pPr>
            <a:lvl4pPr marL="1580409"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4pPr>
            <a:lvl5pPr marL="2031955"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5pPr>
            <a:lvl6pPr marL="2483500"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6pPr>
            <a:lvl7pPr marL="2935046"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7pPr>
            <a:lvl8pPr marL="3386591"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8pPr>
            <a:lvl9pPr marL="3838136"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9pPr>
          </a:lstStyle>
          <a:p>
            <a:pPr marL="0" indent="0">
              <a:lnSpc>
                <a:spcPct val="90000"/>
              </a:lnSpc>
            </a:pPr>
            <a:r>
              <a:rPr lang="en-US" b="1" noProof="0" dirty="0">
                <a:latin typeface="Arial Narrow" panose="020B0606020202030204" pitchFamily="34" charset="0"/>
                <a:ea typeface="LG스마트체 Regular" panose="020B0600000101010101" pitchFamily="50" charset="-127"/>
              </a:rPr>
              <a:t> □ 업무 프로세스 요약 및 설명  /  Process Summary &amp; Description</a:t>
            </a:r>
          </a:p>
        </p:txBody>
      </p:sp>
      <p:cxnSp>
        <p:nvCxnSpPr>
          <p:cNvPr id="49" name="직선 연결선 62">
            <a:extLst>
              <a:ext uri="{FF2B5EF4-FFF2-40B4-BE49-F238E27FC236}">
                <a16:creationId xmlns:a16="http://schemas.microsoft.com/office/drawing/2014/main" id="{6D4F3BAE-906E-269C-8D17-1215FC2138B3}"/>
              </a:ext>
            </a:extLst>
          </p:cNvPr>
          <p:cNvCxnSpPr>
            <a:cxnSpLocks/>
          </p:cNvCxnSpPr>
          <p:nvPr/>
        </p:nvCxnSpPr>
        <p:spPr>
          <a:xfrm>
            <a:off x="1098529" y="1361812"/>
            <a:ext cx="2610000" cy="0"/>
          </a:xfrm>
          <a:prstGeom prst="line">
            <a:avLst/>
          </a:prstGeom>
          <a:noFill/>
          <a:ln w="9525" cap="flat" cmpd="sng" algn="ctr">
            <a:solidFill>
              <a:sysClr val="window" lastClr="FFFFFF">
                <a:lumMod val="50000"/>
              </a:sysClr>
            </a:solidFill>
            <a:prstDash val="solid"/>
            <a:miter lim="800000"/>
          </a:ln>
          <a:effectLst/>
        </p:spPr>
      </p:cxnSp>
      <p:cxnSp>
        <p:nvCxnSpPr>
          <p:cNvPr id="50" name="직선 연결선 72">
            <a:extLst>
              <a:ext uri="{FF2B5EF4-FFF2-40B4-BE49-F238E27FC236}">
                <a16:creationId xmlns:a16="http://schemas.microsoft.com/office/drawing/2014/main" id="{F5D3BE51-A8CC-4831-920A-637A8CB75B0E}"/>
              </a:ext>
            </a:extLst>
          </p:cNvPr>
          <p:cNvCxnSpPr>
            <a:cxnSpLocks/>
          </p:cNvCxnSpPr>
          <p:nvPr/>
        </p:nvCxnSpPr>
        <p:spPr>
          <a:xfrm>
            <a:off x="3899499" y="1361812"/>
            <a:ext cx="2610000" cy="0"/>
          </a:xfrm>
          <a:prstGeom prst="line">
            <a:avLst/>
          </a:prstGeom>
          <a:noFill/>
          <a:ln w="9525" cap="flat" cmpd="sng" algn="ctr">
            <a:solidFill>
              <a:sysClr val="window" lastClr="FFFFFF">
                <a:lumMod val="50000"/>
              </a:sysClr>
            </a:solidFill>
            <a:prstDash val="solid"/>
            <a:miter lim="800000"/>
          </a:ln>
          <a:effectLst/>
        </p:spPr>
      </p:cxnSp>
      <p:sp>
        <p:nvSpPr>
          <p:cNvPr id="51" name="직사각형 73">
            <a:extLst>
              <a:ext uri="{FF2B5EF4-FFF2-40B4-BE49-F238E27FC236}">
                <a16:creationId xmlns:a16="http://schemas.microsoft.com/office/drawing/2014/main" id="{04DBA354-0758-98CA-29F6-67E1285927D0}"/>
              </a:ext>
            </a:extLst>
          </p:cNvPr>
          <p:cNvSpPr/>
          <p:nvPr/>
        </p:nvSpPr>
        <p:spPr>
          <a:xfrm>
            <a:off x="4979619" y="1115079"/>
            <a:ext cx="589995" cy="238335"/>
          </a:xfrm>
          <a:prstGeom prst="rect">
            <a:avLst/>
          </a:prstGeom>
          <a:noFill/>
          <a:ln>
            <a:noFill/>
          </a:ln>
        </p:spPr>
        <p:txBody>
          <a:bodyPr wrap="square" lIns="0" tIns="0" rIns="0" bIns="0">
            <a:spAutoFit/>
          </a:bodyPr>
          <a:lstStyle/>
          <a:p>
            <a:pPr algn="ctr">
              <a:lnSpc>
                <a:spcPct val="120000"/>
              </a:lnSpc>
              <a:spcBef>
                <a:spcPts val="600"/>
              </a:spcBef>
              <a:spcAft>
                <a:spcPts val="700"/>
              </a:spcAft>
              <a:defRPr/>
            </a:pPr>
            <a:r>
              <a:rPr kumimoji="1" lang="en-US" sz="1400" b="1" kern="0" noProof="0" dirty="0">
                <a:solidFill>
                  <a:prstClr val="black"/>
                </a:solidFill>
                <a:latin typeface="Arial Narrow" panose="020B0606020202030204" pitchFamily="34" charset="0"/>
                <a:ea typeface="LG스마트체 Regular"/>
                <a:cs typeface="Arial"/>
              </a:rPr>
              <a:t>TO-BE</a:t>
            </a:r>
          </a:p>
        </p:txBody>
      </p:sp>
      <p:sp>
        <p:nvSpPr>
          <p:cNvPr id="52" name="직사각형 13">
            <a:extLst>
              <a:ext uri="{FF2B5EF4-FFF2-40B4-BE49-F238E27FC236}">
                <a16:creationId xmlns:a16="http://schemas.microsoft.com/office/drawing/2014/main" id="{EBBD8148-C319-D903-637D-3C5F95552ED4}"/>
              </a:ext>
            </a:extLst>
          </p:cNvPr>
          <p:cNvSpPr/>
          <p:nvPr/>
        </p:nvSpPr>
        <p:spPr>
          <a:xfrm>
            <a:off x="466920" y="841190"/>
            <a:ext cx="8859653" cy="307777"/>
          </a:xfrm>
          <a:prstGeom prst="rect">
            <a:avLst/>
          </a:prstGeom>
        </p:spPr>
        <p:txBody>
          <a:bodyPr wrap="square" lIns="0" tIns="0" rIns="0" bIns="0" anchor="t">
            <a:spAutoFit/>
          </a:bodyPr>
          <a:lstStyle/>
          <a:p>
            <a:r>
              <a:rPr lang="en-US" sz="1000" b="1" noProof="0" dirty="0">
                <a:solidFill>
                  <a:srgbClr val="3D4A5C"/>
                </a:solidFill>
                <a:latin typeface="Arial Narrow" panose="020B0606020202030204" pitchFamily="34" charset="0"/>
                <a:ea typeface="Calibri" pitchFamily="34" charset="-122"/>
                <a:cs typeface="Calibri" pitchFamily="34" charset="-120"/>
              </a:rPr>
              <a:t>1) </a:t>
            </a:r>
            <a:r>
              <a:rPr lang="en-US" sz="1000" noProof="0" dirty="0">
                <a:solidFill>
                  <a:srgbClr val="3D4A5C"/>
                </a:solidFill>
                <a:latin typeface="Arial Narrow" panose="020B0606020202030204" pitchFamily="34" charset="0"/>
                <a:ea typeface="Calibri" pitchFamily="34" charset="-122"/>
                <a:cs typeface="Calibri" pitchFamily="34" charset="-120"/>
              </a:rPr>
              <a:t>Work order search time: ~5 hours → ~5 minutes  </a:t>
            </a:r>
            <a:r>
              <a:rPr lang="en-US" sz="1000" b="1" noProof="0" dirty="0">
                <a:solidFill>
                  <a:srgbClr val="008000"/>
                </a:solidFill>
                <a:latin typeface="Arial Narrow" panose="020B0606020202030204" pitchFamily="34" charset="0"/>
                <a:ea typeface="Calibri" pitchFamily="34" charset="-122"/>
                <a:cs typeface="Calibri" pitchFamily="34" charset="-120"/>
              </a:rPr>
              <a:t>(95% reduction / 95% 감소)  </a:t>
            </a:r>
            <a:r>
              <a:rPr lang="en-US" sz="1000" b="1" noProof="0" dirty="0">
                <a:solidFill>
                  <a:srgbClr val="C8102E"/>
                </a:solidFill>
                <a:latin typeface="Arial Narrow" panose="020B0606020202030204" pitchFamily="34" charset="0"/>
                <a:ea typeface="Calibri" pitchFamily="34" charset="-122"/>
                <a:cs typeface="Calibri" pitchFamily="34" charset="-120"/>
              </a:rPr>
              <a:t>|  </a:t>
            </a:r>
            <a:r>
              <a:rPr lang="en-US" sz="1000" b="1" noProof="0" dirty="0">
                <a:solidFill>
                  <a:srgbClr val="3D4A5C"/>
                </a:solidFill>
                <a:latin typeface="Arial Narrow" panose="020B0606020202030204" pitchFamily="34" charset="0"/>
                <a:ea typeface="Calibri" pitchFamily="34" charset="-122"/>
                <a:cs typeface="Calibri" pitchFamily="34" charset="-120"/>
              </a:rPr>
              <a:t>2) </a:t>
            </a:r>
            <a:r>
              <a:rPr lang="en-US" sz="1000" noProof="0" dirty="0">
                <a:solidFill>
                  <a:srgbClr val="3D4A5C"/>
                </a:solidFill>
                <a:latin typeface="Arial Narrow" panose="020B0606020202030204" pitchFamily="34" charset="0"/>
                <a:ea typeface="Calibri" pitchFamily="34" charset="-122"/>
                <a:cs typeface="Calibri" pitchFamily="34" charset="-120"/>
              </a:rPr>
              <a:t>Case compilation: ~90 min → ~2 </a:t>
            </a:r>
            <a:r>
              <a:rPr lang="en-US" sz="1000" noProof="0" dirty="0">
                <a:solidFill>
                  <a:srgbClr val="008000"/>
                </a:solidFill>
                <a:latin typeface="Arial Narrow" panose="020B0606020202030204" pitchFamily="34" charset="0"/>
                <a:ea typeface="Calibri" pitchFamily="34" charset="-122"/>
                <a:cs typeface="Calibri" pitchFamily="34" charset="-120"/>
              </a:rPr>
              <a:t>min  </a:t>
            </a:r>
            <a:r>
              <a:rPr lang="en-US" sz="1000" b="1" noProof="0" dirty="0">
                <a:solidFill>
                  <a:srgbClr val="008000"/>
                </a:solidFill>
                <a:latin typeface="Arial Narrow" panose="020B0606020202030204" pitchFamily="34" charset="0"/>
                <a:ea typeface="Calibri" pitchFamily="34" charset="-122"/>
                <a:cs typeface="Calibri" pitchFamily="34" charset="-120"/>
              </a:rPr>
              <a:t>(97% reduction / 97% 감소)  |  </a:t>
            </a:r>
            <a:r>
              <a:rPr lang="en-US" sz="1000" b="1" noProof="0" dirty="0">
                <a:solidFill>
                  <a:srgbClr val="3D4A5C"/>
                </a:solidFill>
                <a:latin typeface="Arial Narrow" panose="020B0606020202030204" pitchFamily="34" charset="0"/>
                <a:ea typeface="Calibri" pitchFamily="34" charset="-122"/>
                <a:cs typeface="Calibri" pitchFamily="34" charset="-120"/>
              </a:rPr>
              <a:t>3) </a:t>
            </a:r>
            <a:r>
              <a:rPr lang="en-US" sz="1000" noProof="0" dirty="0">
                <a:solidFill>
                  <a:srgbClr val="3D4A5C"/>
                </a:solidFill>
                <a:latin typeface="Arial Narrow" panose="020B0606020202030204" pitchFamily="34" charset="0"/>
                <a:ea typeface="Calibri" pitchFamily="34" charset="-122"/>
                <a:cs typeface="Calibri" pitchFamily="34" charset="-120"/>
              </a:rPr>
              <a:t>Recurrence check: ~60 min → ~3 min</a:t>
            </a:r>
            <a:r>
              <a:rPr lang="en-US" sz="1000" b="1" noProof="0" dirty="0">
                <a:solidFill>
                  <a:srgbClr val="C8102E"/>
                </a:solidFill>
                <a:latin typeface="Arial Narrow" panose="020B0606020202030204" pitchFamily="34" charset="0"/>
                <a:ea typeface="Calibri" pitchFamily="34" charset="-122"/>
                <a:cs typeface="Calibri" pitchFamily="34" charset="-120"/>
              </a:rPr>
              <a:t>  (</a:t>
            </a:r>
            <a:r>
              <a:rPr lang="en-US" sz="1000" b="1" noProof="0" dirty="0">
                <a:solidFill>
                  <a:srgbClr val="008000"/>
                </a:solidFill>
                <a:latin typeface="Arial Narrow" panose="020B0606020202030204" pitchFamily="34" charset="0"/>
                <a:ea typeface="Calibri" pitchFamily="34" charset="-122"/>
                <a:cs typeface="Calibri" pitchFamily="34" charset="-120"/>
              </a:rPr>
              <a:t>95% reduction)</a:t>
            </a:r>
            <a:endParaRPr lang="en-US" sz="1000" noProof="0" dirty="0">
              <a:solidFill>
                <a:srgbClr val="008000"/>
              </a:solidFill>
              <a:latin typeface="Arial Narrow" panose="020B0606020202030204" pitchFamily="34" charset="0"/>
            </a:endParaRPr>
          </a:p>
        </p:txBody>
      </p:sp>
      <p:cxnSp>
        <p:nvCxnSpPr>
          <p:cNvPr id="53" name="직선 연결선 16">
            <a:extLst>
              <a:ext uri="{FF2B5EF4-FFF2-40B4-BE49-F238E27FC236}">
                <a16:creationId xmlns:a16="http://schemas.microsoft.com/office/drawing/2014/main" id="{858EE465-0E87-9F9D-BC05-218203E965C7}"/>
              </a:ext>
            </a:extLst>
          </p:cNvPr>
          <p:cNvCxnSpPr>
            <a:cxnSpLocks/>
          </p:cNvCxnSpPr>
          <p:nvPr/>
        </p:nvCxnSpPr>
        <p:spPr>
          <a:xfrm>
            <a:off x="7743396" y="1356732"/>
            <a:ext cx="1728000" cy="0"/>
          </a:xfrm>
          <a:prstGeom prst="line">
            <a:avLst/>
          </a:prstGeom>
          <a:noFill/>
          <a:ln w="9525" cap="flat" cmpd="sng" algn="ctr">
            <a:solidFill>
              <a:sysClr val="window" lastClr="FFFFFF">
                <a:lumMod val="50000"/>
              </a:sysClr>
            </a:solidFill>
            <a:prstDash val="solid"/>
            <a:miter lim="800000"/>
          </a:ln>
          <a:effectLst/>
        </p:spPr>
      </p:cxnSp>
      <p:sp>
        <p:nvSpPr>
          <p:cNvPr id="54" name="직사각형 37">
            <a:extLst>
              <a:ext uri="{FF2B5EF4-FFF2-40B4-BE49-F238E27FC236}">
                <a16:creationId xmlns:a16="http://schemas.microsoft.com/office/drawing/2014/main" id="{F275A12F-44AE-B8DE-D466-0E09DA1C11B9}"/>
              </a:ext>
            </a:extLst>
          </p:cNvPr>
          <p:cNvSpPr/>
          <p:nvPr/>
        </p:nvSpPr>
        <p:spPr>
          <a:xfrm>
            <a:off x="7933138" y="1109935"/>
            <a:ext cx="1348519" cy="238335"/>
          </a:xfrm>
          <a:prstGeom prst="rect">
            <a:avLst/>
          </a:prstGeom>
          <a:noFill/>
          <a:ln>
            <a:noFill/>
          </a:ln>
        </p:spPr>
        <p:txBody>
          <a:bodyPr wrap="square" lIns="0" tIns="0" rIns="0" bIns="0">
            <a:spAutoFit/>
          </a:bodyPr>
          <a:lstStyle/>
          <a:p>
            <a:pPr algn="ctr">
              <a:lnSpc>
                <a:spcPct val="120000"/>
              </a:lnSpc>
              <a:spcBef>
                <a:spcPts val="600"/>
              </a:spcBef>
              <a:spcAft>
                <a:spcPts val="700"/>
              </a:spcAft>
              <a:defRPr/>
            </a:pPr>
            <a:r>
              <a:rPr kumimoji="1" lang="en-US" sz="1400" b="1" kern="0" noProof="0" dirty="0">
                <a:solidFill>
                  <a:prstClr val="black"/>
                </a:solidFill>
                <a:latin typeface="Arial Narrow"/>
                <a:ea typeface="LG스마트체 Regular"/>
                <a:cs typeface="Arial"/>
              </a:rPr>
              <a:t>Expectation</a:t>
            </a:r>
          </a:p>
        </p:txBody>
      </p:sp>
      <p:sp>
        <p:nvSpPr>
          <p:cNvPr id="55" name="이등변 삼각형 49">
            <a:extLst>
              <a:ext uri="{FF2B5EF4-FFF2-40B4-BE49-F238E27FC236}">
                <a16:creationId xmlns:a16="http://schemas.microsoft.com/office/drawing/2014/main" id="{D68E3C12-DE16-E8B0-B67C-F7CA347C54A8}"/>
              </a:ext>
            </a:extLst>
          </p:cNvPr>
          <p:cNvSpPr/>
          <p:nvPr/>
        </p:nvSpPr>
        <p:spPr>
          <a:xfrm rot="5400000">
            <a:off x="3313486" y="3280675"/>
            <a:ext cx="1159697" cy="124255"/>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9" name="직사각형 73">
            <a:extLst>
              <a:ext uri="{FF2B5EF4-FFF2-40B4-BE49-F238E27FC236}">
                <a16:creationId xmlns:a16="http://schemas.microsoft.com/office/drawing/2014/main" id="{A10CDD46-E512-66A8-51EE-AA1FD90D6243}"/>
              </a:ext>
            </a:extLst>
          </p:cNvPr>
          <p:cNvSpPr/>
          <p:nvPr/>
        </p:nvSpPr>
        <p:spPr>
          <a:xfrm>
            <a:off x="1655133" y="1109934"/>
            <a:ext cx="1348518" cy="240900"/>
          </a:xfrm>
          <a:prstGeom prst="rect">
            <a:avLst/>
          </a:prstGeom>
          <a:noFill/>
          <a:ln>
            <a:noFill/>
          </a:ln>
        </p:spPr>
        <p:txBody>
          <a:bodyPr wrap="square" lIns="0" tIns="0" rIns="0" bIns="0" anchor="ctr">
            <a:spAutoFit/>
          </a:bodyPr>
          <a:lstStyle/>
          <a:p>
            <a:pPr algn="ctr">
              <a:lnSpc>
                <a:spcPct val="120000"/>
              </a:lnSpc>
              <a:spcBef>
                <a:spcPts val="600"/>
              </a:spcBef>
              <a:spcAft>
                <a:spcPts val="700"/>
              </a:spcAft>
              <a:defRPr/>
            </a:pPr>
            <a:r>
              <a:rPr kumimoji="1" lang="en-US" sz="1400" b="1" kern="0" noProof="0" dirty="0">
                <a:solidFill>
                  <a:prstClr val="black"/>
                </a:solidFill>
                <a:latin typeface="Arial Narrow" panose="020B0606020202030204" pitchFamily="34" charset="0"/>
                <a:ea typeface="LG스마트체 Regular"/>
                <a:cs typeface="Arial"/>
              </a:rPr>
              <a:t>AS-IS</a:t>
            </a:r>
          </a:p>
        </p:txBody>
      </p:sp>
      <p:sp>
        <p:nvSpPr>
          <p:cNvPr id="60" name="직사각형 48">
            <a:extLst>
              <a:ext uri="{FF2B5EF4-FFF2-40B4-BE49-F238E27FC236}">
                <a16:creationId xmlns:a16="http://schemas.microsoft.com/office/drawing/2014/main" id="{3B18FD65-3D95-032F-3A4A-501594A6DAD4}"/>
              </a:ext>
            </a:extLst>
          </p:cNvPr>
          <p:cNvSpPr/>
          <p:nvPr/>
        </p:nvSpPr>
        <p:spPr>
          <a:xfrm>
            <a:off x="1187404" y="1396827"/>
            <a:ext cx="2521125" cy="3339067"/>
          </a:xfrm>
          <a:prstGeom prst="rect">
            <a:avLst/>
          </a:prstGeom>
          <a:solidFill>
            <a:sysClr val="window" lastClr="FFFFFF">
              <a:lumMod val="95000"/>
            </a:sysClr>
          </a:solidFill>
          <a:ln w="12700" cap="flat" cmpd="sng" algn="ctr">
            <a:noFill/>
            <a:prstDash val="solid"/>
            <a:miter lim="800000"/>
          </a:ln>
          <a:effectLst/>
        </p:spPr>
        <p:txBody>
          <a:bodyPr rtlCol="0" anchor="ctr"/>
          <a:lstStyle/>
          <a:p>
            <a:pPr algn="ctr" latinLnBrk="0">
              <a:defRPr/>
            </a:pPr>
            <a:endParaRPr lang="en-US" sz="800" kern="0" noProof="0" dirty="0">
              <a:solidFill>
                <a:prstClr val="black"/>
              </a:solidFill>
              <a:latin typeface="LG스마트체 Regular" panose="020B0600000101010101" pitchFamily="50" charset="-127"/>
              <a:ea typeface="LG스마트체 Regular"/>
              <a:cs typeface="Arial"/>
            </a:endParaRPr>
          </a:p>
        </p:txBody>
      </p:sp>
      <p:cxnSp>
        <p:nvCxnSpPr>
          <p:cNvPr id="61" name="직선 연결선 103">
            <a:extLst>
              <a:ext uri="{FF2B5EF4-FFF2-40B4-BE49-F238E27FC236}">
                <a16:creationId xmlns:a16="http://schemas.microsoft.com/office/drawing/2014/main" id="{BCFADDB1-EF39-A095-9B34-32058F0E1037}"/>
              </a:ext>
            </a:extLst>
          </p:cNvPr>
          <p:cNvCxnSpPr>
            <a:cxnSpLocks/>
          </p:cNvCxnSpPr>
          <p:nvPr/>
        </p:nvCxnSpPr>
        <p:spPr>
          <a:xfrm>
            <a:off x="1182287" y="2188915"/>
            <a:ext cx="2448000" cy="0"/>
          </a:xfrm>
          <a:prstGeom prst="line">
            <a:avLst/>
          </a:prstGeom>
          <a:noFill/>
          <a:ln w="3175" cap="flat" cmpd="sng" algn="ctr">
            <a:solidFill>
              <a:sysClr val="window" lastClr="FFFFFF">
                <a:lumMod val="65000"/>
              </a:sysClr>
            </a:solidFill>
            <a:prstDash val="dash"/>
            <a:miter lim="800000"/>
            <a:headEnd type="none" w="med" len="med"/>
            <a:tailEnd type="none" w="med" len="med"/>
          </a:ln>
          <a:effectLst/>
        </p:spPr>
      </p:cxnSp>
      <p:grpSp>
        <p:nvGrpSpPr>
          <p:cNvPr id="87" name="Group 86">
            <a:extLst>
              <a:ext uri="{FF2B5EF4-FFF2-40B4-BE49-F238E27FC236}">
                <a16:creationId xmlns:a16="http://schemas.microsoft.com/office/drawing/2014/main" id="{9722505A-AAE0-D4F5-6F13-1800E5A6890C}"/>
              </a:ext>
            </a:extLst>
          </p:cNvPr>
          <p:cNvGrpSpPr/>
          <p:nvPr/>
        </p:nvGrpSpPr>
        <p:grpSpPr>
          <a:xfrm>
            <a:off x="4017948" y="1498461"/>
            <a:ext cx="2475163" cy="317974"/>
            <a:chOff x="1232793" y="1797204"/>
            <a:chExt cx="2475163" cy="317974"/>
          </a:xfrm>
        </p:grpSpPr>
        <p:sp>
          <p:nvSpPr>
            <p:cNvPr id="62" name="TextBox 61">
              <a:extLst>
                <a:ext uri="{FF2B5EF4-FFF2-40B4-BE49-F238E27FC236}">
                  <a16:creationId xmlns:a16="http://schemas.microsoft.com/office/drawing/2014/main" id="{4D2D4E55-FB7E-D768-1C0D-E0B0711F6E95}"/>
                </a:ext>
              </a:extLst>
            </p:cNvPr>
            <p:cNvSpPr txBox="1"/>
            <p:nvPr/>
          </p:nvSpPr>
          <p:spPr>
            <a:xfrm>
              <a:off x="1232793" y="1797204"/>
              <a:ext cx="2475163" cy="161583"/>
            </a:xfrm>
            <a:prstGeom prst="rect">
              <a:avLst/>
            </a:prstGeom>
            <a:noFill/>
            <a:ln>
              <a:noFill/>
            </a:ln>
          </p:spPr>
          <p:txBody>
            <a:bodyPr wrap="square" lIns="33231" tIns="0" rIns="33231" bIns="0" rtlCol="0">
              <a:spAutoFit/>
            </a:bodyPr>
            <a:lstStyle/>
            <a:p>
              <a:pPr marL="58570">
                <a:tabLst>
                  <a:tab pos="740038" algn="l"/>
                </a:tabLst>
                <a:defRPr/>
              </a:pPr>
              <a:r>
                <a:rPr lang="en-US" sz="1050" kern="0" noProof="0" dirty="0">
                  <a:latin typeface="Arial Narrow"/>
                  <a:ea typeface="LG스마트체 Regular"/>
                  <a:cs typeface="Arial"/>
                </a:rPr>
                <a:t>• Open GMES_PM </a:t>
              </a:r>
              <a:r>
                <a:rPr lang="en-US" sz="1050" kern="0" noProof="0" dirty="0">
                  <a:latin typeface="Arial Narrow"/>
                  <a:ea typeface="LG스마트체 Regular"/>
                  <a:cs typeface="Arial"/>
                  <a:sym typeface="Wingdings" panose="05000000000000000000" pitchFamily="2" charset="2"/>
                </a:rPr>
                <a:t> </a:t>
              </a:r>
              <a:r>
                <a:rPr lang="en-US" sz="1050" kern="0" noProof="0" dirty="0">
                  <a:latin typeface="Arial Narrow"/>
                  <a:ea typeface="LG스마트체 Regular"/>
                  <a:cs typeface="Arial"/>
                </a:rPr>
                <a:t>Work Log Management</a:t>
              </a:r>
            </a:p>
          </p:txBody>
        </p:sp>
        <p:sp>
          <p:nvSpPr>
            <p:cNvPr id="63" name="TextBox 62">
              <a:extLst>
                <a:ext uri="{FF2B5EF4-FFF2-40B4-BE49-F238E27FC236}">
                  <a16:creationId xmlns:a16="http://schemas.microsoft.com/office/drawing/2014/main" id="{4D6CAB4E-3FA2-19AA-7E69-0B5F2CB72A99}"/>
                </a:ext>
              </a:extLst>
            </p:cNvPr>
            <p:cNvSpPr txBox="1"/>
            <p:nvPr/>
          </p:nvSpPr>
          <p:spPr>
            <a:xfrm>
              <a:off x="1370483" y="1944875"/>
              <a:ext cx="2031804" cy="170303"/>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GMES_PM 작업지시 관리 화면 열기</a:t>
              </a:r>
            </a:p>
          </p:txBody>
        </p:sp>
      </p:grpSp>
      <p:sp>
        <p:nvSpPr>
          <p:cNvPr id="64" name="직사각형 48">
            <a:extLst>
              <a:ext uri="{FF2B5EF4-FFF2-40B4-BE49-F238E27FC236}">
                <a16:creationId xmlns:a16="http://schemas.microsoft.com/office/drawing/2014/main" id="{78BF2C30-36CD-4D6C-3CA9-3FF3C6645740}"/>
              </a:ext>
            </a:extLst>
          </p:cNvPr>
          <p:cNvSpPr/>
          <p:nvPr/>
        </p:nvSpPr>
        <p:spPr>
          <a:xfrm>
            <a:off x="1182287" y="4790807"/>
            <a:ext cx="2521125" cy="1521876"/>
          </a:xfrm>
          <a:prstGeom prst="rect">
            <a:avLst/>
          </a:prstGeom>
          <a:solidFill>
            <a:sysClr val="window" lastClr="FFFFFF">
              <a:lumMod val="95000"/>
            </a:sysClr>
          </a:solidFill>
          <a:ln w="12700" cap="flat" cmpd="sng" algn="ctr">
            <a:noFill/>
            <a:prstDash val="solid"/>
            <a:miter lim="800000"/>
          </a:ln>
          <a:effectLst/>
        </p:spPr>
        <p:txBody>
          <a:bodyPr rtlCol="0" anchor="ctr"/>
          <a:lstStyle/>
          <a:p>
            <a:pPr algn="ctr" latinLnBrk="0">
              <a:defRPr/>
            </a:pPr>
            <a:endParaRPr lang="en-US" sz="800" kern="0" noProof="0" dirty="0">
              <a:solidFill>
                <a:prstClr val="black"/>
              </a:solidFill>
              <a:latin typeface="LG스마트체 Regular" panose="020B0600000101010101" pitchFamily="50" charset="-127"/>
              <a:ea typeface="LG스마트체 Regular"/>
              <a:cs typeface="Arial"/>
            </a:endParaRPr>
          </a:p>
        </p:txBody>
      </p:sp>
      <p:sp>
        <p:nvSpPr>
          <p:cNvPr id="67" name="직사각형 48">
            <a:extLst>
              <a:ext uri="{FF2B5EF4-FFF2-40B4-BE49-F238E27FC236}">
                <a16:creationId xmlns:a16="http://schemas.microsoft.com/office/drawing/2014/main" id="{708823E4-8033-FD42-CE7E-2A6DE36C0CBE}"/>
              </a:ext>
            </a:extLst>
          </p:cNvPr>
          <p:cNvSpPr/>
          <p:nvPr/>
        </p:nvSpPr>
        <p:spPr>
          <a:xfrm>
            <a:off x="3984991" y="1451733"/>
            <a:ext cx="2521125" cy="3339072"/>
          </a:xfrm>
          <a:prstGeom prst="rect">
            <a:avLst/>
          </a:prstGeom>
          <a:solidFill>
            <a:sysClr val="window" lastClr="FFFFFF">
              <a:lumMod val="95000"/>
            </a:sysClr>
          </a:solidFill>
          <a:ln w="12700" cap="flat" cmpd="sng" algn="ctr">
            <a:noFill/>
            <a:prstDash val="solid"/>
            <a:miter lim="800000"/>
          </a:ln>
          <a:effectLst/>
        </p:spPr>
        <p:txBody>
          <a:bodyPr rtlCol="0" anchor="ctr"/>
          <a:lstStyle/>
          <a:p>
            <a:pPr algn="ctr" latinLnBrk="0">
              <a:defRPr/>
            </a:pPr>
            <a:endParaRPr lang="en-US" sz="800" kern="0" noProof="0" dirty="0">
              <a:solidFill>
                <a:prstClr val="black"/>
              </a:solidFill>
              <a:latin typeface="LG스마트체 Regular" panose="020B0600000101010101" pitchFamily="50" charset="-127"/>
              <a:ea typeface="LG스마트체 Regular"/>
              <a:cs typeface="Arial"/>
            </a:endParaRPr>
          </a:p>
        </p:txBody>
      </p:sp>
      <p:sp>
        <p:nvSpPr>
          <p:cNvPr id="76" name="직사각형 48">
            <a:extLst>
              <a:ext uri="{FF2B5EF4-FFF2-40B4-BE49-F238E27FC236}">
                <a16:creationId xmlns:a16="http://schemas.microsoft.com/office/drawing/2014/main" id="{770355F4-CDBF-8CD5-F926-C6B868B8561F}"/>
              </a:ext>
            </a:extLst>
          </p:cNvPr>
          <p:cNvSpPr/>
          <p:nvPr/>
        </p:nvSpPr>
        <p:spPr>
          <a:xfrm>
            <a:off x="3979874" y="4810065"/>
            <a:ext cx="2521125" cy="1521876"/>
          </a:xfrm>
          <a:prstGeom prst="rect">
            <a:avLst/>
          </a:prstGeom>
          <a:solidFill>
            <a:sysClr val="window" lastClr="FFFFFF">
              <a:lumMod val="95000"/>
            </a:sysClr>
          </a:solidFill>
          <a:ln w="12700" cap="flat" cmpd="sng" algn="ctr">
            <a:noFill/>
            <a:prstDash val="solid"/>
            <a:miter lim="800000"/>
          </a:ln>
          <a:effectLst/>
        </p:spPr>
        <p:txBody>
          <a:bodyPr rtlCol="0" anchor="ctr"/>
          <a:lstStyle/>
          <a:p>
            <a:pPr algn="ctr" latinLnBrk="0">
              <a:defRPr/>
            </a:pPr>
            <a:endParaRPr lang="en-US" sz="800" kern="0" noProof="0" dirty="0">
              <a:solidFill>
                <a:prstClr val="black"/>
              </a:solidFill>
              <a:latin typeface="LG스마트체 Regular" panose="020B0600000101010101" pitchFamily="50" charset="-127"/>
              <a:ea typeface="LG스마트체 Regular"/>
              <a:cs typeface="Arial"/>
            </a:endParaRPr>
          </a:p>
        </p:txBody>
      </p:sp>
      <p:sp>
        <p:nvSpPr>
          <p:cNvPr id="77" name="Pentagon 88">
            <a:extLst>
              <a:ext uri="{FF2B5EF4-FFF2-40B4-BE49-F238E27FC236}">
                <a16:creationId xmlns:a16="http://schemas.microsoft.com/office/drawing/2014/main" id="{781DE072-97AB-11B8-6DCE-F0A1101133A3}"/>
              </a:ext>
            </a:extLst>
          </p:cNvPr>
          <p:cNvSpPr/>
          <p:nvPr/>
        </p:nvSpPr>
        <p:spPr>
          <a:xfrm rot="5400000">
            <a:off x="6676541" y="1301067"/>
            <a:ext cx="575930" cy="697421"/>
          </a:xfrm>
          <a:prstGeom prst="homePlate">
            <a:avLst>
              <a:gd name="adj" fmla="val 23083"/>
            </a:avLst>
          </a:prstGeom>
          <a:solidFill>
            <a:srgbClr val="008000"/>
          </a:solidFill>
          <a:ln w="3175" cap="flat" cmpd="sng" algn="ctr">
            <a:solidFill>
              <a:schemeClr val="bg1">
                <a:lumMod val="50000"/>
              </a:schemeClr>
            </a:solidFill>
            <a:prstDash val="solid"/>
          </a:ln>
          <a:effectLst/>
        </p:spPr>
        <p:txBody>
          <a:bodyPr vert="vert270" lIns="0" tIns="0" rIns="0" bIns="0" rtlCol="0" anchor="ctr"/>
          <a:lstStyle/>
          <a:p>
            <a:pPr algn="ctr"/>
            <a:r>
              <a:rPr lang="en-US" sz="1000" noProof="0" dirty="0">
                <a:solidFill>
                  <a:schemeClr val="bg1"/>
                </a:solidFill>
                <a:latin typeface="Arial Narrow" panose="020B0606020202030204" pitchFamily="34" charset="0"/>
                <a:ea typeface="Calibri" pitchFamily="34" charset="-122"/>
                <a:cs typeface="Calibri" pitchFamily="34" charset="-120"/>
              </a:rPr>
              <a:t>100% </a:t>
            </a:r>
          </a:p>
          <a:p>
            <a:pPr algn="ctr"/>
            <a:r>
              <a:rPr lang="en-US" sz="1000" noProof="0" dirty="0">
                <a:solidFill>
                  <a:schemeClr val="bg1"/>
                </a:solidFill>
                <a:latin typeface="Arial Narrow" panose="020B0606020202030204" pitchFamily="34" charset="0"/>
                <a:ea typeface="Calibri" pitchFamily="34" charset="-122"/>
                <a:cs typeface="Calibri" pitchFamily="34" charset="-120"/>
              </a:rPr>
              <a:t>Reduction</a:t>
            </a:r>
            <a:endParaRPr kumimoji="1" lang="en-US" sz="1000" b="1" kern="0" spc="-92" noProof="0" dirty="0">
              <a:solidFill>
                <a:schemeClr val="bg1"/>
              </a:solidFill>
              <a:latin typeface="Arial Narrow" panose="020B0606020202030204" pitchFamily="34" charset="0"/>
              <a:ea typeface="LG스마트체 Regular" panose="020B0600000101010101" pitchFamily="50" charset="-127"/>
              <a:cs typeface="Arial" charset="0"/>
              <a:sym typeface="Arial"/>
            </a:endParaRPr>
          </a:p>
        </p:txBody>
      </p:sp>
      <p:sp>
        <p:nvSpPr>
          <p:cNvPr id="84" name="직사각형 5">
            <a:extLst>
              <a:ext uri="{FF2B5EF4-FFF2-40B4-BE49-F238E27FC236}">
                <a16:creationId xmlns:a16="http://schemas.microsoft.com/office/drawing/2014/main" id="{9216F67D-B680-DBBD-FE06-F6E9CE78D835}"/>
              </a:ext>
            </a:extLst>
          </p:cNvPr>
          <p:cNvSpPr/>
          <p:nvPr/>
        </p:nvSpPr>
        <p:spPr bwMode="auto">
          <a:xfrm>
            <a:off x="432299" y="4790809"/>
            <a:ext cx="697422" cy="1521876"/>
          </a:xfrm>
          <a:prstGeom prst="rect">
            <a:avLst/>
          </a:prstGeom>
          <a:solidFill>
            <a:srgbClr val="FFFFFF"/>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20000"/>
              </a:spcBef>
              <a:spcAft>
                <a:spcPct val="0"/>
              </a:spcAft>
              <a:defRPr/>
            </a:pPr>
            <a:r>
              <a:rPr kumimoji="1" lang="en-US" sz="1000" b="1" kern="0" noProof="0" dirty="0">
                <a:solidFill>
                  <a:srgbClr val="000000"/>
                </a:solidFill>
                <a:latin typeface="Arial Narrow" panose="020B0606020202030204" pitchFamily="34" charset="0"/>
                <a:ea typeface="LG스마트체 Regular" panose="020B0600000101010101" pitchFamily="50" charset="-127"/>
              </a:rPr>
              <a:t>Issue</a:t>
            </a:r>
          </a:p>
        </p:txBody>
      </p:sp>
      <p:sp>
        <p:nvSpPr>
          <p:cNvPr id="85" name="직사각형 5">
            <a:extLst>
              <a:ext uri="{FF2B5EF4-FFF2-40B4-BE49-F238E27FC236}">
                <a16:creationId xmlns:a16="http://schemas.microsoft.com/office/drawing/2014/main" id="{37F08CBB-7606-838B-99D4-37BA9DA958E1}"/>
              </a:ext>
            </a:extLst>
          </p:cNvPr>
          <p:cNvSpPr/>
          <p:nvPr/>
        </p:nvSpPr>
        <p:spPr bwMode="auto">
          <a:xfrm>
            <a:off x="6587844" y="4810065"/>
            <a:ext cx="753324" cy="1516705"/>
          </a:xfrm>
          <a:prstGeom prst="rect">
            <a:avLst/>
          </a:prstGeom>
          <a:solidFill>
            <a:srgbClr val="008000"/>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20000"/>
              </a:spcBef>
              <a:spcAft>
                <a:spcPct val="0"/>
              </a:spcAft>
              <a:defRPr/>
            </a:pPr>
            <a:r>
              <a:rPr kumimoji="1" lang="en-US" sz="1000" b="1" kern="0" noProof="0" dirty="0">
                <a:solidFill>
                  <a:schemeClr val="bg1"/>
                </a:solidFill>
                <a:latin typeface="Arial Narrow" panose="020B0606020202030204" pitchFamily="34" charset="0"/>
                <a:ea typeface="LG스마트체 Regular" panose="020B0600000101010101" pitchFamily="50" charset="-127"/>
              </a:rPr>
              <a:t>New </a:t>
            </a:r>
          </a:p>
          <a:p>
            <a:pPr algn="ctr" fontAlgn="base">
              <a:spcBef>
                <a:spcPct val="20000"/>
              </a:spcBef>
              <a:spcAft>
                <a:spcPct val="0"/>
              </a:spcAft>
              <a:defRPr/>
            </a:pPr>
            <a:r>
              <a:rPr kumimoji="1" lang="en-US" sz="1000" b="1" kern="0" noProof="0" dirty="0">
                <a:solidFill>
                  <a:schemeClr val="bg1"/>
                </a:solidFill>
                <a:latin typeface="Arial Narrow" panose="020B0606020202030204" pitchFamily="34" charset="0"/>
                <a:ea typeface="LG스마트체 Regular" panose="020B0600000101010101" pitchFamily="50" charset="-127"/>
              </a:rPr>
              <a:t>Reduction</a:t>
            </a:r>
          </a:p>
        </p:txBody>
      </p:sp>
      <p:grpSp>
        <p:nvGrpSpPr>
          <p:cNvPr id="88" name="Group 87">
            <a:extLst>
              <a:ext uri="{FF2B5EF4-FFF2-40B4-BE49-F238E27FC236}">
                <a16:creationId xmlns:a16="http://schemas.microsoft.com/office/drawing/2014/main" id="{FA93FFDC-5D12-6DA0-EE4C-E297E0B27B86}"/>
              </a:ext>
            </a:extLst>
          </p:cNvPr>
          <p:cNvGrpSpPr/>
          <p:nvPr/>
        </p:nvGrpSpPr>
        <p:grpSpPr>
          <a:xfrm>
            <a:off x="3989229" y="2290525"/>
            <a:ext cx="2475163" cy="715345"/>
            <a:chOff x="1232793" y="1797204"/>
            <a:chExt cx="2475163" cy="715345"/>
          </a:xfrm>
        </p:grpSpPr>
        <p:sp>
          <p:nvSpPr>
            <p:cNvPr id="89" name="TextBox 88">
              <a:extLst>
                <a:ext uri="{FF2B5EF4-FFF2-40B4-BE49-F238E27FC236}">
                  <a16:creationId xmlns:a16="http://schemas.microsoft.com/office/drawing/2014/main" id="{71A68346-4088-5DF4-FC6F-ED51F5E3A834}"/>
                </a:ext>
              </a:extLst>
            </p:cNvPr>
            <p:cNvSpPr txBox="1"/>
            <p:nvPr/>
          </p:nvSpPr>
          <p:spPr>
            <a:xfrm>
              <a:off x="1232793" y="1797204"/>
              <a:ext cx="2475163" cy="323165"/>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Azure OpenAI auto-summarizes all relevant records with cited IDs/dates/lines</a:t>
              </a:r>
            </a:p>
          </p:txBody>
        </p:sp>
        <p:sp>
          <p:nvSpPr>
            <p:cNvPr id="90" name="TextBox 89">
              <a:extLst>
                <a:ext uri="{FF2B5EF4-FFF2-40B4-BE49-F238E27FC236}">
                  <a16:creationId xmlns:a16="http://schemas.microsoft.com/office/drawing/2014/main" id="{E473C749-27C7-CBC7-1675-2E74C4190821}"/>
                </a:ext>
              </a:extLst>
            </p:cNvPr>
            <p:cNvSpPr txBox="1"/>
            <p:nvPr/>
          </p:nvSpPr>
          <p:spPr>
            <a:xfrm>
              <a:off x="1323546" y="2157580"/>
              <a:ext cx="2031804" cy="354969"/>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Azure OpenAI가 ID/일자/라인 포함 관련 기록 자동 요약</a:t>
              </a:r>
            </a:p>
          </p:txBody>
        </p:sp>
      </p:grpSp>
      <p:grpSp>
        <p:nvGrpSpPr>
          <p:cNvPr id="91" name="Group 90">
            <a:extLst>
              <a:ext uri="{FF2B5EF4-FFF2-40B4-BE49-F238E27FC236}">
                <a16:creationId xmlns:a16="http://schemas.microsoft.com/office/drawing/2014/main" id="{152D1F29-0A4B-69A7-CF01-647315C909E2}"/>
              </a:ext>
            </a:extLst>
          </p:cNvPr>
          <p:cNvGrpSpPr/>
          <p:nvPr/>
        </p:nvGrpSpPr>
        <p:grpSpPr>
          <a:xfrm>
            <a:off x="3974328" y="3153463"/>
            <a:ext cx="2475163" cy="713033"/>
            <a:chOff x="1229998" y="1586811"/>
            <a:chExt cx="2475163" cy="713033"/>
          </a:xfrm>
        </p:grpSpPr>
        <p:sp>
          <p:nvSpPr>
            <p:cNvPr id="92" name="TextBox 91">
              <a:extLst>
                <a:ext uri="{FF2B5EF4-FFF2-40B4-BE49-F238E27FC236}">
                  <a16:creationId xmlns:a16="http://schemas.microsoft.com/office/drawing/2014/main" id="{3AB7F20A-698C-1BA4-8E3B-6028FC1FE62A}"/>
                </a:ext>
              </a:extLst>
            </p:cNvPr>
            <p:cNvSpPr txBox="1"/>
            <p:nvPr/>
          </p:nvSpPr>
          <p:spPr>
            <a:xfrm>
              <a:off x="1229998" y="1586811"/>
              <a:ext cx="2475163" cy="323165"/>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Azure AI Search finds similar cases across different wording/equipment IDs automatically</a:t>
              </a:r>
            </a:p>
          </p:txBody>
        </p:sp>
        <p:sp>
          <p:nvSpPr>
            <p:cNvPr id="93" name="TextBox 92">
              <a:extLst>
                <a:ext uri="{FF2B5EF4-FFF2-40B4-BE49-F238E27FC236}">
                  <a16:creationId xmlns:a16="http://schemas.microsoft.com/office/drawing/2014/main" id="{F74D7A6E-8BEA-EECC-AC43-F2CA367D1A69}"/>
                </a:ext>
              </a:extLst>
            </p:cNvPr>
            <p:cNvSpPr txBox="1"/>
            <p:nvPr/>
          </p:nvSpPr>
          <p:spPr>
            <a:xfrm>
              <a:off x="1370483" y="1944875"/>
              <a:ext cx="2031804" cy="354969"/>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표현·설비 ID 불일치에도 유사 사례 자동 탐색</a:t>
              </a:r>
            </a:p>
          </p:txBody>
        </p:sp>
      </p:grpSp>
      <p:grpSp>
        <p:nvGrpSpPr>
          <p:cNvPr id="94" name="Group 93">
            <a:extLst>
              <a:ext uri="{FF2B5EF4-FFF2-40B4-BE49-F238E27FC236}">
                <a16:creationId xmlns:a16="http://schemas.microsoft.com/office/drawing/2014/main" id="{6C5FC87F-2FCC-10A4-1CC0-7723824082DE}"/>
              </a:ext>
            </a:extLst>
          </p:cNvPr>
          <p:cNvGrpSpPr/>
          <p:nvPr/>
        </p:nvGrpSpPr>
        <p:grpSpPr>
          <a:xfrm>
            <a:off x="3996491" y="4036864"/>
            <a:ext cx="2475163" cy="702678"/>
            <a:chOff x="1232793" y="1797204"/>
            <a:chExt cx="2475163" cy="702678"/>
          </a:xfrm>
        </p:grpSpPr>
        <p:sp>
          <p:nvSpPr>
            <p:cNvPr id="95" name="TextBox 94">
              <a:extLst>
                <a:ext uri="{FF2B5EF4-FFF2-40B4-BE49-F238E27FC236}">
                  <a16:creationId xmlns:a16="http://schemas.microsoft.com/office/drawing/2014/main" id="{C8764D07-A32F-80CB-5620-6F86D01F2790}"/>
                </a:ext>
              </a:extLst>
            </p:cNvPr>
            <p:cNvSpPr txBox="1"/>
            <p:nvPr/>
          </p:nvSpPr>
          <p:spPr>
            <a:xfrm>
              <a:off x="1232793" y="1797204"/>
              <a:ext cx="2475163" cy="323165"/>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One-click export of AI-generated summary with record links ready to share</a:t>
              </a:r>
            </a:p>
          </p:txBody>
        </p:sp>
        <p:sp>
          <p:nvSpPr>
            <p:cNvPr id="96" name="TextBox 95">
              <a:extLst>
                <a:ext uri="{FF2B5EF4-FFF2-40B4-BE49-F238E27FC236}">
                  <a16:creationId xmlns:a16="http://schemas.microsoft.com/office/drawing/2014/main" id="{C13C7C46-CC2F-BC28-D6D3-27A71D838A4D}"/>
                </a:ext>
              </a:extLst>
            </p:cNvPr>
            <p:cNvSpPr txBox="1"/>
            <p:nvPr/>
          </p:nvSpPr>
          <p:spPr>
            <a:xfrm>
              <a:off x="1377010" y="2144913"/>
              <a:ext cx="2031804" cy="354969"/>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원클릭으로 근거 링크 포함 요약 내보내기</a:t>
              </a:r>
            </a:p>
          </p:txBody>
        </p:sp>
      </p:grpSp>
      <p:grpSp>
        <p:nvGrpSpPr>
          <p:cNvPr id="97" name="Group 96">
            <a:extLst>
              <a:ext uri="{FF2B5EF4-FFF2-40B4-BE49-F238E27FC236}">
                <a16:creationId xmlns:a16="http://schemas.microsoft.com/office/drawing/2014/main" id="{D46C4C83-EE52-E807-B16C-F624C425E01D}"/>
              </a:ext>
            </a:extLst>
          </p:cNvPr>
          <p:cNvGrpSpPr/>
          <p:nvPr/>
        </p:nvGrpSpPr>
        <p:grpSpPr>
          <a:xfrm>
            <a:off x="1198311" y="4900509"/>
            <a:ext cx="2475163" cy="672782"/>
            <a:chOff x="1232793" y="1797204"/>
            <a:chExt cx="2475163" cy="471781"/>
          </a:xfrm>
        </p:grpSpPr>
        <p:sp>
          <p:nvSpPr>
            <p:cNvPr id="98" name="TextBox 97">
              <a:extLst>
                <a:ext uri="{FF2B5EF4-FFF2-40B4-BE49-F238E27FC236}">
                  <a16:creationId xmlns:a16="http://schemas.microsoft.com/office/drawing/2014/main" id="{CC864790-0DBC-93B1-84C1-2DB60C17B027}"/>
                </a:ext>
              </a:extLst>
            </p:cNvPr>
            <p:cNvSpPr txBox="1"/>
            <p:nvPr/>
          </p:nvSpPr>
          <p:spPr>
            <a:xfrm>
              <a:off x="1232793" y="1797204"/>
              <a:ext cx="2475163" cy="226616"/>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No trend/recurrence view — reactive maintenance only</a:t>
              </a:r>
            </a:p>
          </p:txBody>
        </p:sp>
        <p:sp>
          <p:nvSpPr>
            <p:cNvPr id="99" name="TextBox 98">
              <a:extLst>
                <a:ext uri="{FF2B5EF4-FFF2-40B4-BE49-F238E27FC236}">
                  <a16:creationId xmlns:a16="http://schemas.microsoft.com/office/drawing/2014/main" id="{EE388E1A-D0CC-C3A0-F317-0F5F7B7AEF82}"/>
                </a:ext>
              </a:extLst>
            </p:cNvPr>
            <p:cNvSpPr txBox="1"/>
            <p:nvPr/>
          </p:nvSpPr>
          <p:spPr>
            <a:xfrm>
              <a:off x="1370483" y="2020067"/>
              <a:ext cx="2031804" cy="248918"/>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추세·재발 가시성 없음 → 사후 대응 중심</a:t>
              </a:r>
            </a:p>
          </p:txBody>
        </p:sp>
      </p:grpSp>
      <p:grpSp>
        <p:nvGrpSpPr>
          <p:cNvPr id="102" name="Group 101">
            <a:extLst>
              <a:ext uri="{FF2B5EF4-FFF2-40B4-BE49-F238E27FC236}">
                <a16:creationId xmlns:a16="http://schemas.microsoft.com/office/drawing/2014/main" id="{831B1258-C301-0277-9439-FCDA6887A7E1}"/>
              </a:ext>
            </a:extLst>
          </p:cNvPr>
          <p:cNvGrpSpPr/>
          <p:nvPr/>
        </p:nvGrpSpPr>
        <p:grpSpPr>
          <a:xfrm>
            <a:off x="1138880" y="1492676"/>
            <a:ext cx="2483031" cy="655286"/>
            <a:chOff x="1224925" y="1797204"/>
            <a:chExt cx="2483031" cy="655286"/>
          </a:xfrm>
        </p:grpSpPr>
        <p:sp>
          <p:nvSpPr>
            <p:cNvPr id="103" name="TextBox 102">
              <a:extLst>
                <a:ext uri="{FF2B5EF4-FFF2-40B4-BE49-F238E27FC236}">
                  <a16:creationId xmlns:a16="http://schemas.microsoft.com/office/drawing/2014/main" id="{6D84604E-B615-1C23-D38C-97946A8A1DC5}"/>
                </a:ext>
              </a:extLst>
            </p:cNvPr>
            <p:cNvSpPr txBox="1"/>
            <p:nvPr/>
          </p:nvSpPr>
          <p:spPr>
            <a:xfrm>
              <a:off x="1232793" y="1797204"/>
              <a:ext cx="2475163" cy="323165"/>
            </a:xfrm>
            <a:prstGeom prst="rect">
              <a:avLst/>
            </a:prstGeom>
            <a:noFill/>
            <a:ln>
              <a:noFill/>
            </a:ln>
          </p:spPr>
          <p:txBody>
            <a:bodyPr wrap="square" lIns="33231" tIns="0" rIns="33231" bIns="0" rtlCol="0">
              <a:spAutoFit/>
            </a:bodyPr>
            <a:lstStyle/>
            <a:p>
              <a:pPr marL="58570">
                <a:tabLst>
                  <a:tab pos="740038" algn="l"/>
                </a:tabLst>
                <a:defRPr/>
              </a:pPr>
              <a:r>
                <a:rPr lang="en-US" sz="1050" kern="0" noProof="0" dirty="0">
                  <a:latin typeface="Arial Narrow"/>
                  <a:ea typeface="LG스마트체 Regular"/>
                  <a:cs typeface="Arial"/>
                </a:rPr>
                <a:t>Open GMES_PM → set 5+ filters → click Search</a:t>
              </a:r>
            </a:p>
          </p:txBody>
        </p:sp>
        <p:sp>
          <p:nvSpPr>
            <p:cNvPr id="104" name="TextBox 103">
              <a:extLst>
                <a:ext uri="{FF2B5EF4-FFF2-40B4-BE49-F238E27FC236}">
                  <a16:creationId xmlns:a16="http://schemas.microsoft.com/office/drawing/2014/main" id="{1575557A-920F-525D-8949-834C4D33E286}"/>
                </a:ext>
              </a:extLst>
            </p:cNvPr>
            <p:cNvSpPr txBox="1"/>
            <p:nvPr/>
          </p:nvSpPr>
          <p:spPr>
            <a:xfrm>
              <a:off x="1224925" y="2097521"/>
              <a:ext cx="2031804" cy="354969"/>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GMES_PM 열고 5개 이상 필터 설정 후 검색</a:t>
              </a:r>
            </a:p>
          </p:txBody>
        </p:sp>
      </p:grpSp>
      <p:sp>
        <p:nvSpPr>
          <p:cNvPr id="105" name="Pentagon 88">
            <a:extLst>
              <a:ext uri="{FF2B5EF4-FFF2-40B4-BE49-F238E27FC236}">
                <a16:creationId xmlns:a16="http://schemas.microsoft.com/office/drawing/2014/main" id="{B94CD7F4-3862-6C2D-F6D7-590CF0D0D81F}"/>
              </a:ext>
            </a:extLst>
          </p:cNvPr>
          <p:cNvSpPr/>
          <p:nvPr/>
        </p:nvSpPr>
        <p:spPr>
          <a:xfrm rot="5400000">
            <a:off x="481496" y="1301067"/>
            <a:ext cx="575930" cy="697421"/>
          </a:xfrm>
          <a:prstGeom prst="homePlate">
            <a:avLst>
              <a:gd name="adj" fmla="val 23083"/>
            </a:avLst>
          </a:prstGeom>
          <a:solidFill>
            <a:sysClr val="window" lastClr="FFFFFF"/>
          </a:solidFill>
          <a:ln w="3175" cap="flat" cmpd="sng" algn="ctr">
            <a:solidFill>
              <a:schemeClr val="bg1">
                <a:lumMod val="50000"/>
              </a:schemeClr>
            </a:solidFill>
            <a:prstDash val="solid"/>
          </a:ln>
          <a:effectLst/>
        </p:spPr>
        <p:txBody>
          <a:bodyPr vert="vert270" lIns="0" tIns="0" rIns="0" bIns="0" rtlCol="0" anchor="ctr"/>
          <a:lstStyle/>
          <a:p>
            <a:pPr algn="ctr" defTabSz="633062" fontAlgn="base">
              <a:spcBef>
                <a:spcPct val="0"/>
              </a:spcBef>
              <a:spcAft>
                <a:spcPct val="0"/>
              </a:spcAft>
              <a:buClr>
                <a:srgbClr val="000000"/>
              </a:buClr>
              <a:defRPr/>
            </a:pPr>
            <a:r>
              <a:rPr kumimoji="1" lang="en-US" sz="1100" b="1" kern="0" spc="-92" noProof="0" dirty="0">
                <a:solidFill>
                  <a:prstClr val="black"/>
                </a:solidFill>
                <a:latin typeface="Arial Narrow" panose="020B0606020202030204" pitchFamily="34" charset="0"/>
                <a:ea typeface="LG스마트체 Regular" panose="020B0600000101010101" pitchFamily="50" charset="-127"/>
                <a:cs typeface="Arial" charset="0"/>
                <a:sym typeface="Arial"/>
              </a:rPr>
              <a:t>1</a:t>
            </a:r>
          </a:p>
        </p:txBody>
      </p:sp>
      <p:sp>
        <p:nvSpPr>
          <p:cNvPr id="106" name="갈매기형 수장 22">
            <a:extLst>
              <a:ext uri="{FF2B5EF4-FFF2-40B4-BE49-F238E27FC236}">
                <a16:creationId xmlns:a16="http://schemas.microsoft.com/office/drawing/2014/main" id="{1AABF04B-CB0F-4E9A-0A0B-462E8E5EA303}"/>
              </a:ext>
            </a:extLst>
          </p:cNvPr>
          <p:cNvSpPr/>
          <p:nvPr/>
        </p:nvSpPr>
        <p:spPr bwMode="auto">
          <a:xfrm rot="5400000">
            <a:off x="485575" y="2122310"/>
            <a:ext cx="556217" cy="689427"/>
          </a:xfrm>
          <a:prstGeom prst="chevron">
            <a:avLst>
              <a:gd name="adj" fmla="val 21005"/>
            </a:avLst>
          </a:prstGeom>
          <a:solidFill>
            <a:sysClr val="window" lastClr="FFFFFF"/>
          </a:solidFill>
          <a:ln w="3175" cap="flat" cmpd="sng" algn="ctr">
            <a:solidFill>
              <a:sysClr val="windowText" lastClr="000000">
                <a:lumMod val="50000"/>
                <a:lumOff val="50000"/>
              </a:sysClr>
            </a:solidFill>
            <a:prstDash val="solid"/>
            <a:round/>
            <a:headEnd type="none" w="med" len="med"/>
            <a:tailEnd type="none" w="med" len="med"/>
          </a:ln>
          <a:effectLst/>
        </p:spPr>
        <p:txBody>
          <a:bodyPr vert="vert270" wrap="none" lIns="0" tIns="33231" rIns="0" bIns="33231" numCol="1" rtlCol="0" anchor="ctr" anchorCtr="0" compatLnSpc="1">
            <a:prstTxWarp prst="textNoShape">
              <a:avLst/>
            </a:prstTxWarp>
          </a:bodyPr>
          <a:lstStyle/>
          <a:p>
            <a:pPr algn="ctr" defTabSz="633062" fontAlgn="base">
              <a:spcBef>
                <a:spcPct val="0"/>
              </a:spcBef>
              <a:spcAft>
                <a:spcPct val="0"/>
              </a:spcAft>
              <a:buClr>
                <a:srgbClr val="000000"/>
              </a:buClr>
              <a:defRPr/>
            </a:pPr>
            <a:r>
              <a:rPr kumimoji="1" lang="en-US" sz="1100" b="1" kern="0" spc="-92" noProof="0" dirty="0">
                <a:solidFill>
                  <a:prstClr val="black"/>
                </a:solidFill>
                <a:latin typeface="Arial Narrow" panose="020B0606020202030204" pitchFamily="34" charset="0"/>
                <a:ea typeface="LG스마트체 Regular" panose="020B0600000101010101" pitchFamily="50" charset="-127"/>
                <a:cs typeface="Arial" charset="0"/>
                <a:sym typeface="Arial"/>
              </a:rPr>
              <a:t>2</a:t>
            </a:r>
          </a:p>
        </p:txBody>
      </p:sp>
      <p:sp>
        <p:nvSpPr>
          <p:cNvPr id="107" name="갈매기형 수장 22">
            <a:extLst>
              <a:ext uri="{FF2B5EF4-FFF2-40B4-BE49-F238E27FC236}">
                <a16:creationId xmlns:a16="http://schemas.microsoft.com/office/drawing/2014/main" id="{203498DE-FA9C-41A4-38E1-F0B4D3C1B742}"/>
              </a:ext>
            </a:extLst>
          </p:cNvPr>
          <p:cNvSpPr/>
          <p:nvPr/>
        </p:nvSpPr>
        <p:spPr bwMode="auto">
          <a:xfrm rot="5400000">
            <a:off x="483101" y="2986406"/>
            <a:ext cx="556217" cy="689427"/>
          </a:xfrm>
          <a:prstGeom prst="chevron">
            <a:avLst>
              <a:gd name="adj" fmla="val 21005"/>
            </a:avLst>
          </a:prstGeom>
          <a:solidFill>
            <a:sysClr val="window" lastClr="FFFFFF"/>
          </a:solidFill>
          <a:ln w="3175" cap="flat" cmpd="sng" algn="ctr">
            <a:solidFill>
              <a:sysClr val="windowText" lastClr="000000">
                <a:lumMod val="50000"/>
                <a:lumOff val="50000"/>
              </a:sysClr>
            </a:solidFill>
            <a:prstDash val="solid"/>
            <a:round/>
            <a:headEnd type="none" w="med" len="med"/>
            <a:tailEnd type="none" w="med" len="med"/>
          </a:ln>
          <a:effectLst/>
        </p:spPr>
        <p:txBody>
          <a:bodyPr vert="vert270" wrap="none" lIns="0" tIns="33231" rIns="0" bIns="33231" numCol="1" rtlCol="0" anchor="ctr" anchorCtr="0" compatLnSpc="1">
            <a:prstTxWarp prst="textNoShape">
              <a:avLst/>
            </a:prstTxWarp>
          </a:bodyPr>
          <a:lstStyle/>
          <a:p>
            <a:pPr algn="ctr" defTabSz="633062" fontAlgn="base">
              <a:spcBef>
                <a:spcPct val="0"/>
              </a:spcBef>
              <a:spcAft>
                <a:spcPct val="0"/>
              </a:spcAft>
              <a:buClr>
                <a:srgbClr val="000000"/>
              </a:buClr>
              <a:defRPr/>
            </a:pPr>
            <a:r>
              <a:rPr kumimoji="1" lang="en-US" sz="1100" b="1" kern="0" spc="-92" noProof="0" dirty="0">
                <a:solidFill>
                  <a:prstClr val="black"/>
                </a:solidFill>
                <a:latin typeface="Arial Narrow" panose="020B0606020202030204" pitchFamily="34" charset="0"/>
                <a:ea typeface="LG스마트체 Regular" panose="020B0600000101010101" pitchFamily="50" charset="-127"/>
                <a:cs typeface="Arial" charset="0"/>
                <a:sym typeface="Arial"/>
              </a:rPr>
              <a:t>3</a:t>
            </a:r>
          </a:p>
        </p:txBody>
      </p:sp>
      <p:sp>
        <p:nvSpPr>
          <p:cNvPr id="108" name="갈매기형 수장 22">
            <a:extLst>
              <a:ext uri="{FF2B5EF4-FFF2-40B4-BE49-F238E27FC236}">
                <a16:creationId xmlns:a16="http://schemas.microsoft.com/office/drawing/2014/main" id="{89185F63-E785-4351-7A1D-98C1A97B4C7B}"/>
              </a:ext>
            </a:extLst>
          </p:cNvPr>
          <p:cNvSpPr/>
          <p:nvPr/>
        </p:nvSpPr>
        <p:spPr bwMode="auto">
          <a:xfrm rot="5400000">
            <a:off x="485076" y="3778494"/>
            <a:ext cx="556217" cy="689427"/>
          </a:xfrm>
          <a:prstGeom prst="chevron">
            <a:avLst>
              <a:gd name="adj" fmla="val 21005"/>
            </a:avLst>
          </a:prstGeom>
          <a:solidFill>
            <a:sysClr val="window" lastClr="FFFFFF"/>
          </a:solidFill>
          <a:ln w="3175" cap="flat" cmpd="sng" algn="ctr">
            <a:solidFill>
              <a:sysClr val="windowText" lastClr="000000">
                <a:lumMod val="50000"/>
                <a:lumOff val="50000"/>
              </a:sysClr>
            </a:solidFill>
            <a:prstDash val="solid"/>
            <a:round/>
            <a:headEnd type="none" w="med" len="med"/>
            <a:tailEnd type="none" w="med" len="med"/>
          </a:ln>
          <a:effectLst/>
        </p:spPr>
        <p:txBody>
          <a:bodyPr vert="vert270" wrap="none" lIns="0" tIns="33231" rIns="0" bIns="33231" numCol="1" rtlCol="0" anchor="ctr" anchorCtr="0" compatLnSpc="1">
            <a:prstTxWarp prst="textNoShape">
              <a:avLst/>
            </a:prstTxWarp>
          </a:bodyPr>
          <a:lstStyle/>
          <a:p>
            <a:pPr algn="ctr" defTabSz="633062" fontAlgn="base">
              <a:spcBef>
                <a:spcPct val="0"/>
              </a:spcBef>
              <a:spcAft>
                <a:spcPct val="0"/>
              </a:spcAft>
              <a:buClr>
                <a:srgbClr val="000000"/>
              </a:buClr>
              <a:defRPr/>
            </a:pPr>
            <a:r>
              <a:rPr kumimoji="1" lang="en-US" sz="1100" b="1" kern="0" spc="-92" noProof="0" dirty="0">
                <a:solidFill>
                  <a:prstClr val="black"/>
                </a:solidFill>
                <a:latin typeface="Arial Narrow" panose="020B0606020202030204" pitchFamily="34" charset="0"/>
                <a:ea typeface="LG스마트체 Regular" panose="020B0600000101010101" pitchFamily="50" charset="-127"/>
                <a:cs typeface="Arial" charset="0"/>
                <a:sym typeface="Arial"/>
              </a:rPr>
              <a:t>4</a:t>
            </a:r>
          </a:p>
        </p:txBody>
      </p:sp>
      <p:grpSp>
        <p:nvGrpSpPr>
          <p:cNvPr id="109" name="Group 108">
            <a:extLst>
              <a:ext uri="{FF2B5EF4-FFF2-40B4-BE49-F238E27FC236}">
                <a16:creationId xmlns:a16="http://schemas.microsoft.com/office/drawing/2014/main" id="{A0C509F8-B911-F7DF-6282-77A9625B6FA2}"/>
              </a:ext>
            </a:extLst>
          </p:cNvPr>
          <p:cNvGrpSpPr/>
          <p:nvPr/>
        </p:nvGrpSpPr>
        <p:grpSpPr>
          <a:xfrm>
            <a:off x="1118029" y="2260923"/>
            <a:ext cx="2475163" cy="715345"/>
            <a:chOff x="1232793" y="1797204"/>
            <a:chExt cx="2475163" cy="715345"/>
          </a:xfrm>
        </p:grpSpPr>
        <p:sp>
          <p:nvSpPr>
            <p:cNvPr id="110" name="TextBox 109">
              <a:extLst>
                <a:ext uri="{FF2B5EF4-FFF2-40B4-BE49-F238E27FC236}">
                  <a16:creationId xmlns:a16="http://schemas.microsoft.com/office/drawing/2014/main" id="{ED3D81E7-99B3-5C3D-2DFF-335E76B24683}"/>
                </a:ext>
              </a:extLst>
            </p:cNvPr>
            <p:cNvSpPr txBox="1"/>
            <p:nvPr/>
          </p:nvSpPr>
          <p:spPr>
            <a:xfrm>
              <a:off x="1232793" y="1797204"/>
              <a:ext cx="2475163" cy="323165"/>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Open each work order one-by-one to read cause / action / prevention</a:t>
              </a:r>
            </a:p>
          </p:txBody>
        </p:sp>
        <p:sp>
          <p:nvSpPr>
            <p:cNvPr id="111" name="TextBox 110">
              <a:extLst>
                <a:ext uri="{FF2B5EF4-FFF2-40B4-BE49-F238E27FC236}">
                  <a16:creationId xmlns:a16="http://schemas.microsoft.com/office/drawing/2014/main" id="{9198301B-1221-FACB-C7BD-CAFE52F5371D}"/>
                </a:ext>
              </a:extLst>
            </p:cNvPr>
            <p:cNvSpPr txBox="1"/>
            <p:nvPr/>
          </p:nvSpPr>
          <p:spPr>
            <a:xfrm>
              <a:off x="1323546" y="2157580"/>
              <a:ext cx="2031804" cy="354969"/>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작업지시를 하나씩 열어 원인·조치·재발방지 확인</a:t>
              </a:r>
            </a:p>
          </p:txBody>
        </p:sp>
      </p:grpSp>
      <p:grpSp>
        <p:nvGrpSpPr>
          <p:cNvPr id="112" name="Group 111">
            <a:extLst>
              <a:ext uri="{FF2B5EF4-FFF2-40B4-BE49-F238E27FC236}">
                <a16:creationId xmlns:a16="http://schemas.microsoft.com/office/drawing/2014/main" id="{E9F7FBD6-59A0-357A-894C-F83BFC79EE9E}"/>
              </a:ext>
            </a:extLst>
          </p:cNvPr>
          <p:cNvGrpSpPr/>
          <p:nvPr/>
        </p:nvGrpSpPr>
        <p:grpSpPr>
          <a:xfrm>
            <a:off x="1103128" y="3089886"/>
            <a:ext cx="2475163" cy="723855"/>
            <a:chOff x="1229998" y="1575989"/>
            <a:chExt cx="2475163" cy="723855"/>
          </a:xfrm>
        </p:grpSpPr>
        <p:sp>
          <p:nvSpPr>
            <p:cNvPr id="113" name="TextBox 112">
              <a:extLst>
                <a:ext uri="{FF2B5EF4-FFF2-40B4-BE49-F238E27FC236}">
                  <a16:creationId xmlns:a16="http://schemas.microsoft.com/office/drawing/2014/main" id="{F8E65ADE-3513-74F4-D67D-ADB5D21A24CE}"/>
                </a:ext>
              </a:extLst>
            </p:cNvPr>
            <p:cNvSpPr txBox="1"/>
            <p:nvPr/>
          </p:nvSpPr>
          <p:spPr>
            <a:xfrm>
              <a:off x="1229998" y="1575989"/>
              <a:ext cx="2475163" cy="323165"/>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Re-search with new filters to check if issue occurred before</a:t>
              </a:r>
            </a:p>
          </p:txBody>
        </p:sp>
        <p:sp>
          <p:nvSpPr>
            <p:cNvPr id="114" name="TextBox 113">
              <a:extLst>
                <a:ext uri="{FF2B5EF4-FFF2-40B4-BE49-F238E27FC236}">
                  <a16:creationId xmlns:a16="http://schemas.microsoft.com/office/drawing/2014/main" id="{D6B2710F-49C2-E928-3266-23DE4AD7D69F}"/>
                </a:ext>
              </a:extLst>
            </p:cNvPr>
            <p:cNvSpPr txBox="1"/>
            <p:nvPr/>
          </p:nvSpPr>
          <p:spPr>
            <a:xfrm>
              <a:off x="1370483" y="1944875"/>
              <a:ext cx="2031804" cy="354969"/>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과거 발생 여부 확인 위해 필터 변경 후 재검색 반복</a:t>
              </a:r>
            </a:p>
          </p:txBody>
        </p:sp>
      </p:grpSp>
      <p:grpSp>
        <p:nvGrpSpPr>
          <p:cNvPr id="115" name="Group 114">
            <a:extLst>
              <a:ext uri="{FF2B5EF4-FFF2-40B4-BE49-F238E27FC236}">
                <a16:creationId xmlns:a16="http://schemas.microsoft.com/office/drawing/2014/main" id="{5A88BB77-5A29-7731-E32F-4868FAD65F05}"/>
              </a:ext>
            </a:extLst>
          </p:cNvPr>
          <p:cNvGrpSpPr/>
          <p:nvPr/>
        </p:nvGrpSpPr>
        <p:grpSpPr>
          <a:xfrm>
            <a:off x="1125291" y="3881974"/>
            <a:ext cx="2475163" cy="723855"/>
            <a:chOff x="1232793" y="1792013"/>
            <a:chExt cx="2475163" cy="723855"/>
          </a:xfrm>
        </p:grpSpPr>
        <p:sp>
          <p:nvSpPr>
            <p:cNvPr id="116" name="TextBox 115">
              <a:extLst>
                <a:ext uri="{FF2B5EF4-FFF2-40B4-BE49-F238E27FC236}">
                  <a16:creationId xmlns:a16="http://schemas.microsoft.com/office/drawing/2014/main" id="{CFEC3983-CB8F-D2E2-EEDC-0EF448C5737A}"/>
                </a:ext>
              </a:extLst>
            </p:cNvPr>
            <p:cNvSpPr txBox="1"/>
            <p:nvPr/>
          </p:nvSpPr>
          <p:spPr>
            <a:xfrm>
              <a:off x="1232793" y="1792013"/>
              <a:ext cx="2475163" cy="323165"/>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Manually compile findings in Excel / Email for reporting</a:t>
              </a:r>
            </a:p>
          </p:txBody>
        </p:sp>
        <p:sp>
          <p:nvSpPr>
            <p:cNvPr id="117" name="TextBox 116">
              <a:extLst>
                <a:ext uri="{FF2B5EF4-FFF2-40B4-BE49-F238E27FC236}">
                  <a16:creationId xmlns:a16="http://schemas.microsoft.com/office/drawing/2014/main" id="{80C5AA8B-5E7E-7EDD-E078-29E902BBC769}"/>
                </a:ext>
              </a:extLst>
            </p:cNvPr>
            <p:cNvSpPr txBox="1"/>
            <p:nvPr/>
          </p:nvSpPr>
          <p:spPr>
            <a:xfrm>
              <a:off x="1370483" y="2160899"/>
              <a:ext cx="2031804" cy="354969"/>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결과를 엑셀·이메일로 수기 취합 및 보고</a:t>
              </a:r>
            </a:p>
          </p:txBody>
        </p:sp>
      </p:grpSp>
      <p:cxnSp>
        <p:nvCxnSpPr>
          <p:cNvPr id="118" name="직선 연결선 103">
            <a:extLst>
              <a:ext uri="{FF2B5EF4-FFF2-40B4-BE49-F238E27FC236}">
                <a16:creationId xmlns:a16="http://schemas.microsoft.com/office/drawing/2014/main" id="{AC3B60AE-77B8-569A-1023-A611F902120C}"/>
              </a:ext>
            </a:extLst>
          </p:cNvPr>
          <p:cNvCxnSpPr>
            <a:cxnSpLocks/>
          </p:cNvCxnSpPr>
          <p:nvPr/>
        </p:nvCxnSpPr>
        <p:spPr>
          <a:xfrm>
            <a:off x="1182287" y="3053011"/>
            <a:ext cx="2448000" cy="0"/>
          </a:xfrm>
          <a:prstGeom prst="line">
            <a:avLst/>
          </a:prstGeom>
          <a:noFill/>
          <a:ln w="3175" cap="flat" cmpd="sng" algn="ctr">
            <a:solidFill>
              <a:sysClr val="window" lastClr="FFFFFF">
                <a:lumMod val="65000"/>
              </a:sysClr>
            </a:solidFill>
            <a:prstDash val="dash"/>
            <a:miter lim="800000"/>
            <a:headEnd type="none" w="med" len="med"/>
            <a:tailEnd type="none" w="med" len="med"/>
          </a:ln>
          <a:effectLst/>
        </p:spPr>
      </p:cxnSp>
      <p:cxnSp>
        <p:nvCxnSpPr>
          <p:cNvPr id="119" name="직선 연결선 103">
            <a:extLst>
              <a:ext uri="{FF2B5EF4-FFF2-40B4-BE49-F238E27FC236}">
                <a16:creationId xmlns:a16="http://schemas.microsoft.com/office/drawing/2014/main" id="{9436FE3C-B61C-A16A-E0BC-8415096573A8}"/>
              </a:ext>
            </a:extLst>
          </p:cNvPr>
          <p:cNvCxnSpPr>
            <a:cxnSpLocks/>
          </p:cNvCxnSpPr>
          <p:nvPr/>
        </p:nvCxnSpPr>
        <p:spPr>
          <a:xfrm>
            <a:off x="1182287" y="3845099"/>
            <a:ext cx="2448000" cy="0"/>
          </a:xfrm>
          <a:prstGeom prst="line">
            <a:avLst/>
          </a:prstGeom>
          <a:noFill/>
          <a:ln w="3175" cap="flat" cmpd="sng" algn="ctr">
            <a:solidFill>
              <a:sysClr val="window" lastClr="FFFFFF">
                <a:lumMod val="65000"/>
              </a:sysClr>
            </a:solidFill>
            <a:prstDash val="dash"/>
            <a:miter lim="800000"/>
            <a:headEnd type="none" w="med" len="med"/>
            <a:tailEnd type="none" w="med" len="med"/>
          </a:ln>
          <a:effectLst/>
        </p:spPr>
      </p:cxnSp>
      <p:cxnSp>
        <p:nvCxnSpPr>
          <p:cNvPr id="120" name="직선 연결선 103">
            <a:extLst>
              <a:ext uri="{FF2B5EF4-FFF2-40B4-BE49-F238E27FC236}">
                <a16:creationId xmlns:a16="http://schemas.microsoft.com/office/drawing/2014/main" id="{1CDDC0D6-9B39-247A-C0C0-386D63066295}"/>
              </a:ext>
            </a:extLst>
          </p:cNvPr>
          <p:cNvCxnSpPr>
            <a:cxnSpLocks/>
          </p:cNvCxnSpPr>
          <p:nvPr/>
        </p:nvCxnSpPr>
        <p:spPr>
          <a:xfrm>
            <a:off x="4052999" y="2209186"/>
            <a:ext cx="2448000" cy="0"/>
          </a:xfrm>
          <a:prstGeom prst="line">
            <a:avLst/>
          </a:prstGeom>
          <a:noFill/>
          <a:ln w="3175" cap="flat" cmpd="sng" algn="ctr">
            <a:solidFill>
              <a:sysClr val="window" lastClr="FFFFFF">
                <a:lumMod val="65000"/>
              </a:sysClr>
            </a:solidFill>
            <a:prstDash val="dash"/>
            <a:miter lim="800000"/>
            <a:headEnd type="none" w="med" len="med"/>
            <a:tailEnd type="none" w="med" len="med"/>
          </a:ln>
          <a:effectLst/>
        </p:spPr>
      </p:cxnSp>
      <p:cxnSp>
        <p:nvCxnSpPr>
          <p:cNvPr id="121" name="직선 연결선 103">
            <a:extLst>
              <a:ext uri="{FF2B5EF4-FFF2-40B4-BE49-F238E27FC236}">
                <a16:creationId xmlns:a16="http://schemas.microsoft.com/office/drawing/2014/main" id="{009DBD6C-76F0-9D3E-F1BC-120301C67F30}"/>
              </a:ext>
            </a:extLst>
          </p:cNvPr>
          <p:cNvCxnSpPr>
            <a:cxnSpLocks/>
          </p:cNvCxnSpPr>
          <p:nvPr/>
        </p:nvCxnSpPr>
        <p:spPr>
          <a:xfrm>
            <a:off x="4052999" y="3054083"/>
            <a:ext cx="2448000" cy="0"/>
          </a:xfrm>
          <a:prstGeom prst="line">
            <a:avLst/>
          </a:prstGeom>
          <a:noFill/>
          <a:ln w="3175" cap="flat" cmpd="sng" algn="ctr">
            <a:solidFill>
              <a:sysClr val="window" lastClr="FFFFFF">
                <a:lumMod val="65000"/>
              </a:sysClr>
            </a:solidFill>
            <a:prstDash val="dash"/>
            <a:miter lim="800000"/>
            <a:headEnd type="none" w="med" len="med"/>
            <a:tailEnd type="none" w="med" len="med"/>
          </a:ln>
          <a:effectLst/>
        </p:spPr>
      </p:cxnSp>
      <p:cxnSp>
        <p:nvCxnSpPr>
          <p:cNvPr id="122" name="직선 연결선 103">
            <a:extLst>
              <a:ext uri="{FF2B5EF4-FFF2-40B4-BE49-F238E27FC236}">
                <a16:creationId xmlns:a16="http://schemas.microsoft.com/office/drawing/2014/main" id="{65122EDB-DFBA-8AE4-9BD6-774F30CEA53B}"/>
              </a:ext>
            </a:extLst>
          </p:cNvPr>
          <p:cNvCxnSpPr>
            <a:cxnSpLocks/>
          </p:cNvCxnSpPr>
          <p:nvPr/>
        </p:nvCxnSpPr>
        <p:spPr>
          <a:xfrm>
            <a:off x="4052999" y="3883587"/>
            <a:ext cx="2448000" cy="0"/>
          </a:xfrm>
          <a:prstGeom prst="line">
            <a:avLst/>
          </a:prstGeom>
          <a:noFill/>
          <a:ln w="3175" cap="flat" cmpd="sng" algn="ctr">
            <a:solidFill>
              <a:sysClr val="window" lastClr="FFFFFF">
                <a:lumMod val="65000"/>
              </a:sysClr>
            </a:solidFill>
            <a:prstDash val="dash"/>
            <a:miter lim="800000"/>
            <a:headEnd type="none" w="med" len="med"/>
            <a:tailEnd type="none" w="med" len="med"/>
          </a:ln>
          <a:effectLst/>
        </p:spPr>
      </p:cxnSp>
      <p:grpSp>
        <p:nvGrpSpPr>
          <p:cNvPr id="123" name="Group 122">
            <a:extLst>
              <a:ext uri="{FF2B5EF4-FFF2-40B4-BE49-F238E27FC236}">
                <a16:creationId xmlns:a16="http://schemas.microsoft.com/office/drawing/2014/main" id="{19EAC9E1-2547-2477-E0A0-625FF29231F8}"/>
              </a:ext>
            </a:extLst>
          </p:cNvPr>
          <p:cNvGrpSpPr/>
          <p:nvPr/>
        </p:nvGrpSpPr>
        <p:grpSpPr>
          <a:xfrm>
            <a:off x="3997240" y="1500137"/>
            <a:ext cx="2475163" cy="683707"/>
            <a:chOff x="1232793" y="1797204"/>
            <a:chExt cx="2475163" cy="683707"/>
          </a:xfrm>
        </p:grpSpPr>
        <p:sp>
          <p:nvSpPr>
            <p:cNvPr id="124" name="TextBox 123">
              <a:extLst>
                <a:ext uri="{FF2B5EF4-FFF2-40B4-BE49-F238E27FC236}">
                  <a16:creationId xmlns:a16="http://schemas.microsoft.com/office/drawing/2014/main" id="{BB209B47-DF4C-4142-F232-B5DF0541A8C8}"/>
                </a:ext>
              </a:extLst>
            </p:cNvPr>
            <p:cNvSpPr txBox="1"/>
            <p:nvPr/>
          </p:nvSpPr>
          <p:spPr>
            <a:xfrm>
              <a:off x="1232793" y="1797204"/>
              <a:ext cx="2475163" cy="323165"/>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User types one natural-language question in Teams Copilot Studio</a:t>
              </a:r>
            </a:p>
          </p:txBody>
        </p:sp>
        <p:sp>
          <p:nvSpPr>
            <p:cNvPr id="125" name="TextBox 124">
              <a:extLst>
                <a:ext uri="{FF2B5EF4-FFF2-40B4-BE49-F238E27FC236}">
                  <a16:creationId xmlns:a16="http://schemas.microsoft.com/office/drawing/2014/main" id="{B06D4A94-A626-FCE7-FA48-256CFCC43112}"/>
                </a:ext>
              </a:extLst>
            </p:cNvPr>
            <p:cNvSpPr txBox="1"/>
            <p:nvPr/>
          </p:nvSpPr>
          <p:spPr>
            <a:xfrm>
              <a:off x="1370483" y="2125942"/>
              <a:ext cx="2031804" cy="354969"/>
            </a:xfrm>
            <a:prstGeom prst="rect">
              <a:avLst/>
            </a:prstGeom>
            <a:noFill/>
            <a:ln>
              <a:noFill/>
            </a:ln>
          </p:spPr>
          <p:txBody>
            <a:bodyPr wrap="square" lIns="0" tIns="0" rIns="0" bIns="0" rtlCol="0">
              <a:spAutoFit/>
            </a:bodyPr>
            <a:lstStyle/>
            <a:p>
              <a:pPr marL="58570">
                <a:lnSpc>
                  <a:spcPct val="120000"/>
                </a:lnSpc>
                <a:tabLst>
                  <a:tab pos="740038" algn="l"/>
                </a:tabLst>
              </a:pPr>
              <a:r>
                <a:rPr lang="en-US" sz="1000" noProof="0" dirty="0">
                  <a:solidFill>
                    <a:schemeClr val="bg1">
                      <a:lumMod val="50000"/>
                    </a:schemeClr>
                  </a:solidFill>
                  <a:latin typeface="Arial Narrow"/>
                  <a:ea typeface="LG스마트체 Regular"/>
                  <a:cs typeface="Arial"/>
                </a:rPr>
                <a:t>- Teams Copilot Studio에서 자연어로 한 번에 질의</a:t>
              </a:r>
            </a:p>
          </p:txBody>
        </p:sp>
      </p:grpSp>
      <p:grpSp>
        <p:nvGrpSpPr>
          <p:cNvPr id="128" name="Group 127">
            <a:extLst>
              <a:ext uri="{FF2B5EF4-FFF2-40B4-BE49-F238E27FC236}">
                <a16:creationId xmlns:a16="http://schemas.microsoft.com/office/drawing/2014/main" id="{4D3BF3E8-F172-C86F-9828-0E49819C1333}"/>
              </a:ext>
            </a:extLst>
          </p:cNvPr>
          <p:cNvGrpSpPr/>
          <p:nvPr/>
        </p:nvGrpSpPr>
        <p:grpSpPr>
          <a:xfrm>
            <a:off x="3957321" y="4937201"/>
            <a:ext cx="2492170" cy="795609"/>
            <a:chOff x="1232793" y="1797204"/>
            <a:chExt cx="2492170" cy="557913"/>
          </a:xfrm>
        </p:grpSpPr>
        <p:sp>
          <p:nvSpPr>
            <p:cNvPr id="129" name="TextBox 128">
              <a:extLst>
                <a:ext uri="{FF2B5EF4-FFF2-40B4-BE49-F238E27FC236}">
                  <a16:creationId xmlns:a16="http://schemas.microsoft.com/office/drawing/2014/main" id="{96DD1F1A-52A6-6C35-6B95-9BABF97C233E}"/>
                </a:ext>
              </a:extLst>
            </p:cNvPr>
            <p:cNvSpPr txBox="1"/>
            <p:nvPr/>
          </p:nvSpPr>
          <p:spPr>
            <a:xfrm>
              <a:off x="1232793" y="1797204"/>
              <a:ext cx="2475163" cy="226616"/>
            </a:xfrm>
            <a:prstGeom prst="rect">
              <a:avLst/>
            </a:prstGeom>
            <a:noFill/>
            <a:ln>
              <a:noFill/>
            </a:ln>
          </p:spPr>
          <p:txBody>
            <a:bodyPr wrap="square" lIns="33231" tIns="0" rIns="33231" bIns="0" rtlCol="0">
              <a:spAutoFit/>
            </a:bodyPr>
            <a:lstStyle/>
            <a:p>
              <a:pPr marL="230020" indent="-171450">
                <a:buFont typeface="Arial" panose="020B0604020202020204" pitchFamily="34" charset="0"/>
                <a:buChar char="•"/>
                <a:tabLst>
                  <a:tab pos="740038" algn="l"/>
                </a:tabLst>
                <a:defRPr/>
              </a:pPr>
              <a:r>
                <a:rPr lang="en-US" sz="1050" kern="0" noProof="0" dirty="0">
                  <a:latin typeface="Arial Narrow"/>
                  <a:ea typeface="LG스마트체 Regular"/>
                  <a:cs typeface="Arial"/>
                </a:rPr>
                <a:t>AI returns top causes, repeat frequency, MTTR trend snippets in same answer</a:t>
              </a:r>
            </a:p>
          </p:txBody>
        </p:sp>
        <p:sp>
          <p:nvSpPr>
            <p:cNvPr id="130" name="TextBox 129">
              <a:extLst>
                <a:ext uri="{FF2B5EF4-FFF2-40B4-BE49-F238E27FC236}">
                  <a16:creationId xmlns:a16="http://schemas.microsoft.com/office/drawing/2014/main" id="{0D300483-1965-4C8A-D1B4-B1F94E4ABDB8}"/>
                </a:ext>
              </a:extLst>
            </p:cNvPr>
            <p:cNvSpPr txBox="1"/>
            <p:nvPr/>
          </p:nvSpPr>
          <p:spPr>
            <a:xfrm>
              <a:off x="1351448" y="2105614"/>
              <a:ext cx="2373515" cy="215825"/>
            </a:xfrm>
            <a:prstGeom prst="rect">
              <a:avLst/>
            </a:prstGeom>
            <a:noFill/>
            <a:ln>
              <a:noFill/>
            </a:ln>
          </p:spPr>
          <p:txBody>
            <a:bodyPr wrap="square" lIns="0" tIns="0" rIns="0" bIns="0" rtlCol="0">
              <a:spAutoFit/>
            </a:bodyPr>
            <a:lstStyle>
              <a:defPPr>
                <a:defRPr lang="ko-KR"/>
              </a:defPPr>
              <a:lvl1pPr marL="58570">
                <a:lnSpc>
                  <a:spcPct val="120000"/>
                </a:lnSpc>
                <a:tabLst>
                  <a:tab pos="740038" algn="l"/>
                </a:tabLst>
                <a:defRPr sz="1000">
                  <a:solidFill>
                    <a:schemeClr val="bg1">
                      <a:lumMod val="50000"/>
                    </a:schemeClr>
                  </a:solidFill>
                  <a:latin typeface="Arial Narrow"/>
                  <a:ea typeface="LG스마트체 Regular"/>
                  <a:cs typeface="Arial"/>
                </a:defRPr>
              </a:lvl1pPr>
            </a:lstStyle>
            <a:p>
              <a:r>
                <a:rPr lang="en-US" noProof="0" dirty="0"/>
                <a:t>동일 응답에 상위 원인·반복 빈도·MTTR 추세 자동 포함</a:t>
              </a:r>
            </a:p>
          </p:txBody>
        </p:sp>
      </p:grpSp>
      <p:pic>
        <p:nvPicPr>
          <p:cNvPr id="143" name="Picture 142">
            <a:extLst>
              <a:ext uri="{FF2B5EF4-FFF2-40B4-BE49-F238E27FC236}">
                <a16:creationId xmlns:a16="http://schemas.microsoft.com/office/drawing/2014/main" id="{26104868-0297-1853-88BF-6208DA45DE03}"/>
              </a:ext>
            </a:extLst>
          </p:cNvPr>
          <p:cNvPicPr>
            <a:picLocks noChangeAspect="1"/>
          </p:cNvPicPr>
          <p:nvPr/>
        </p:nvPicPr>
        <p:blipFill>
          <a:blip r:embed="rId2"/>
          <a:stretch>
            <a:fillRect/>
          </a:stretch>
        </p:blipFill>
        <p:spPr>
          <a:xfrm>
            <a:off x="7432850" y="1397881"/>
            <a:ext cx="2175679" cy="1907444"/>
          </a:xfrm>
          <a:prstGeom prst="rect">
            <a:avLst/>
          </a:prstGeom>
        </p:spPr>
      </p:pic>
      <p:pic>
        <p:nvPicPr>
          <p:cNvPr id="147" name="Picture 146">
            <a:extLst>
              <a:ext uri="{FF2B5EF4-FFF2-40B4-BE49-F238E27FC236}">
                <a16:creationId xmlns:a16="http://schemas.microsoft.com/office/drawing/2014/main" id="{B1FB89CA-91AD-B5E4-0C39-E7C120C5C977}"/>
              </a:ext>
            </a:extLst>
          </p:cNvPr>
          <p:cNvPicPr>
            <a:picLocks noChangeAspect="1"/>
          </p:cNvPicPr>
          <p:nvPr/>
        </p:nvPicPr>
        <p:blipFill>
          <a:blip r:embed="rId3"/>
          <a:stretch>
            <a:fillRect/>
          </a:stretch>
        </p:blipFill>
        <p:spPr>
          <a:xfrm>
            <a:off x="7432850" y="3866496"/>
            <a:ext cx="2176292" cy="1911096"/>
          </a:xfrm>
          <a:prstGeom prst="rect">
            <a:avLst/>
          </a:prstGeom>
        </p:spPr>
      </p:pic>
      <p:sp>
        <p:nvSpPr>
          <p:cNvPr id="148" name="TextBox 147">
            <a:extLst>
              <a:ext uri="{FF2B5EF4-FFF2-40B4-BE49-F238E27FC236}">
                <a16:creationId xmlns:a16="http://schemas.microsoft.com/office/drawing/2014/main" id="{77F7A2DD-B4CD-4743-B7B3-1EA67FAFD743}"/>
              </a:ext>
            </a:extLst>
          </p:cNvPr>
          <p:cNvSpPr txBox="1"/>
          <p:nvPr/>
        </p:nvSpPr>
        <p:spPr>
          <a:xfrm>
            <a:off x="7432850" y="3328333"/>
            <a:ext cx="2175678" cy="553998"/>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pPr algn="ctr"/>
            <a:r>
              <a:rPr lang="en-US" sz="1000" b="1" noProof="0" dirty="0">
                <a:solidFill>
                  <a:srgbClr val="FF0000"/>
                </a:solidFill>
                <a:latin typeface="Arial Narrow"/>
                <a:ea typeface="LG스마트체 Regular" panose="020B0600000101010101"/>
              </a:rPr>
              <a:t>2025 — Total hrs spent</a:t>
            </a:r>
          </a:p>
          <a:p>
            <a:pPr algn="ctr"/>
            <a:r>
              <a:rPr lang="en-US" sz="1000" b="1" noProof="0" dirty="0">
                <a:solidFill>
                  <a:srgbClr val="FF0000"/>
                </a:solidFill>
                <a:latin typeface="Arial Narrow"/>
                <a:ea typeface="LG스마트체 Regular" panose="020B0600000101010101"/>
              </a:rPr>
              <a:t>7,854 hrs</a:t>
            </a:r>
          </a:p>
          <a:p>
            <a:pPr algn="ctr"/>
            <a:r>
              <a:rPr lang="en-US" sz="1000" b="1" noProof="0" dirty="0">
                <a:solidFill>
                  <a:srgbClr val="FF0000"/>
                </a:solidFill>
                <a:latin typeface="Arial Narrow"/>
                <a:ea typeface="LG스마트체 Regular" panose="020B0600000101010101"/>
              </a:rPr>
              <a:t>654 hrs/month × 12</a:t>
            </a:r>
            <a:endParaRPr lang="en-US" sz="1000" b="1" noProof="0" dirty="0">
              <a:solidFill>
                <a:srgbClr val="FF0000"/>
              </a:solidFill>
              <a:latin typeface="Arial Narrow"/>
            </a:endParaRPr>
          </a:p>
        </p:txBody>
      </p:sp>
      <p:sp>
        <p:nvSpPr>
          <p:cNvPr id="149" name="TextBox 148">
            <a:extLst>
              <a:ext uri="{FF2B5EF4-FFF2-40B4-BE49-F238E27FC236}">
                <a16:creationId xmlns:a16="http://schemas.microsoft.com/office/drawing/2014/main" id="{C83553B9-9583-6B91-4C07-FA2EDB93CFA7}"/>
              </a:ext>
            </a:extLst>
          </p:cNvPr>
          <p:cNvSpPr txBox="1"/>
          <p:nvPr/>
        </p:nvSpPr>
        <p:spPr>
          <a:xfrm>
            <a:off x="7323322" y="5730852"/>
            <a:ext cx="2175678" cy="553998"/>
          </a:xfrm>
          <a:prstGeom prst="rect">
            <a:avLst/>
          </a:prstGeom>
          <a:noFill/>
        </p:spPr>
        <p:txBody>
          <a:bodyPr wrap="square" lIns="91440" tIns="45720" rIns="91440" bIns="45720" rtlCol="0" anchor="t">
            <a:spAutoFit/>
          </a:bodyPr>
          <a:lstStyle>
            <a:defPPr>
              <a:defRPr lang="ko-KR"/>
            </a:defPPr>
            <a:lvl1pPr marL="0" algn="l" defTabSz="952799" rtl="0" eaLnBrk="1" latinLnBrk="1" hangingPunct="1">
              <a:defRPr sz="1900" kern="1200">
                <a:solidFill>
                  <a:schemeClr val="tx1"/>
                </a:solidFill>
                <a:latin typeface="+mn-lt"/>
                <a:ea typeface="+mn-ea"/>
                <a:cs typeface="+mn-cs"/>
              </a:defRPr>
            </a:lvl1pPr>
            <a:lvl2pPr marL="476393" algn="l" defTabSz="952799" rtl="0" eaLnBrk="1" latinLnBrk="1" hangingPunct="1">
              <a:defRPr sz="1900" kern="1200">
                <a:solidFill>
                  <a:schemeClr val="tx1"/>
                </a:solidFill>
                <a:latin typeface="+mn-lt"/>
                <a:ea typeface="+mn-ea"/>
                <a:cs typeface="+mn-cs"/>
              </a:defRPr>
            </a:lvl2pPr>
            <a:lvl3pPr marL="952799" algn="l" defTabSz="952799" rtl="0" eaLnBrk="1" latinLnBrk="1" hangingPunct="1">
              <a:defRPr sz="1900" kern="1200">
                <a:solidFill>
                  <a:schemeClr val="tx1"/>
                </a:solidFill>
                <a:latin typeface="+mn-lt"/>
                <a:ea typeface="+mn-ea"/>
                <a:cs typeface="+mn-cs"/>
              </a:defRPr>
            </a:lvl3pPr>
            <a:lvl4pPr marL="1429186" algn="l" defTabSz="952799" rtl="0" eaLnBrk="1" latinLnBrk="1" hangingPunct="1">
              <a:defRPr sz="1900" kern="1200">
                <a:solidFill>
                  <a:schemeClr val="tx1"/>
                </a:solidFill>
                <a:latin typeface="+mn-lt"/>
                <a:ea typeface="+mn-ea"/>
                <a:cs typeface="+mn-cs"/>
              </a:defRPr>
            </a:lvl4pPr>
            <a:lvl5pPr marL="1905599" algn="l" defTabSz="952799" rtl="0" eaLnBrk="1" latinLnBrk="1" hangingPunct="1">
              <a:defRPr sz="1900" kern="1200">
                <a:solidFill>
                  <a:schemeClr val="tx1"/>
                </a:solidFill>
                <a:latin typeface="+mn-lt"/>
                <a:ea typeface="+mn-ea"/>
                <a:cs typeface="+mn-cs"/>
              </a:defRPr>
            </a:lvl5pPr>
            <a:lvl6pPr marL="2382005" algn="l" defTabSz="952799" rtl="0" eaLnBrk="1" latinLnBrk="1" hangingPunct="1">
              <a:defRPr sz="1900" kern="1200">
                <a:solidFill>
                  <a:schemeClr val="tx1"/>
                </a:solidFill>
                <a:latin typeface="+mn-lt"/>
                <a:ea typeface="+mn-ea"/>
                <a:cs typeface="+mn-cs"/>
              </a:defRPr>
            </a:lvl6pPr>
            <a:lvl7pPr marL="2858398" algn="l" defTabSz="952799" rtl="0" eaLnBrk="1" latinLnBrk="1" hangingPunct="1">
              <a:defRPr sz="1900" kern="1200">
                <a:solidFill>
                  <a:schemeClr val="tx1"/>
                </a:solidFill>
                <a:latin typeface="+mn-lt"/>
                <a:ea typeface="+mn-ea"/>
                <a:cs typeface="+mn-cs"/>
              </a:defRPr>
            </a:lvl7pPr>
            <a:lvl8pPr marL="3334801" algn="l" defTabSz="952799" rtl="0" eaLnBrk="1" latinLnBrk="1" hangingPunct="1">
              <a:defRPr sz="1900" kern="1200">
                <a:solidFill>
                  <a:schemeClr val="tx1"/>
                </a:solidFill>
                <a:latin typeface="+mn-lt"/>
                <a:ea typeface="+mn-ea"/>
                <a:cs typeface="+mn-cs"/>
              </a:defRPr>
            </a:lvl8pPr>
            <a:lvl9pPr marL="3811188" algn="l" defTabSz="952799" rtl="0" eaLnBrk="1" latinLnBrk="1" hangingPunct="1">
              <a:defRPr sz="1900" kern="1200">
                <a:solidFill>
                  <a:schemeClr val="tx1"/>
                </a:solidFill>
                <a:latin typeface="+mn-lt"/>
                <a:ea typeface="+mn-ea"/>
                <a:cs typeface="+mn-cs"/>
              </a:defRPr>
            </a:lvl9pPr>
          </a:lstStyle>
          <a:p>
            <a:pPr algn="ctr"/>
            <a:r>
              <a:rPr lang="en-US" sz="1000" b="1" noProof="0" dirty="0">
                <a:solidFill>
                  <a:srgbClr val="008000"/>
                </a:solidFill>
                <a:latin typeface="Arial Narrow"/>
                <a:ea typeface="LG스마트체 Regular" panose="020B0600000101010101"/>
              </a:rPr>
              <a:t>Savings / year</a:t>
            </a:r>
          </a:p>
          <a:p>
            <a:pPr algn="ctr"/>
            <a:r>
              <a:rPr lang="en-US" sz="1000" b="1" noProof="0" dirty="0">
                <a:solidFill>
                  <a:srgbClr val="008000"/>
                </a:solidFill>
                <a:latin typeface="Arial Narrow"/>
                <a:ea typeface="LG스마트체 Regular" panose="020B0600000101010101"/>
              </a:rPr>
              <a:t>$314,160</a:t>
            </a:r>
          </a:p>
          <a:p>
            <a:pPr algn="ctr"/>
            <a:r>
              <a:rPr lang="en-US" sz="1000" b="1" noProof="0" dirty="0">
                <a:solidFill>
                  <a:srgbClr val="008000"/>
                </a:solidFill>
                <a:latin typeface="Arial Narrow"/>
                <a:ea typeface="LG스마트체 Regular" panose="020B0600000101010101"/>
              </a:rPr>
              <a:t>7,854 hrs saved</a:t>
            </a:r>
            <a:endParaRPr lang="en-US" sz="1000" b="1" noProof="0" dirty="0">
              <a:solidFill>
                <a:srgbClr val="008000"/>
              </a:solidFill>
              <a:latin typeface="Arial Narrow"/>
            </a:endParaRPr>
          </a:p>
        </p:txBody>
      </p:sp>
      <p:sp>
        <p:nvSpPr>
          <p:cNvPr id="155" name="Pentagon 88">
            <a:extLst>
              <a:ext uri="{FF2B5EF4-FFF2-40B4-BE49-F238E27FC236}">
                <a16:creationId xmlns:a16="http://schemas.microsoft.com/office/drawing/2014/main" id="{D90F0F22-DE3F-066F-7EDF-7E99DB8350C6}"/>
              </a:ext>
            </a:extLst>
          </p:cNvPr>
          <p:cNvSpPr/>
          <p:nvPr/>
        </p:nvSpPr>
        <p:spPr>
          <a:xfrm rot="5400000">
            <a:off x="6676541" y="2144121"/>
            <a:ext cx="575930" cy="697421"/>
          </a:xfrm>
          <a:prstGeom prst="homePlate">
            <a:avLst>
              <a:gd name="adj" fmla="val 23083"/>
            </a:avLst>
          </a:prstGeom>
          <a:solidFill>
            <a:srgbClr val="008000"/>
          </a:solidFill>
          <a:ln w="3175" cap="flat" cmpd="sng" algn="ctr">
            <a:solidFill>
              <a:schemeClr val="bg1">
                <a:lumMod val="50000"/>
              </a:schemeClr>
            </a:solidFill>
            <a:prstDash val="solid"/>
          </a:ln>
          <a:effectLst/>
        </p:spPr>
        <p:txBody>
          <a:bodyPr vert="vert270" lIns="0" tIns="0" rIns="0" bIns="0" rtlCol="0" anchor="ctr"/>
          <a:lstStyle/>
          <a:p>
            <a:pPr algn="ctr"/>
            <a:r>
              <a:rPr lang="en-US" sz="1000" noProof="0" dirty="0">
                <a:solidFill>
                  <a:schemeClr val="bg1"/>
                </a:solidFill>
                <a:latin typeface="Arial Narrow" panose="020B0606020202030204" pitchFamily="34" charset="0"/>
                <a:ea typeface="Calibri" pitchFamily="34" charset="-122"/>
                <a:cs typeface="Calibri" pitchFamily="34" charset="-120"/>
              </a:rPr>
              <a:t>~95% </a:t>
            </a:r>
          </a:p>
          <a:p>
            <a:pPr algn="ctr"/>
            <a:r>
              <a:rPr lang="en-US" sz="1000" noProof="0" dirty="0">
                <a:solidFill>
                  <a:schemeClr val="bg1"/>
                </a:solidFill>
                <a:latin typeface="Arial Narrow" panose="020B0606020202030204" pitchFamily="34" charset="0"/>
                <a:ea typeface="Calibri" pitchFamily="34" charset="-122"/>
                <a:cs typeface="Calibri" pitchFamily="34" charset="-120"/>
              </a:rPr>
              <a:t>Reduction</a:t>
            </a:r>
            <a:endParaRPr kumimoji="1" lang="en-US" sz="1000" b="1" kern="0" spc="-92" noProof="0" dirty="0">
              <a:solidFill>
                <a:schemeClr val="bg1"/>
              </a:solidFill>
              <a:latin typeface="Arial Narrow" panose="020B0606020202030204" pitchFamily="34" charset="0"/>
              <a:ea typeface="LG스마트체 Regular" panose="020B0600000101010101" pitchFamily="50" charset="-127"/>
              <a:cs typeface="Arial" charset="0"/>
              <a:sym typeface="Arial"/>
            </a:endParaRPr>
          </a:p>
        </p:txBody>
      </p:sp>
      <p:sp>
        <p:nvSpPr>
          <p:cNvPr id="156" name="Pentagon 88">
            <a:extLst>
              <a:ext uri="{FF2B5EF4-FFF2-40B4-BE49-F238E27FC236}">
                <a16:creationId xmlns:a16="http://schemas.microsoft.com/office/drawing/2014/main" id="{D085D684-041B-BECF-36AC-3EB8A41F218A}"/>
              </a:ext>
            </a:extLst>
          </p:cNvPr>
          <p:cNvSpPr/>
          <p:nvPr/>
        </p:nvSpPr>
        <p:spPr>
          <a:xfrm rot="5400000">
            <a:off x="6676541" y="2991821"/>
            <a:ext cx="575930" cy="697421"/>
          </a:xfrm>
          <a:prstGeom prst="homePlate">
            <a:avLst>
              <a:gd name="adj" fmla="val 23083"/>
            </a:avLst>
          </a:prstGeom>
          <a:solidFill>
            <a:srgbClr val="008000"/>
          </a:solidFill>
          <a:ln w="3175" cap="flat" cmpd="sng" algn="ctr">
            <a:solidFill>
              <a:schemeClr val="bg1">
                <a:lumMod val="50000"/>
              </a:schemeClr>
            </a:solidFill>
            <a:prstDash val="solid"/>
          </a:ln>
          <a:effectLst/>
        </p:spPr>
        <p:txBody>
          <a:bodyPr vert="vert270" lIns="0" tIns="0" rIns="0" bIns="0" rtlCol="0" anchor="ctr"/>
          <a:lstStyle/>
          <a:p>
            <a:pPr algn="ctr"/>
            <a:r>
              <a:rPr lang="en-US" sz="1000" noProof="0" dirty="0">
                <a:solidFill>
                  <a:schemeClr val="bg1"/>
                </a:solidFill>
                <a:latin typeface="Arial Narrow" panose="020B0606020202030204" pitchFamily="34" charset="0"/>
                <a:ea typeface="Calibri" pitchFamily="34" charset="-122"/>
                <a:cs typeface="Calibri" pitchFamily="34" charset="-120"/>
              </a:rPr>
              <a:t>~95% </a:t>
            </a:r>
          </a:p>
          <a:p>
            <a:pPr algn="ctr"/>
            <a:r>
              <a:rPr lang="en-US" sz="1000" noProof="0" dirty="0">
                <a:solidFill>
                  <a:schemeClr val="bg1"/>
                </a:solidFill>
                <a:latin typeface="Arial Narrow" panose="020B0606020202030204" pitchFamily="34" charset="0"/>
                <a:ea typeface="Calibri" pitchFamily="34" charset="-122"/>
                <a:cs typeface="Calibri" pitchFamily="34" charset="-120"/>
              </a:rPr>
              <a:t>Reduction</a:t>
            </a:r>
            <a:endParaRPr kumimoji="1" lang="en-US" sz="1000" b="1" kern="0" spc="-92" noProof="0" dirty="0">
              <a:solidFill>
                <a:schemeClr val="bg1"/>
              </a:solidFill>
              <a:latin typeface="Arial Narrow" panose="020B0606020202030204" pitchFamily="34" charset="0"/>
              <a:ea typeface="LG스마트체 Regular" panose="020B0600000101010101" pitchFamily="50" charset="-127"/>
              <a:cs typeface="Arial" charset="0"/>
              <a:sym typeface="Arial"/>
            </a:endParaRPr>
          </a:p>
        </p:txBody>
      </p:sp>
      <p:sp>
        <p:nvSpPr>
          <p:cNvPr id="157" name="Pentagon 88">
            <a:extLst>
              <a:ext uri="{FF2B5EF4-FFF2-40B4-BE49-F238E27FC236}">
                <a16:creationId xmlns:a16="http://schemas.microsoft.com/office/drawing/2014/main" id="{205F0EF4-CA19-D443-367F-BFB387CC4239}"/>
              </a:ext>
            </a:extLst>
          </p:cNvPr>
          <p:cNvSpPr/>
          <p:nvPr/>
        </p:nvSpPr>
        <p:spPr>
          <a:xfrm rot="5400000">
            <a:off x="6676541" y="3821229"/>
            <a:ext cx="575930" cy="697421"/>
          </a:xfrm>
          <a:prstGeom prst="homePlate">
            <a:avLst>
              <a:gd name="adj" fmla="val 23083"/>
            </a:avLst>
          </a:prstGeom>
          <a:solidFill>
            <a:srgbClr val="008000"/>
          </a:solidFill>
          <a:ln w="3175" cap="flat" cmpd="sng" algn="ctr">
            <a:solidFill>
              <a:schemeClr val="bg1">
                <a:lumMod val="50000"/>
              </a:schemeClr>
            </a:solidFill>
            <a:prstDash val="solid"/>
          </a:ln>
          <a:effectLst/>
        </p:spPr>
        <p:txBody>
          <a:bodyPr vert="vert270" lIns="0" tIns="0" rIns="0" bIns="0" rtlCol="0" anchor="ctr"/>
          <a:lstStyle/>
          <a:p>
            <a:pPr algn="ctr"/>
            <a:r>
              <a:rPr lang="en-US" sz="1000" noProof="0" dirty="0">
                <a:solidFill>
                  <a:schemeClr val="bg1"/>
                </a:solidFill>
                <a:latin typeface="Arial Narrow" panose="020B0606020202030204" pitchFamily="34" charset="0"/>
                <a:ea typeface="Calibri" pitchFamily="34" charset="-122"/>
                <a:cs typeface="Calibri" pitchFamily="34" charset="-120"/>
              </a:rPr>
              <a:t>~97% </a:t>
            </a:r>
          </a:p>
          <a:p>
            <a:pPr algn="ctr"/>
            <a:r>
              <a:rPr lang="en-US" sz="1000" noProof="0" dirty="0">
                <a:solidFill>
                  <a:schemeClr val="bg1"/>
                </a:solidFill>
                <a:latin typeface="Arial Narrow" panose="020B0606020202030204" pitchFamily="34" charset="0"/>
                <a:ea typeface="Calibri" pitchFamily="34" charset="-122"/>
                <a:cs typeface="Calibri" pitchFamily="34" charset="-120"/>
              </a:rPr>
              <a:t>Reduction</a:t>
            </a:r>
            <a:endParaRPr kumimoji="1" lang="en-US" sz="1000" b="1" kern="0" spc="-92" noProof="0" dirty="0">
              <a:solidFill>
                <a:schemeClr val="bg1"/>
              </a:solidFill>
              <a:latin typeface="Arial Narrow" panose="020B0606020202030204" pitchFamily="34" charset="0"/>
              <a:ea typeface="LG스마트체 Regular" panose="020B0600000101010101" pitchFamily="50" charset="-127"/>
              <a:cs typeface="Arial" charset="0"/>
              <a:sym typeface="Arial"/>
            </a:endParaRPr>
          </a:p>
        </p:txBody>
      </p:sp>
      <p:sp>
        <p:nvSpPr>
          <p:cNvPr id="159" name="TextBox 158">
            <a:extLst>
              <a:ext uri="{FF2B5EF4-FFF2-40B4-BE49-F238E27FC236}">
                <a16:creationId xmlns:a16="http://schemas.microsoft.com/office/drawing/2014/main" id="{D243EE0C-C9DC-5121-64A0-FAB4C4D8D6CD}"/>
              </a:ext>
            </a:extLst>
          </p:cNvPr>
          <p:cNvSpPr txBox="1"/>
          <p:nvPr/>
        </p:nvSpPr>
        <p:spPr>
          <a:xfrm>
            <a:off x="6465056" y="2777303"/>
            <a:ext cx="998900" cy="276999"/>
          </a:xfrm>
          <a:prstGeom prst="rect">
            <a:avLst/>
          </a:prstGeom>
          <a:noFill/>
        </p:spPr>
        <p:txBody>
          <a:bodyPr wrap="square">
            <a:spAutoFit/>
          </a:bodyPr>
          <a:lstStyle/>
          <a:p>
            <a:pPr marL="0" indent="0" algn="ctr">
              <a:buNone/>
            </a:pPr>
            <a:r>
              <a:rPr lang="en-US" sz="600" noProof="0" dirty="0">
                <a:solidFill>
                  <a:srgbClr val="008000"/>
                </a:solidFill>
                <a:latin typeface="Arial Narrow" panose="020B0606020202030204" pitchFamily="34" charset="0"/>
                <a:ea typeface="Calibri" pitchFamily="34" charset="-122"/>
                <a:cs typeface="Calibri" pitchFamily="34" charset="-120"/>
              </a:rPr>
              <a:t>20-40 WOs read </a:t>
            </a:r>
          </a:p>
          <a:p>
            <a:pPr marL="0" indent="0" algn="ctr">
              <a:buNone/>
            </a:pPr>
            <a:r>
              <a:rPr lang="en-US" sz="600" noProof="0" dirty="0">
                <a:solidFill>
                  <a:srgbClr val="008000"/>
                </a:solidFill>
                <a:latin typeface="Arial Narrow" panose="020B0606020202030204" pitchFamily="34" charset="0"/>
                <a:ea typeface="Calibri" pitchFamily="34" charset="-122"/>
                <a:cs typeface="Calibri" pitchFamily="34" charset="-120"/>
                <a:sym typeface="Wingdings" panose="05000000000000000000" pitchFamily="2" charset="2"/>
              </a:rPr>
              <a:t> 1 summary</a:t>
            </a:r>
            <a:endParaRPr lang="en-US" sz="600" noProof="0" dirty="0">
              <a:solidFill>
                <a:srgbClr val="008000"/>
              </a:solidFill>
              <a:latin typeface="Arial Narrow" panose="020B0606020202030204" pitchFamily="34" charset="0"/>
            </a:endParaRPr>
          </a:p>
        </p:txBody>
      </p:sp>
      <p:sp>
        <p:nvSpPr>
          <p:cNvPr id="160" name="TextBox 159">
            <a:extLst>
              <a:ext uri="{FF2B5EF4-FFF2-40B4-BE49-F238E27FC236}">
                <a16:creationId xmlns:a16="http://schemas.microsoft.com/office/drawing/2014/main" id="{432B7469-5DCD-7A14-102B-B03C5DE4E00B}"/>
              </a:ext>
            </a:extLst>
          </p:cNvPr>
          <p:cNvSpPr txBox="1"/>
          <p:nvPr/>
        </p:nvSpPr>
        <p:spPr>
          <a:xfrm>
            <a:off x="6465056" y="1946357"/>
            <a:ext cx="998900" cy="184666"/>
          </a:xfrm>
          <a:prstGeom prst="rect">
            <a:avLst/>
          </a:prstGeom>
          <a:noFill/>
        </p:spPr>
        <p:txBody>
          <a:bodyPr wrap="square">
            <a:spAutoFit/>
          </a:bodyPr>
          <a:lstStyle/>
          <a:p>
            <a:pPr marL="0" indent="0" algn="ctr">
              <a:buNone/>
            </a:pPr>
            <a:r>
              <a:rPr lang="en-US" sz="600" noProof="0" dirty="0">
                <a:solidFill>
                  <a:srgbClr val="008000"/>
                </a:solidFill>
                <a:latin typeface="Arial Narrow" panose="020B0606020202030204" pitchFamily="34" charset="0"/>
                <a:ea typeface="Calibri" pitchFamily="34" charset="-122"/>
                <a:cs typeface="Calibri" pitchFamily="34" charset="-120"/>
              </a:rPr>
              <a:t>Filter setup time eliminated</a:t>
            </a:r>
            <a:endParaRPr lang="en-US" sz="600" noProof="0" dirty="0">
              <a:solidFill>
                <a:srgbClr val="008000"/>
              </a:solidFill>
              <a:latin typeface="Arial Narrow" panose="020B0606020202030204" pitchFamily="34" charset="0"/>
            </a:endParaRPr>
          </a:p>
        </p:txBody>
      </p:sp>
      <p:sp>
        <p:nvSpPr>
          <p:cNvPr id="161" name="TextBox 160">
            <a:extLst>
              <a:ext uri="{FF2B5EF4-FFF2-40B4-BE49-F238E27FC236}">
                <a16:creationId xmlns:a16="http://schemas.microsoft.com/office/drawing/2014/main" id="{7F1743C8-5F30-E204-0BFD-4603273AFE1A}"/>
              </a:ext>
            </a:extLst>
          </p:cNvPr>
          <p:cNvSpPr txBox="1"/>
          <p:nvPr/>
        </p:nvSpPr>
        <p:spPr>
          <a:xfrm>
            <a:off x="6465056" y="4479076"/>
            <a:ext cx="998900" cy="184666"/>
          </a:xfrm>
          <a:prstGeom prst="rect">
            <a:avLst/>
          </a:prstGeom>
          <a:noFill/>
        </p:spPr>
        <p:txBody>
          <a:bodyPr wrap="square">
            <a:spAutoFit/>
          </a:bodyPr>
          <a:lstStyle/>
          <a:p>
            <a:pPr marL="0" indent="0" algn="ctr">
              <a:buNone/>
            </a:pPr>
            <a:r>
              <a:rPr lang="en-US" sz="600" noProof="0" dirty="0">
                <a:solidFill>
                  <a:srgbClr val="008000"/>
                </a:solidFill>
                <a:latin typeface="Arial Narrow" panose="020B0606020202030204" pitchFamily="34" charset="0"/>
                <a:ea typeface="Calibri" pitchFamily="34" charset="-122"/>
                <a:cs typeface="Calibri" pitchFamily="34" charset="-120"/>
              </a:rPr>
              <a:t>30 min compile </a:t>
            </a:r>
            <a:r>
              <a:rPr lang="en-US" sz="600" noProof="0" dirty="0">
                <a:solidFill>
                  <a:srgbClr val="008000"/>
                </a:solidFill>
                <a:latin typeface="Arial Narrow" panose="020B0606020202030204" pitchFamily="34" charset="0"/>
                <a:ea typeface="Calibri" pitchFamily="34" charset="-122"/>
                <a:cs typeface="Calibri" pitchFamily="34" charset="-120"/>
                <a:sym typeface="Wingdings" panose="05000000000000000000" pitchFamily="2" charset="2"/>
              </a:rPr>
              <a:t> &lt;1 min</a:t>
            </a:r>
            <a:endParaRPr lang="en-US" sz="600" noProof="0" dirty="0">
              <a:solidFill>
                <a:srgbClr val="008000"/>
              </a:solidFill>
              <a:latin typeface="Arial Narrow" panose="020B0606020202030204" pitchFamily="34" charset="0"/>
            </a:endParaRPr>
          </a:p>
        </p:txBody>
      </p:sp>
      <p:sp>
        <p:nvSpPr>
          <p:cNvPr id="162" name="TextBox 161">
            <a:extLst>
              <a:ext uri="{FF2B5EF4-FFF2-40B4-BE49-F238E27FC236}">
                <a16:creationId xmlns:a16="http://schemas.microsoft.com/office/drawing/2014/main" id="{C9998B7B-1155-3D2B-8C22-DC14703D921B}"/>
              </a:ext>
            </a:extLst>
          </p:cNvPr>
          <p:cNvSpPr txBox="1"/>
          <p:nvPr/>
        </p:nvSpPr>
        <p:spPr>
          <a:xfrm>
            <a:off x="6465056" y="3645588"/>
            <a:ext cx="998900" cy="184666"/>
          </a:xfrm>
          <a:prstGeom prst="rect">
            <a:avLst/>
          </a:prstGeom>
          <a:noFill/>
        </p:spPr>
        <p:txBody>
          <a:bodyPr wrap="square">
            <a:spAutoFit/>
          </a:bodyPr>
          <a:lstStyle/>
          <a:p>
            <a:pPr marL="0" indent="0" algn="ctr">
              <a:buNone/>
            </a:pPr>
            <a:r>
              <a:rPr lang="en-US" sz="600" noProof="0" dirty="0">
                <a:solidFill>
                  <a:srgbClr val="008000"/>
                </a:solidFill>
                <a:latin typeface="Arial Narrow" panose="020B0606020202030204" pitchFamily="34" charset="0"/>
                <a:ea typeface="Calibri" pitchFamily="34" charset="-122"/>
                <a:cs typeface="Calibri" pitchFamily="34" charset="-120"/>
              </a:rPr>
              <a:t>60 min research </a:t>
            </a:r>
            <a:r>
              <a:rPr lang="en-US" sz="600" noProof="0" dirty="0">
                <a:solidFill>
                  <a:srgbClr val="008000"/>
                </a:solidFill>
                <a:latin typeface="Arial Narrow" panose="020B0606020202030204" pitchFamily="34" charset="0"/>
                <a:ea typeface="Calibri" pitchFamily="34" charset="-122"/>
                <a:cs typeface="Calibri" pitchFamily="34" charset="-120"/>
                <a:sym typeface="Wingdings" panose="05000000000000000000" pitchFamily="2" charset="2"/>
              </a:rPr>
              <a:t> 3 min</a:t>
            </a:r>
            <a:endParaRPr lang="en-US" sz="600" noProof="0" dirty="0">
              <a:solidFill>
                <a:srgbClr val="008000"/>
              </a:solidFill>
              <a:latin typeface="Arial Narrow" panose="020B0606020202030204" pitchFamily="34" charset="0"/>
            </a:endParaRPr>
          </a:p>
        </p:txBody>
      </p:sp>
      <p:sp>
        <p:nvSpPr>
          <p:cNvPr id="163" name="TextBox 162">
            <a:extLst>
              <a:ext uri="{FF2B5EF4-FFF2-40B4-BE49-F238E27FC236}">
                <a16:creationId xmlns:a16="http://schemas.microsoft.com/office/drawing/2014/main" id="{18BF93BA-C0AB-14A1-E6EA-D86D84D3797A}"/>
              </a:ext>
            </a:extLst>
          </p:cNvPr>
          <p:cNvSpPr txBox="1"/>
          <p:nvPr/>
        </p:nvSpPr>
        <p:spPr>
          <a:xfrm>
            <a:off x="6465056" y="6329878"/>
            <a:ext cx="998900" cy="276999"/>
          </a:xfrm>
          <a:prstGeom prst="rect">
            <a:avLst/>
          </a:prstGeom>
          <a:noFill/>
        </p:spPr>
        <p:txBody>
          <a:bodyPr wrap="square">
            <a:spAutoFit/>
          </a:bodyPr>
          <a:lstStyle/>
          <a:p>
            <a:pPr marL="0" indent="0" algn="ctr">
              <a:buNone/>
            </a:pPr>
            <a:r>
              <a:rPr lang="en-US" sz="600" b="1" noProof="0" dirty="0">
                <a:solidFill>
                  <a:srgbClr val="008000"/>
                </a:solidFill>
                <a:latin typeface="Arial Narrow" panose="020B0606020202030204" pitchFamily="34" charset="0"/>
                <a:ea typeface="Calibri" pitchFamily="34" charset="-122"/>
                <a:cs typeface="Calibri" pitchFamily="34" charset="-120"/>
              </a:rPr>
              <a:t>Predictive Maintenance </a:t>
            </a:r>
          </a:p>
          <a:p>
            <a:pPr marL="0" indent="0" algn="ctr">
              <a:buNone/>
            </a:pPr>
            <a:r>
              <a:rPr lang="en-US" sz="600" b="1" noProof="0" dirty="0">
                <a:solidFill>
                  <a:srgbClr val="008000"/>
                </a:solidFill>
                <a:latin typeface="Arial Narrow" panose="020B0606020202030204" pitchFamily="34" charset="0"/>
                <a:ea typeface="Calibri" pitchFamily="34" charset="-122"/>
                <a:cs typeface="Calibri" pitchFamily="34" charset="-120"/>
              </a:rPr>
              <a:t>Enabled!</a:t>
            </a:r>
            <a:endParaRPr lang="en-US" sz="600" b="1" noProof="0" dirty="0">
              <a:solidFill>
                <a:srgbClr val="008000"/>
              </a:solidFill>
              <a:latin typeface="Arial Narrow" panose="020B0606020202030204" pitchFamily="34" charset="0"/>
            </a:endParaRPr>
          </a:p>
        </p:txBody>
      </p:sp>
      <p:sp>
        <p:nvSpPr>
          <p:cNvPr id="165" name="Text 72">
            <a:extLst>
              <a:ext uri="{FF2B5EF4-FFF2-40B4-BE49-F238E27FC236}">
                <a16:creationId xmlns:a16="http://schemas.microsoft.com/office/drawing/2014/main" id="{CA4191FD-4675-5673-B326-CB67E3BB2C89}"/>
              </a:ext>
            </a:extLst>
          </p:cNvPr>
          <p:cNvSpPr/>
          <p:nvPr/>
        </p:nvSpPr>
        <p:spPr>
          <a:xfrm>
            <a:off x="128464" y="6335049"/>
            <a:ext cx="9777536" cy="531864"/>
          </a:xfrm>
          <a:prstGeom prst="rect">
            <a:avLst/>
          </a:prstGeom>
          <a:noFill/>
          <a:ln/>
        </p:spPr>
        <p:txBody>
          <a:bodyPr wrap="square" rtlCol="0" anchor="ctr"/>
          <a:lstStyle/>
          <a:p>
            <a:pPr marL="0" indent="0">
              <a:buNone/>
            </a:pPr>
            <a:r>
              <a:rPr lang="en-US" sz="800" b="1" noProof="0" dirty="0">
                <a:solidFill>
                  <a:srgbClr val="FFC000"/>
                </a:solidFill>
                <a:latin typeface="Arial Narrow" panose="020B0606020202030204" pitchFamily="34" charset="0"/>
                <a:ea typeface="Calibri" pitchFamily="34" charset="-122"/>
                <a:cs typeface="Calibri" pitchFamily="34" charset="-120"/>
              </a:rPr>
              <a:t>✔ Full Automation Target</a:t>
            </a:r>
            <a:r>
              <a:rPr lang="en-US" sz="800" b="1" noProof="0" dirty="0">
                <a:latin typeface="Arial Narrow" panose="020B0606020202030204" pitchFamily="34" charset="0"/>
                <a:ea typeface="Calibri" pitchFamily="34" charset="-122"/>
                <a:cs typeface="Calibri" pitchFamily="34" charset="-120"/>
              </a:rPr>
              <a:t>: </a:t>
            </a:r>
            <a:r>
              <a:rPr lang="en-US" sz="800" noProof="0" dirty="0">
                <a:latin typeface="Arial Narrow" panose="020B0606020202030204" pitchFamily="34" charset="0"/>
                <a:ea typeface="Calibri" pitchFamily="34" charset="-122"/>
                <a:cs typeface="Calibri" pitchFamily="34" charset="-120"/>
              </a:rPr>
              <a:t>All 5 manual task categories above are replaced by AI by end of pilot (Jun '26). Zero manual Excel/Email compilation. Zero re-search loops. </a:t>
            </a:r>
          </a:p>
          <a:p>
            <a:pPr marL="0" indent="0">
              <a:buNone/>
            </a:pPr>
            <a:r>
              <a:rPr lang="en-US" sz="800" noProof="0" dirty="0">
                <a:solidFill>
                  <a:srgbClr val="00B050"/>
                </a:solidFill>
                <a:latin typeface="Arial Narrow" panose="020B0606020202030204" pitchFamily="34" charset="0"/>
                <a:ea typeface="Calibri" pitchFamily="34" charset="-122"/>
                <a:cs typeface="Calibri" pitchFamily="34" charset="-120"/>
              </a:rPr>
              <a:t> </a:t>
            </a:r>
            <a:r>
              <a:rPr lang="en-US" sz="800" i="1" noProof="0" dirty="0">
                <a:solidFill>
                  <a:srgbClr val="00B050"/>
                </a:solidFill>
                <a:latin typeface="Arial Narrow" panose="020B0606020202030204" pitchFamily="34" charset="0"/>
                <a:ea typeface="Calibri" pitchFamily="34" charset="-122"/>
                <a:cs typeface="Calibri" pitchFamily="34" charset="-120"/>
              </a:rPr>
              <a:t>| 5개 수동 작업 전체를 AI로 대체 — 수기 취합·재검색 제로화 목표</a:t>
            </a:r>
            <a:endParaRPr lang="en-US" sz="800" noProof="0" dirty="0">
              <a:solidFill>
                <a:srgbClr val="00B050"/>
              </a:solidFill>
              <a:latin typeface="Arial Narrow" panose="020B0606020202030204" pitchFamily="34" charset="0"/>
            </a:endParaRPr>
          </a:p>
        </p:txBody>
      </p:sp>
    </p:spTree>
    <p:extLst>
      <p:ext uri="{BB962C8B-B14F-4D97-AF65-F5344CB8AC3E}">
        <p14:creationId xmlns:p14="http://schemas.microsoft.com/office/powerpoint/2010/main" val="3056705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8AAFC-F9B6-DC9A-D14C-4D67DE0915D1}"/>
            </a:ext>
          </a:extLst>
        </p:cNvPr>
        <p:cNvGrpSpPr/>
        <p:nvPr/>
      </p:nvGrpSpPr>
      <p:grpSpPr>
        <a:xfrm>
          <a:off x="0" y="0"/>
          <a:ext cx="0" cy="0"/>
          <a:chOff x="0" y="0"/>
          <a:chExt cx="0" cy="0"/>
        </a:xfrm>
      </p:grpSpPr>
      <p:sp>
        <p:nvSpPr>
          <p:cNvPr id="2" name="Text Box 237">
            <a:extLst>
              <a:ext uri="{FF2B5EF4-FFF2-40B4-BE49-F238E27FC236}">
                <a16:creationId xmlns:a16="http://schemas.microsoft.com/office/drawing/2014/main" id="{77CDDFC8-099E-B764-5C85-40C4DE54FE94}"/>
              </a:ext>
            </a:extLst>
          </p:cNvPr>
          <p:cNvSpPr txBox="1">
            <a:spLocks noChangeArrowheads="1"/>
          </p:cNvSpPr>
          <p:nvPr/>
        </p:nvSpPr>
        <p:spPr bwMode="gray">
          <a:xfrm>
            <a:off x="448886" y="65731"/>
            <a:ext cx="3489968" cy="39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3077" tIns="43200" rIns="83077" bIns="43200" anchor="ctr">
            <a:spAutoFit/>
          </a:bodyPr>
          <a:lstStyle>
            <a:lvl1pPr eaLnBrk="0" hangingPunct="0">
              <a:defRPr kumimoji="1" sz="1200" b="1">
                <a:solidFill>
                  <a:schemeClr val="tx1"/>
                </a:solidFill>
                <a:latin typeface="Arial" charset="0"/>
                <a:ea typeface="돋움" pitchFamily="50" charset="-127"/>
              </a:defRPr>
            </a:lvl1pPr>
            <a:lvl2pPr marL="742950" indent="-285750" eaLnBrk="0" hangingPunct="0">
              <a:defRPr kumimoji="1" sz="1200" b="1">
                <a:solidFill>
                  <a:schemeClr val="tx1"/>
                </a:solidFill>
                <a:latin typeface="Arial" charset="0"/>
                <a:ea typeface="돋움" pitchFamily="50" charset="-127"/>
              </a:defRPr>
            </a:lvl2pPr>
            <a:lvl3pPr marL="1143000" indent="-228600" eaLnBrk="0" hangingPunct="0">
              <a:defRPr kumimoji="1" sz="1200" b="1">
                <a:solidFill>
                  <a:schemeClr val="tx1"/>
                </a:solidFill>
                <a:latin typeface="Arial" charset="0"/>
                <a:ea typeface="돋움" pitchFamily="50" charset="-127"/>
              </a:defRPr>
            </a:lvl3pPr>
            <a:lvl4pPr marL="1600200" indent="-228600" eaLnBrk="0" hangingPunct="0">
              <a:defRPr kumimoji="1" sz="1200" b="1">
                <a:solidFill>
                  <a:schemeClr val="tx1"/>
                </a:solidFill>
                <a:latin typeface="Arial" charset="0"/>
                <a:ea typeface="돋움" pitchFamily="50" charset="-127"/>
              </a:defRPr>
            </a:lvl4pPr>
            <a:lvl5pPr marL="2057400" indent="-228600" eaLnBrk="0" hangingPunct="0">
              <a:defRPr kumimoji="1" sz="1200" b="1">
                <a:solidFill>
                  <a:schemeClr val="tx1"/>
                </a:solidFill>
                <a:latin typeface="Arial" charset="0"/>
                <a:ea typeface="돋움" pitchFamily="50" charset="-127"/>
              </a:defRPr>
            </a:lvl5pPr>
            <a:lvl6pPr marL="25146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6pPr>
            <a:lvl7pPr marL="29718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7pPr>
            <a:lvl8pPr marL="34290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8pPr>
            <a:lvl9pPr marL="38862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9pPr>
          </a:lstStyle>
          <a:p>
            <a:pPr marL="0" marR="0" lvl="0" indent="0" algn="l" defTabSz="952799" rtl="0" eaLnBrk="0" fontAlgn="auto" latinLnBrk="0" hangingPunct="0">
              <a:lnSpc>
                <a:spcPct val="100000"/>
              </a:lnSpc>
              <a:spcBef>
                <a:spcPts val="0"/>
              </a:spcBef>
              <a:spcAft>
                <a:spcPts val="0"/>
              </a:spcAft>
              <a:buClrTx/>
              <a:buSzTx/>
              <a:buFontTx/>
              <a:buNone/>
              <a:tabLst/>
              <a:defRPr/>
            </a:pPr>
            <a:r>
              <a:rPr kumimoji="1" lang="en-US" sz="2000" b="1" i="0" u="none" strike="noStrike" kern="1200" cap="none" spc="0" normalizeH="0" baseline="0" noProof="0" dirty="0">
                <a:ln>
                  <a:noFill/>
                </a:ln>
                <a:solidFill>
                  <a:prstClr val="black"/>
                </a:solidFill>
                <a:effectLst/>
                <a:uLnTx/>
                <a:uFillTx/>
                <a:latin typeface="Arial Narrow" panose="020B0606020202030204" pitchFamily="34" charset="0"/>
                <a:ea typeface="돋움" pitchFamily="50" charset="-127"/>
                <a:cs typeface="+mn-cs"/>
              </a:rPr>
              <a:t>Pain Points &amp; AI Adoption Impact</a:t>
            </a:r>
          </a:p>
        </p:txBody>
      </p:sp>
      <p:sp>
        <p:nvSpPr>
          <p:cNvPr id="4" name="Text 9">
            <a:extLst>
              <a:ext uri="{FF2B5EF4-FFF2-40B4-BE49-F238E27FC236}">
                <a16:creationId xmlns:a16="http://schemas.microsoft.com/office/drawing/2014/main" id="{07EFDF2D-B845-C4EF-A5B7-BC15B6EE53AA}"/>
              </a:ext>
            </a:extLst>
          </p:cNvPr>
          <p:cNvSpPr/>
          <p:nvPr/>
        </p:nvSpPr>
        <p:spPr>
          <a:xfrm>
            <a:off x="-231576" y="616112"/>
            <a:ext cx="5760720" cy="292608"/>
          </a:xfrm>
          <a:prstGeom prst="rect">
            <a:avLst/>
          </a:prstGeom>
          <a:noFill/>
          <a:ln>
            <a:noFill/>
          </a:ln>
        </p:spPr>
        <p:txBody>
          <a:bodyPr wrap="square" lIns="0" tIns="0" rIns="0" bIns="0" rtlCol="0" anchor="ctr"/>
          <a:lstStyle/>
          <a:p>
            <a:pPr lvl="1" latinLnBrk="0"/>
            <a:r>
              <a:rPr lang="en-US" sz="1400" b="1" noProof="0" dirty="0">
                <a:latin typeface="Arial Narrow" panose="020B0606020202030204" pitchFamily="34" charset="0"/>
                <a:ea typeface="Calibri" pitchFamily="34" charset="-122"/>
                <a:cs typeface="Calibri" pitchFamily="34" charset="-120"/>
              </a:rPr>
              <a:t>As-Is Pain Points  /  현행 문제점</a:t>
            </a:r>
            <a:endParaRPr lang="en-US" sz="1400" noProof="0" dirty="0">
              <a:latin typeface="Arial Narrow" panose="020B0606020202030204" pitchFamily="34" charset="0"/>
            </a:endParaRPr>
          </a:p>
        </p:txBody>
      </p:sp>
      <p:sp>
        <p:nvSpPr>
          <p:cNvPr id="5" name="Shape 10">
            <a:extLst>
              <a:ext uri="{FF2B5EF4-FFF2-40B4-BE49-F238E27FC236}">
                <a16:creationId xmlns:a16="http://schemas.microsoft.com/office/drawing/2014/main" id="{89DF56EC-047B-B3B6-1223-C2BDE381D648}"/>
              </a:ext>
            </a:extLst>
          </p:cNvPr>
          <p:cNvSpPr/>
          <p:nvPr/>
        </p:nvSpPr>
        <p:spPr>
          <a:xfrm>
            <a:off x="128464" y="986448"/>
            <a:ext cx="5760720" cy="914400"/>
          </a:xfrm>
          <a:prstGeom prst="rect">
            <a:avLst/>
          </a:prstGeom>
          <a:solidFill>
            <a:srgbClr val="FFFFFF"/>
          </a:solidFill>
          <a:ln w="12700">
            <a:noFill/>
            <a:prstDash val="solid"/>
          </a:ln>
        </p:spPr>
        <p:txBody>
          <a:bodyPr/>
          <a:lstStyle/>
          <a:p>
            <a:pPr latinLnBrk="0"/>
            <a:endParaRPr lang="en-US" sz="1000" noProof="0" dirty="0">
              <a:latin typeface="Arial Narrow" panose="020B0606020202030204" pitchFamily="34" charset="0"/>
            </a:endParaRPr>
          </a:p>
        </p:txBody>
      </p:sp>
      <p:sp>
        <p:nvSpPr>
          <p:cNvPr id="6" name="Shape 11">
            <a:extLst>
              <a:ext uri="{FF2B5EF4-FFF2-40B4-BE49-F238E27FC236}">
                <a16:creationId xmlns:a16="http://schemas.microsoft.com/office/drawing/2014/main" id="{865EBE0B-F86F-B70A-8F1A-6E45573D6E2F}"/>
              </a:ext>
            </a:extLst>
          </p:cNvPr>
          <p:cNvSpPr/>
          <p:nvPr/>
        </p:nvSpPr>
        <p:spPr>
          <a:xfrm>
            <a:off x="128464" y="986448"/>
            <a:ext cx="411480" cy="914400"/>
          </a:xfrm>
          <a:prstGeom prst="rect">
            <a:avLst/>
          </a:prstGeom>
          <a:noFill/>
          <a:ln w="12700">
            <a:solidFill>
              <a:srgbClr val="C8102E"/>
            </a:solidFill>
            <a:prstDash val="solid"/>
          </a:ln>
        </p:spPr>
        <p:txBody>
          <a:bodyPr/>
          <a:lstStyle/>
          <a:p>
            <a:pPr latinLnBrk="0"/>
            <a:endParaRPr lang="en-US" sz="1000" noProof="0" dirty="0">
              <a:latin typeface="Arial Narrow" panose="020B0606020202030204" pitchFamily="34" charset="0"/>
            </a:endParaRPr>
          </a:p>
        </p:txBody>
      </p:sp>
      <p:sp>
        <p:nvSpPr>
          <p:cNvPr id="8" name="Text 12">
            <a:extLst>
              <a:ext uri="{FF2B5EF4-FFF2-40B4-BE49-F238E27FC236}">
                <a16:creationId xmlns:a16="http://schemas.microsoft.com/office/drawing/2014/main" id="{6CCC5FAE-40EE-2C06-0EC5-69D11899CFC5}"/>
              </a:ext>
            </a:extLst>
          </p:cNvPr>
          <p:cNvSpPr/>
          <p:nvPr/>
        </p:nvSpPr>
        <p:spPr>
          <a:xfrm>
            <a:off x="128464" y="986448"/>
            <a:ext cx="411480" cy="914400"/>
          </a:xfrm>
          <a:prstGeom prst="rect">
            <a:avLst/>
          </a:prstGeom>
          <a:noFill/>
          <a:ln>
            <a:solidFill>
              <a:schemeClr val="tx1"/>
            </a:solidFill>
          </a:ln>
        </p:spPr>
        <p:txBody>
          <a:bodyPr wrap="square" lIns="0" tIns="0" rIns="0" bIns="0" rtlCol="0" anchor="ctr"/>
          <a:lstStyle/>
          <a:p>
            <a:pPr marL="0" indent="0" algn="ctr" latinLnBrk="0">
              <a:buNone/>
            </a:pPr>
            <a:r>
              <a:rPr lang="en-US" sz="1000" b="1" noProof="0" dirty="0">
                <a:latin typeface="Arial Narrow" panose="020B0606020202030204" pitchFamily="34" charset="0"/>
                <a:ea typeface="Calibri" pitchFamily="34" charset="-122"/>
                <a:cs typeface="Calibri" pitchFamily="34" charset="-120"/>
              </a:rPr>
              <a:t>01</a:t>
            </a:r>
            <a:endParaRPr lang="en-US" sz="1000" noProof="0" dirty="0">
              <a:latin typeface="Arial Narrow" panose="020B0606020202030204" pitchFamily="34" charset="0"/>
            </a:endParaRPr>
          </a:p>
        </p:txBody>
      </p:sp>
      <p:sp>
        <p:nvSpPr>
          <p:cNvPr id="9" name="Text 13">
            <a:extLst>
              <a:ext uri="{FF2B5EF4-FFF2-40B4-BE49-F238E27FC236}">
                <a16:creationId xmlns:a16="http://schemas.microsoft.com/office/drawing/2014/main" id="{B766E931-F6D6-F6A0-4D48-CCC37713FCF5}"/>
              </a:ext>
            </a:extLst>
          </p:cNvPr>
          <p:cNvSpPr/>
          <p:nvPr/>
        </p:nvSpPr>
        <p:spPr>
          <a:xfrm>
            <a:off x="613096" y="1050456"/>
            <a:ext cx="5166360" cy="786384"/>
          </a:xfrm>
          <a:prstGeom prst="rect">
            <a:avLst/>
          </a:prstGeom>
          <a:noFill/>
          <a:ln/>
        </p:spPr>
        <p:txBody>
          <a:bodyPr wrap="square" rtlCol="0" anchor="t"/>
          <a:lstStyle/>
          <a:p>
            <a:pPr marL="0" indent="0" latinLnBrk="0">
              <a:buNone/>
            </a:pPr>
            <a:r>
              <a:rPr lang="en-US" sz="1000" b="1" noProof="0" dirty="0">
                <a:solidFill>
                  <a:srgbClr val="3D4A5C"/>
                </a:solidFill>
                <a:latin typeface="Arial Narrow" panose="020B0606020202030204" pitchFamily="34" charset="0"/>
                <a:ea typeface="Calibri" pitchFamily="34" charset="-122"/>
                <a:cs typeface="Calibri" pitchFamily="34" charset="-120"/>
              </a:rPr>
              <a:t>Record-by-Record Reading  /  레코드 단위 열람
</a:t>
            </a:r>
            <a:r>
              <a:rPr lang="en-US" sz="1000" noProof="0" dirty="0">
                <a:solidFill>
                  <a:srgbClr val="3D4A5C"/>
                </a:solidFill>
                <a:latin typeface="Arial Narrow" panose="020B0606020202030204" pitchFamily="34" charset="0"/>
                <a:ea typeface="Calibri" pitchFamily="34" charset="-122"/>
                <a:cs typeface="Calibri" pitchFamily="34" charset="-120"/>
              </a:rPr>
              <a:t>Must open each work order individually to read content — no consolidated view or preview. Engineers spend hours parsing free-text for a single issue.
</a:t>
            </a:r>
            <a:r>
              <a:rPr lang="en-US" sz="1000" i="1" noProof="0" dirty="0">
                <a:solidFill>
                  <a:srgbClr val="1E7F4E"/>
                </a:solidFill>
                <a:latin typeface="Arial Narrow" panose="020B0606020202030204" pitchFamily="34" charset="0"/>
                <a:ea typeface="Calibri" pitchFamily="34" charset="-122"/>
                <a:cs typeface="Calibri" pitchFamily="34" charset="-120"/>
              </a:rPr>
              <a:t>작업지시를 하나씩 열어 내용을 확인해야 하며 통합 보기나 미리보기가 없음. 단일 이슈 파악에 수 시간 소요.</a:t>
            </a:r>
            <a:endParaRPr lang="en-US" sz="1000" noProof="0" dirty="0">
              <a:latin typeface="Arial Narrow" panose="020B0606020202030204" pitchFamily="34" charset="0"/>
            </a:endParaRPr>
          </a:p>
        </p:txBody>
      </p:sp>
      <p:sp>
        <p:nvSpPr>
          <p:cNvPr id="10" name="Shape 14">
            <a:extLst>
              <a:ext uri="{FF2B5EF4-FFF2-40B4-BE49-F238E27FC236}">
                <a16:creationId xmlns:a16="http://schemas.microsoft.com/office/drawing/2014/main" id="{C0BC3AF4-4E0B-C46C-4B30-846C3B1299E2}"/>
              </a:ext>
            </a:extLst>
          </p:cNvPr>
          <p:cNvSpPr/>
          <p:nvPr/>
        </p:nvSpPr>
        <p:spPr>
          <a:xfrm>
            <a:off x="128464" y="2019720"/>
            <a:ext cx="5760720" cy="914400"/>
          </a:xfrm>
          <a:prstGeom prst="rect">
            <a:avLst/>
          </a:prstGeom>
          <a:solidFill>
            <a:srgbClr val="FFFFFF"/>
          </a:solidFill>
          <a:ln w="12700">
            <a:noFill/>
            <a:prstDash val="solid"/>
          </a:ln>
        </p:spPr>
        <p:txBody>
          <a:bodyPr/>
          <a:lstStyle/>
          <a:p>
            <a:pPr latinLnBrk="0"/>
            <a:endParaRPr lang="en-US" sz="1000" noProof="0" dirty="0">
              <a:latin typeface="Arial Narrow" panose="020B0606020202030204" pitchFamily="34" charset="0"/>
            </a:endParaRPr>
          </a:p>
        </p:txBody>
      </p:sp>
      <p:sp>
        <p:nvSpPr>
          <p:cNvPr id="11" name="Shape 15">
            <a:extLst>
              <a:ext uri="{FF2B5EF4-FFF2-40B4-BE49-F238E27FC236}">
                <a16:creationId xmlns:a16="http://schemas.microsoft.com/office/drawing/2014/main" id="{9CD69913-4F42-70AF-04C7-F9596D2AA706}"/>
              </a:ext>
            </a:extLst>
          </p:cNvPr>
          <p:cNvSpPr/>
          <p:nvPr/>
        </p:nvSpPr>
        <p:spPr>
          <a:xfrm>
            <a:off x="128464" y="2019720"/>
            <a:ext cx="411480" cy="914400"/>
          </a:xfrm>
          <a:prstGeom prst="rect">
            <a:avLst/>
          </a:prstGeom>
          <a:noFill/>
          <a:ln w="12700">
            <a:solidFill>
              <a:srgbClr val="C8102E"/>
            </a:solidFill>
            <a:prstDash val="solid"/>
          </a:ln>
        </p:spPr>
        <p:txBody>
          <a:bodyPr/>
          <a:lstStyle/>
          <a:p>
            <a:pPr latinLnBrk="0"/>
            <a:endParaRPr lang="en-US" sz="1000" noProof="0" dirty="0">
              <a:latin typeface="Arial Narrow" panose="020B0606020202030204" pitchFamily="34" charset="0"/>
            </a:endParaRPr>
          </a:p>
        </p:txBody>
      </p:sp>
      <p:sp>
        <p:nvSpPr>
          <p:cNvPr id="12" name="Text 16">
            <a:extLst>
              <a:ext uri="{FF2B5EF4-FFF2-40B4-BE49-F238E27FC236}">
                <a16:creationId xmlns:a16="http://schemas.microsoft.com/office/drawing/2014/main" id="{DA191638-C62B-A7AE-D73A-6E07DE4B661F}"/>
              </a:ext>
            </a:extLst>
          </p:cNvPr>
          <p:cNvSpPr/>
          <p:nvPr/>
        </p:nvSpPr>
        <p:spPr>
          <a:xfrm>
            <a:off x="128464" y="2019720"/>
            <a:ext cx="411480" cy="914400"/>
          </a:xfrm>
          <a:prstGeom prst="rect">
            <a:avLst/>
          </a:prstGeom>
          <a:noFill/>
          <a:ln>
            <a:solidFill>
              <a:schemeClr val="tx1"/>
            </a:solidFill>
          </a:ln>
        </p:spPr>
        <p:txBody>
          <a:bodyPr wrap="square" lIns="0" tIns="0" rIns="0" bIns="0" rtlCol="0" anchor="ctr"/>
          <a:lstStyle/>
          <a:p>
            <a:pPr marL="0" indent="0" algn="ctr" latinLnBrk="0">
              <a:buNone/>
            </a:pPr>
            <a:r>
              <a:rPr lang="en-US" sz="1000" b="1" noProof="0" dirty="0">
                <a:latin typeface="Arial Narrow" panose="020B0606020202030204" pitchFamily="34" charset="0"/>
                <a:ea typeface="Calibri" pitchFamily="34" charset="-122"/>
                <a:cs typeface="Calibri" pitchFamily="34" charset="-120"/>
              </a:rPr>
              <a:t>02</a:t>
            </a:r>
            <a:endParaRPr lang="en-US" sz="1000" noProof="0" dirty="0">
              <a:latin typeface="Arial Narrow" panose="020B0606020202030204" pitchFamily="34" charset="0"/>
            </a:endParaRPr>
          </a:p>
        </p:txBody>
      </p:sp>
      <p:sp>
        <p:nvSpPr>
          <p:cNvPr id="13" name="Text 17">
            <a:extLst>
              <a:ext uri="{FF2B5EF4-FFF2-40B4-BE49-F238E27FC236}">
                <a16:creationId xmlns:a16="http://schemas.microsoft.com/office/drawing/2014/main" id="{4937DB9D-9FFC-7E9D-C7F4-E76365255A75}"/>
              </a:ext>
            </a:extLst>
          </p:cNvPr>
          <p:cNvSpPr/>
          <p:nvPr/>
        </p:nvSpPr>
        <p:spPr>
          <a:xfrm>
            <a:off x="613096" y="2083728"/>
            <a:ext cx="5166360" cy="786384"/>
          </a:xfrm>
          <a:prstGeom prst="rect">
            <a:avLst/>
          </a:prstGeom>
          <a:noFill/>
          <a:ln/>
        </p:spPr>
        <p:txBody>
          <a:bodyPr wrap="square" rtlCol="0" anchor="t"/>
          <a:lstStyle/>
          <a:p>
            <a:pPr marL="0" indent="0" latinLnBrk="0">
              <a:buNone/>
            </a:pPr>
            <a:r>
              <a:rPr lang="en-US" sz="1000" b="1" noProof="0" dirty="0">
                <a:solidFill>
                  <a:srgbClr val="3D4A5C"/>
                </a:solidFill>
                <a:latin typeface="Arial Narrow" panose="020B0606020202030204" pitchFamily="34" charset="0"/>
                <a:ea typeface="Calibri" pitchFamily="34" charset="-122"/>
                <a:cs typeface="Calibri" pitchFamily="34" charset="-120"/>
              </a:rPr>
              <a:t>Keyword &amp; Label Dependency  /  키워드·라벨 의존성
</a:t>
            </a:r>
            <a:r>
              <a:rPr lang="en-US" sz="1000" noProof="0" dirty="0">
                <a:solidFill>
                  <a:srgbClr val="3D4A5C"/>
                </a:solidFill>
                <a:latin typeface="Arial Narrow" panose="020B0606020202030204" pitchFamily="34" charset="0"/>
                <a:ea typeface="Calibri" pitchFamily="34" charset="-122"/>
                <a:cs typeface="Calibri" pitchFamily="34" charset="-120"/>
              </a:rPr>
              <a:t>Keyword/field-based search misses' similar issues if a different term, abbreviation, or equipment label was used by the technician.
</a:t>
            </a:r>
            <a:r>
              <a:rPr lang="en-US" sz="1000" i="1" noProof="0" dirty="0">
                <a:solidFill>
                  <a:srgbClr val="1E7F4E"/>
                </a:solidFill>
                <a:latin typeface="Arial Narrow" panose="020B0606020202030204" pitchFamily="34" charset="0"/>
                <a:ea typeface="Calibri" pitchFamily="34" charset="-122"/>
                <a:cs typeface="Calibri" pitchFamily="34" charset="-120"/>
              </a:rPr>
              <a:t>기술자가 다른 용어·약어·설비 라벨을 사용하면 유사 이슈가 검색에서 누락됨.</a:t>
            </a:r>
            <a:endParaRPr lang="en-US" sz="1000" noProof="0" dirty="0">
              <a:latin typeface="Arial Narrow" panose="020B0606020202030204" pitchFamily="34" charset="0"/>
            </a:endParaRPr>
          </a:p>
        </p:txBody>
      </p:sp>
      <p:sp>
        <p:nvSpPr>
          <p:cNvPr id="14" name="Shape 18">
            <a:extLst>
              <a:ext uri="{FF2B5EF4-FFF2-40B4-BE49-F238E27FC236}">
                <a16:creationId xmlns:a16="http://schemas.microsoft.com/office/drawing/2014/main" id="{44837E1D-2F07-F4E6-9285-398C88643BCA}"/>
              </a:ext>
            </a:extLst>
          </p:cNvPr>
          <p:cNvSpPr/>
          <p:nvPr/>
        </p:nvSpPr>
        <p:spPr>
          <a:xfrm>
            <a:off x="128464" y="3052992"/>
            <a:ext cx="5760720" cy="914400"/>
          </a:xfrm>
          <a:prstGeom prst="rect">
            <a:avLst/>
          </a:prstGeom>
          <a:solidFill>
            <a:srgbClr val="FFFFFF"/>
          </a:solidFill>
          <a:ln w="12700">
            <a:noFill/>
            <a:prstDash val="solid"/>
          </a:ln>
        </p:spPr>
        <p:txBody>
          <a:bodyPr/>
          <a:lstStyle/>
          <a:p>
            <a:pPr latinLnBrk="0"/>
            <a:endParaRPr lang="en-US" sz="1000" noProof="0" dirty="0">
              <a:latin typeface="Arial Narrow" panose="020B0606020202030204" pitchFamily="34" charset="0"/>
            </a:endParaRPr>
          </a:p>
        </p:txBody>
      </p:sp>
      <p:sp>
        <p:nvSpPr>
          <p:cNvPr id="15" name="Shape 19">
            <a:extLst>
              <a:ext uri="{FF2B5EF4-FFF2-40B4-BE49-F238E27FC236}">
                <a16:creationId xmlns:a16="http://schemas.microsoft.com/office/drawing/2014/main" id="{AC8FE170-A427-B6CD-DA60-63771496948E}"/>
              </a:ext>
            </a:extLst>
          </p:cNvPr>
          <p:cNvSpPr/>
          <p:nvPr/>
        </p:nvSpPr>
        <p:spPr>
          <a:xfrm>
            <a:off x="128464" y="3052992"/>
            <a:ext cx="411480" cy="914400"/>
          </a:xfrm>
          <a:prstGeom prst="rect">
            <a:avLst/>
          </a:prstGeom>
          <a:noFill/>
          <a:ln w="12700">
            <a:solidFill>
              <a:srgbClr val="C8102E"/>
            </a:solidFill>
            <a:prstDash val="solid"/>
          </a:ln>
        </p:spPr>
        <p:txBody>
          <a:bodyPr/>
          <a:lstStyle/>
          <a:p>
            <a:pPr latinLnBrk="0"/>
            <a:endParaRPr lang="en-US" sz="1000" noProof="0" dirty="0">
              <a:latin typeface="Arial Narrow" panose="020B0606020202030204" pitchFamily="34" charset="0"/>
            </a:endParaRPr>
          </a:p>
        </p:txBody>
      </p:sp>
      <p:sp>
        <p:nvSpPr>
          <p:cNvPr id="16" name="Text 20">
            <a:extLst>
              <a:ext uri="{FF2B5EF4-FFF2-40B4-BE49-F238E27FC236}">
                <a16:creationId xmlns:a16="http://schemas.microsoft.com/office/drawing/2014/main" id="{0E01F764-2FBB-AE42-7934-2DDB96D8EB9E}"/>
              </a:ext>
            </a:extLst>
          </p:cNvPr>
          <p:cNvSpPr/>
          <p:nvPr/>
        </p:nvSpPr>
        <p:spPr>
          <a:xfrm>
            <a:off x="128464" y="3052992"/>
            <a:ext cx="411480" cy="914400"/>
          </a:xfrm>
          <a:prstGeom prst="rect">
            <a:avLst/>
          </a:prstGeom>
          <a:noFill/>
          <a:ln>
            <a:solidFill>
              <a:schemeClr val="tx1"/>
            </a:solidFill>
          </a:ln>
        </p:spPr>
        <p:txBody>
          <a:bodyPr wrap="square" lIns="0" tIns="0" rIns="0" bIns="0" rtlCol="0" anchor="ctr"/>
          <a:lstStyle/>
          <a:p>
            <a:pPr marL="0" indent="0" algn="ctr" latinLnBrk="0">
              <a:buNone/>
            </a:pPr>
            <a:r>
              <a:rPr lang="en-US" sz="1000" b="1" noProof="0" dirty="0">
                <a:latin typeface="Arial Narrow" panose="020B0606020202030204" pitchFamily="34" charset="0"/>
                <a:ea typeface="Calibri" pitchFamily="34" charset="-122"/>
                <a:cs typeface="Calibri" pitchFamily="34" charset="-120"/>
              </a:rPr>
              <a:t>03</a:t>
            </a:r>
            <a:endParaRPr lang="en-US" sz="1000" noProof="0" dirty="0">
              <a:latin typeface="Arial Narrow" panose="020B0606020202030204" pitchFamily="34" charset="0"/>
            </a:endParaRPr>
          </a:p>
        </p:txBody>
      </p:sp>
      <p:sp>
        <p:nvSpPr>
          <p:cNvPr id="17" name="Text 21">
            <a:extLst>
              <a:ext uri="{FF2B5EF4-FFF2-40B4-BE49-F238E27FC236}">
                <a16:creationId xmlns:a16="http://schemas.microsoft.com/office/drawing/2014/main" id="{9127A914-5ECD-AC2A-0D71-6363C7EF92A4}"/>
              </a:ext>
            </a:extLst>
          </p:cNvPr>
          <p:cNvSpPr/>
          <p:nvPr/>
        </p:nvSpPr>
        <p:spPr>
          <a:xfrm>
            <a:off x="613096" y="3117000"/>
            <a:ext cx="5166360" cy="786384"/>
          </a:xfrm>
          <a:prstGeom prst="rect">
            <a:avLst/>
          </a:prstGeom>
          <a:noFill/>
          <a:ln/>
        </p:spPr>
        <p:txBody>
          <a:bodyPr wrap="square" rtlCol="0" anchor="t"/>
          <a:lstStyle/>
          <a:p>
            <a:pPr marL="0" indent="0" latinLnBrk="0">
              <a:buNone/>
            </a:pPr>
            <a:r>
              <a:rPr lang="en-US" sz="1000" b="1" noProof="0" dirty="0">
                <a:solidFill>
                  <a:srgbClr val="3D4A5C"/>
                </a:solidFill>
                <a:latin typeface="Arial Narrow" panose="020B0606020202030204" pitchFamily="34" charset="0"/>
                <a:ea typeface="Calibri" pitchFamily="34" charset="-122"/>
                <a:cs typeface="Calibri" pitchFamily="34" charset="-120"/>
              </a:rPr>
              <a:t>Repeated Re-search for History  /  재발 확인을 위한 반복 재검색
</a:t>
            </a:r>
            <a:r>
              <a:rPr lang="en-US" sz="1000" noProof="0" dirty="0">
                <a:solidFill>
                  <a:srgbClr val="3D4A5C"/>
                </a:solidFill>
                <a:latin typeface="Arial Narrow" panose="020B0606020202030204" pitchFamily="34" charset="0"/>
                <a:ea typeface="Calibri" pitchFamily="34" charset="-122"/>
                <a:cs typeface="Calibri" pitchFamily="34" charset="-120"/>
              </a:rPr>
              <a:t>To check if an issue occurred in the past, users must rebuild filters and repeat searches. Results vary by technician input quality.
</a:t>
            </a:r>
            <a:r>
              <a:rPr lang="en-US" sz="1000" i="1" noProof="0" dirty="0">
                <a:solidFill>
                  <a:srgbClr val="1E7F4E"/>
                </a:solidFill>
                <a:latin typeface="Arial Narrow" panose="020B0606020202030204" pitchFamily="34" charset="0"/>
                <a:ea typeface="Calibri" pitchFamily="34" charset="-122"/>
                <a:cs typeface="Calibri" pitchFamily="34" charset="-120"/>
              </a:rPr>
              <a:t>과거 발생 여부 확인을 위해 필터를 재설정하고 재검색을 반복해야 함. 결과는 기술자 입력 품질에 따라 다름.</a:t>
            </a:r>
            <a:endParaRPr lang="en-US" sz="1000" noProof="0" dirty="0">
              <a:latin typeface="Arial Narrow" panose="020B0606020202030204" pitchFamily="34" charset="0"/>
            </a:endParaRPr>
          </a:p>
        </p:txBody>
      </p:sp>
      <p:sp>
        <p:nvSpPr>
          <p:cNvPr id="18" name="Shape 22">
            <a:extLst>
              <a:ext uri="{FF2B5EF4-FFF2-40B4-BE49-F238E27FC236}">
                <a16:creationId xmlns:a16="http://schemas.microsoft.com/office/drawing/2014/main" id="{AF693425-36D5-F066-8334-24BA16734E8C}"/>
              </a:ext>
            </a:extLst>
          </p:cNvPr>
          <p:cNvSpPr/>
          <p:nvPr/>
        </p:nvSpPr>
        <p:spPr>
          <a:xfrm>
            <a:off x="128464" y="4086264"/>
            <a:ext cx="5760720" cy="914400"/>
          </a:xfrm>
          <a:prstGeom prst="rect">
            <a:avLst/>
          </a:prstGeom>
          <a:solidFill>
            <a:srgbClr val="FFFFFF"/>
          </a:solidFill>
          <a:ln w="12700">
            <a:noFill/>
            <a:prstDash val="solid"/>
          </a:ln>
        </p:spPr>
        <p:txBody>
          <a:bodyPr/>
          <a:lstStyle/>
          <a:p>
            <a:pPr latinLnBrk="0"/>
            <a:endParaRPr lang="en-US" sz="1000" noProof="0" dirty="0">
              <a:latin typeface="Arial Narrow" panose="020B0606020202030204" pitchFamily="34" charset="0"/>
            </a:endParaRPr>
          </a:p>
        </p:txBody>
      </p:sp>
      <p:sp>
        <p:nvSpPr>
          <p:cNvPr id="19" name="Shape 23">
            <a:extLst>
              <a:ext uri="{FF2B5EF4-FFF2-40B4-BE49-F238E27FC236}">
                <a16:creationId xmlns:a16="http://schemas.microsoft.com/office/drawing/2014/main" id="{A7A7819C-DA1D-9F62-5331-53BDBEACE7E4}"/>
              </a:ext>
            </a:extLst>
          </p:cNvPr>
          <p:cNvSpPr/>
          <p:nvPr/>
        </p:nvSpPr>
        <p:spPr>
          <a:xfrm>
            <a:off x="128464" y="4086264"/>
            <a:ext cx="411480" cy="914400"/>
          </a:xfrm>
          <a:prstGeom prst="rect">
            <a:avLst/>
          </a:prstGeom>
          <a:noFill/>
          <a:ln w="12700">
            <a:solidFill>
              <a:srgbClr val="C8102E"/>
            </a:solidFill>
            <a:prstDash val="solid"/>
          </a:ln>
        </p:spPr>
        <p:txBody>
          <a:bodyPr/>
          <a:lstStyle/>
          <a:p>
            <a:pPr latinLnBrk="0"/>
            <a:endParaRPr lang="en-US" sz="1000" noProof="0" dirty="0">
              <a:latin typeface="Arial Narrow" panose="020B0606020202030204" pitchFamily="34" charset="0"/>
            </a:endParaRPr>
          </a:p>
        </p:txBody>
      </p:sp>
      <p:sp>
        <p:nvSpPr>
          <p:cNvPr id="20" name="Text 24">
            <a:extLst>
              <a:ext uri="{FF2B5EF4-FFF2-40B4-BE49-F238E27FC236}">
                <a16:creationId xmlns:a16="http://schemas.microsoft.com/office/drawing/2014/main" id="{A8B1E54E-7D3B-089B-57EF-918AB59F75BC}"/>
              </a:ext>
            </a:extLst>
          </p:cNvPr>
          <p:cNvSpPr/>
          <p:nvPr/>
        </p:nvSpPr>
        <p:spPr>
          <a:xfrm>
            <a:off x="128464" y="4086264"/>
            <a:ext cx="411480" cy="914400"/>
          </a:xfrm>
          <a:prstGeom prst="rect">
            <a:avLst/>
          </a:prstGeom>
          <a:noFill/>
          <a:ln>
            <a:solidFill>
              <a:schemeClr val="tx1"/>
            </a:solidFill>
          </a:ln>
        </p:spPr>
        <p:txBody>
          <a:bodyPr wrap="square" lIns="0" tIns="0" rIns="0" bIns="0" rtlCol="0" anchor="ctr"/>
          <a:lstStyle/>
          <a:p>
            <a:pPr marL="0" indent="0" algn="ctr" latinLnBrk="0">
              <a:buNone/>
            </a:pPr>
            <a:r>
              <a:rPr lang="en-US" sz="1000" b="1" noProof="0" dirty="0">
                <a:latin typeface="Arial Narrow" panose="020B0606020202030204" pitchFamily="34" charset="0"/>
                <a:ea typeface="Calibri" pitchFamily="34" charset="-122"/>
                <a:cs typeface="Calibri" pitchFamily="34" charset="-120"/>
              </a:rPr>
              <a:t>04</a:t>
            </a:r>
            <a:endParaRPr lang="en-US" sz="1000" noProof="0" dirty="0">
              <a:latin typeface="Arial Narrow" panose="020B0606020202030204" pitchFamily="34" charset="0"/>
            </a:endParaRPr>
          </a:p>
        </p:txBody>
      </p:sp>
      <p:sp>
        <p:nvSpPr>
          <p:cNvPr id="21" name="Text 25">
            <a:extLst>
              <a:ext uri="{FF2B5EF4-FFF2-40B4-BE49-F238E27FC236}">
                <a16:creationId xmlns:a16="http://schemas.microsoft.com/office/drawing/2014/main" id="{5E9ACBC5-1FA4-1EA5-DFC2-F384EF37C231}"/>
              </a:ext>
            </a:extLst>
          </p:cNvPr>
          <p:cNvSpPr/>
          <p:nvPr/>
        </p:nvSpPr>
        <p:spPr>
          <a:xfrm>
            <a:off x="613096" y="4150272"/>
            <a:ext cx="5166360" cy="786384"/>
          </a:xfrm>
          <a:prstGeom prst="rect">
            <a:avLst/>
          </a:prstGeom>
          <a:noFill/>
          <a:ln/>
        </p:spPr>
        <p:txBody>
          <a:bodyPr wrap="square" rtlCol="0" anchor="t"/>
          <a:lstStyle/>
          <a:p>
            <a:pPr marL="0" indent="0" latinLnBrk="0">
              <a:buNone/>
            </a:pPr>
            <a:r>
              <a:rPr lang="en-US" sz="1000" b="1" noProof="0" dirty="0">
                <a:solidFill>
                  <a:srgbClr val="3D4A5C"/>
                </a:solidFill>
                <a:latin typeface="Arial Narrow" panose="020B0606020202030204" pitchFamily="34" charset="0"/>
                <a:ea typeface="Calibri" pitchFamily="34" charset="-122"/>
                <a:cs typeface="Calibri" pitchFamily="34" charset="-120"/>
              </a:rPr>
              <a:t>Manual Consolidation  /  수기 취합
</a:t>
            </a:r>
            <a:r>
              <a:rPr lang="en-US" sz="1000" noProof="0" dirty="0">
                <a:solidFill>
                  <a:srgbClr val="3D4A5C"/>
                </a:solidFill>
                <a:latin typeface="Arial Narrow" panose="020B0606020202030204" pitchFamily="34" charset="0"/>
                <a:ea typeface="Calibri" pitchFamily="34" charset="-122"/>
                <a:cs typeface="Calibri" pitchFamily="34" charset="-120"/>
              </a:rPr>
              <a:t>Findings are copied to Excel/Email manually — time-consuming, error-prone, and inconsistent across engineers and shifts.
</a:t>
            </a:r>
            <a:r>
              <a:rPr lang="en-US" sz="1000" i="1" noProof="0" dirty="0">
                <a:solidFill>
                  <a:srgbClr val="1E7F4E"/>
                </a:solidFill>
                <a:latin typeface="Arial Narrow" panose="020B0606020202030204" pitchFamily="34" charset="0"/>
                <a:ea typeface="Calibri" pitchFamily="34" charset="-122"/>
                <a:cs typeface="Calibri" pitchFamily="34" charset="-120"/>
              </a:rPr>
              <a:t>결과를 엑셀/이메일로 수기 취합하므로 시간이 소요되고 오류 및 불일치 발생.</a:t>
            </a:r>
            <a:endParaRPr lang="en-US" sz="1000" noProof="0" dirty="0">
              <a:latin typeface="Arial Narrow" panose="020B0606020202030204" pitchFamily="34" charset="0"/>
            </a:endParaRPr>
          </a:p>
        </p:txBody>
      </p:sp>
      <p:sp>
        <p:nvSpPr>
          <p:cNvPr id="22" name="Shape 26">
            <a:extLst>
              <a:ext uri="{FF2B5EF4-FFF2-40B4-BE49-F238E27FC236}">
                <a16:creationId xmlns:a16="http://schemas.microsoft.com/office/drawing/2014/main" id="{D8F5389C-BA3F-82CA-D3B0-1BAA975CAE74}"/>
              </a:ext>
            </a:extLst>
          </p:cNvPr>
          <p:cNvSpPr/>
          <p:nvPr/>
        </p:nvSpPr>
        <p:spPr>
          <a:xfrm>
            <a:off x="128464" y="5119536"/>
            <a:ext cx="5760720" cy="914400"/>
          </a:xfrm>
          <a:prstGeom prst="rect">
            <a:avLst/>
          </a:prstGeom>
          <a:solidFill>
            <a:srgbClr val="FFFFFF"/>
          </a:solidFill>
          <a:ln w="12700">
            <a:noFill/>
            <a:prstDash val="solid"/>
          </a:ln>
        </p:spPr>
        <p:txBody>
          <a:bodyPr/>
          <a:lstStyle/>
          <a:p>
            <a:pPr latinLnBrk="0"/>
            <a:endParaRPr lang="en-US" sz="1000" noProof="0" dirty="0">
              <a:latin typeface="Arial Narrow" panose="020B0606020202030204" pitchFamily="34" charset="0"/>
            </a:endParaRPr>
          </a:p>
        </p:txBody>
      </p:sp>
      <p:sp>
        <p:nvSpPr>
          <p:cNvPr id="23" name="Shape 27">
            <a:extLst>
              <a:ext uri="{FF2B5EF4-FFF2-40B4-BE49-F238E27FC236}">
                <a16:creationId xmlns:a16="http://schemas.microsoft.com/office/drawing/2014/main" id="{65B9BA55-143E-C627-4E20-FDB42C6DEDC9}"/>
              </a:ext>
            </a:extLst>
          </p:cNvPr>
          <p:cNvSpPr/>
          <p:nvPr/>
        </p:nvSpPr>
        <p:spPr>
          <a:xfrm>
            <a:off x="128464" y="5119536"/>
            <a:ext cx="411480" cy="914400"/>
          </a:xfrm>
          <a:prstGeom prst="rect">
            <a:avLst/>
          </a:prstGeom>
          <a:noFill/>
          <a:ln w="12700">
            <a:solidFill>
              <a:srgbClr val="C8102E"/>
            </a:solidFill>
            <a:prstDash val="solid"/>
          </a:ln>
        </p:spPr>
        <p:txBody>
          <a:bodyPr/>
          <a:lstStyle/>
          <a:p>
            <a:pPr latinLnBrk="0"/>
            <a:endParaRPr lang="en-US" sz="1000" noProof="0" dirty="0">
              <a:latin typeface="Arial Narrow" panose="020B0606020202030204" pitchFamily="34" charset="0"/>
            </a:endParaRPr>
          </a:p>
        </p:txBody>
      </p:sp>
      <p:sp>
        <p:nvSpPr>
          <p:cNvPr id="24" name="Text 28">
            <a:extLst>
              <a:ext uri="{FF2B5EF4-FFF2-40B4-BE49-F238E27FC236}">
                <a16:creationId xmlns:a16="http://schemas.microsoft.com/office/drawing/2014/main" id="{205DFFC6-3674-D62F-BBCE-E09D32BA0918}"/>
              </a:ext>
            </a:extLst>
          </p:cNvPr>
          <p:cNvSpPr/>
          <p:nvPr/>
        </p:nvSpPr>
        <p:spPr>
          <a:xfrm>
            <a:off x="128464" y="5119536"/>
            <a:ext cx="411480" cy="914400"/>
          </a:xfrm>
          <a:prstGeom prst="rect">
            <a:avLst/>
          </a:prstGeom>
          <a:noFill/>
          <a:ln>
            <a:solidFill>
              <a:schemeClr val="tx1"/>
            </a:solidFill>
          </a:ln>
        </p:spPr>
        <p:txBody>
          <a:bodyPr wrap="square" lIns="0" tIns="0" rIns="0" bIns="0" rtlCol="0" anchor="ctr"/>
          <a:lstStyle/>
          <a:p>
            <a:pPr marL="0" indent="0" algn="ctr" latinLnBrk="0">
              <a:buNone/>
            </a:pPr>
            <a:r>
              <a:rPr lang="en-US" sz="1000" b="1" noProof="0" dirty="0">
                <a:latin typeface="Arial Narrow" panose="020B0606020202030204" pitchFamily="34" charset="0"/>
                <a:ea typeface="Calibri" pitchFamily="34" charset="-122"/>
                <a:cs typeface="Calibri" pitchFamily="34" charset="-120"/>
              </a:rPr>
              <a:t>05</a:t>
            </a:r>
            <a:endParaRPr lang="en-US" sz="1000" noProof="0" dirty="0">
              <a:latin typeface="Arial Narrow" panose="020B0606020202030204" pitchFamily="34" charset="0"/>
            </a:endParaRPr>
          </a:p>
        </p:txBody>
      </p:sp>
      <p:sp>
        <p:nvSpPr>
          <p:cNvPr id="25" name="Text 29">
            <a:extLst>
              <a:ext uri="{FF2B5EF4-FFF2-40B4-BE49-F238E27FC236}">
                <a16:creationId xmlns:a16="http://schemas.microsoft.com/office/drawing/2014/main" id="{08CCA7A1-3940-C7B9-1B23-78B9D6842C76}"/>
              </a:ext>
            </a:extLst>
          </p:cNvPr>
          <p:cNvSpPr/>
          <p:nvPr/>
        </p:nvSpPr>
        <p:spPr>
          <a:xfrm>
            <a:off x="613096" y="5183544"/>
            <a:ext cx="5166360" cy="786384"/>
          </a:xfrm>
          <a:prstGeom prst="rect">
            <a:avLst/>
          </a:prstGeom>
          <a:noFill/>
          <a:ln/>
        </p:spPr>
        <p:txBody>
          <a:bodyPr wrap="square" rtlCol="0" anchor="t"/>
          <a:lstStyle/>
          <a:p>
            <a:pPr marL="0" indent="0" latinLnBrk="0">
              <a:buNone/>
            </a:pPr>
            <a:r>
              <a:rPr lang="en-US" sz="1000" b="1" noProof="0" dirty="0">
                <a:solidFill>
                  <a:srgbClr val="3D4A5C"/>
                </a:solidFill>
                <a:latin typeface="Arial Narrow" panose="020B0606020202030204" pitchFamily="34" charset="0"/>
                <a:ea typeface="Calibri" pitchFamily="34" charset="-122"/>
                <a:cs typeface="Calibri" pitchFamily="34" charset="-120"/>
              </a:rPr>
              <a:t>No Trend or Recurrence View  /  추세·재발 가시성 부재
</a:t>
            </a:r>
            <a:r>
              <a:rPr lang="en-US" sz="1000" noProof="0" dirty="0">
                <a:solidFill>
                  <a:srgbClr val="3D4A5C"/>
                </a:solidFill>
                <a:latin typeface="Arial Narrow" panose="020B0606020202030204" pitchFamily="34" charset="0"/>
                <a:ea typeface="Calibri" pitchFamily="34" charset="-122"/>
                <a:cs typeface="Calibri" pitchFamily="34" charset="-120"/>
              </a:rPr>
              <a:t>No quick way to see recurrence patterns, MTTR, or top causes across time ranges — leads to reactive rather than predictive maintenance.
</a:t>
            </a:r>
            <a:r>
              <a:rPr lang="en-US" sz="1000" i="1" noProof="0" dirty="0">
                <a:solidFill>
                  <a:srgbClr val="1E7F4E"/>
                </a:solidFill>
                <a:latin typeface="Arial Narrow" panose="020B0606020202030204" pitchFamily="34" charset="0"/>
                <a:ea typeface="Calibri" pitchFamily="34" charset="-122"/>
                <a:cs typeface="Calibri" pitchFamily="34" charset="-120"/>
              </a:rPr>
              <a:t>재발 패턴, MTTR, 상위 원인을 빠르게 확인할 방법이 없어 사후 대응 중심의 정비가 이루어짐.</a:t>
            </a:r>
            <a:endParaRPr lang="en-US" sz="1000" noProof="0" dirty="0">
              <a:latin typeface="Arial Narrow" panose="020B0606020202030204" pitchFamily="34" charset="0"/>
            </a:endParaRPr>
          </a:p>
        </p:txBody>
      </p:sp>
      <p:sp>
        <p:nvSpPr>
          <p:cNvPr id="26" name="Shape 30">
            <a:extLst>
              <a:ext uri="{FF2B5EF4-FFF2-40B4-BE49-F238E27FC236}">
                <a16:creationId xmlns:a16="http://schemas.microsoft.com/office/drawing/2014/main" id="{707D5B6E-CCBC-5CA2-C8A5-6781037ECB27}"/>
              </a:ext>
            </a:extLst>
          </p:cNvPr>
          <p:cNvSpPr/>
          <p:nvPr/>
        </p:nvSpPr>
        <p:spPr>
          <a:xfrm>
            <a:off x="5835760" y="637452"/>
            <a:ext cx="3753030" cy="292608"/>
          </a:xfrm>
          <a:prstGeom prst="rect">
            <a:avLst/>
          </a:prstGeom>
          <a:noFill/>
          <a:ln w="12700">
            <a:solidFill>
              <a:srgbClr val="1B2A4A"/>
            </a:solidFill>
            <a:prstDash val="solid"/>
          </a:ln>
        </p:spPr>
        <p:txBody>
          <a:bodyPr/>
          <a:lstStyle/>
          <a:p>
            <a:endParaRPr lang="en-US" sz="1100" noProof="0" dirty="0">
              <a:latin typeface="Arial Narrow" panose="020B0606020202030204" pitchFamily="34" charset="0"/>
            </a:endParaRPr>
          </a:p>
        </p:txBody>
      </p:sp>
      <p:sp>
        <p:nvSpPr>
          <p:cNvPr id="27" name="Text 31">
            <a:extLst>
              <a:ext uri="{FF2B5EF4-FFF2-40B4-BE49-F238E27FC236}">
                <a16:creationId xmlns:a16="http://schemas.microsoft.com/office/drawing/2014/main" id="{64F39C08-23C2-74E0-5D41-45AA131D37A5}"/>
              </a:ext>
            </a:extLst>
          </p:cNvPr>
          <p:cNvSpPr/>
          <p:nvPr/>
        </p:nvSpPr>
        <p:spPr>
          <a:xfrm>
            <a:off x="5835760" y="637452"/>
            <a:ext cx="3941776" cy="292608"/>
          </a:xfrm>
          <a:prstGeom prst="rect">
            <a:avLst/>
          </a:prstGeom>
          <a:noFill/>
          <a:ln>
            <a:noFill/>
          </a:ln>
        </p:spPr>
        <p:txBody>
          <a:bodyPr wrap="square" lIns="0" tIns="0" rIns="0" bIns="0" rtlCol="0" anchor="ctr"/>
          <a:lstStyle/>
          <a:p>
            <a:pPr marL="0" indent="0" algn="ctr">
              <a:buNone/>
            </a:pPr>
            <a:r>
              <a:rPr lang="en-US" sz="1100" b="1" noProof="0" dirty="0">
                <a:latin typeface="Arial Narrow" panose="020B0606020202030204" pitchFamily="34" charset="0"/>
                <a:ea typeface="Calibri" pitchFamily="34" charset="-122"/>
                <a:cs typeface="Calibri" pitchFamily="34" charset="-120"/>
              </a:rPr>
              <a:t>AI Adoption Impact  /  AI 도입 개선 효과</a:t>
            </a:r>
            <a:endParaRPr lang="en-US" sz="1100" noProof="0" dirty="0">
              <a:latin typeface="Arial Narrow" panose="020B0606020202030204" pitchFamily="34" charset="0"/>
            </a:endParaRPr>
          </a:p>
        </p:txBody>
      </p:sp>
      <p:graphicFrame>
        <p:nvGraphicFramePr>
          <p:cNvPr id="28" name="Table 0">
            <a:extLst>
              <a:ext uri="{FF2B5EF4-FFF2-40B4-BE49-F238E27FC236}">
                <a16:creationId xmlns:a16="http://schemas.microsoft.com/office/drawing/2014/main" id="{C8975DC9-642B-89A5-4852-8775B44D667C}"/>
              </a:ext>
            </a:extLst>
          </p:cNvPr>
          <p:cNvGraphicFramePr>
            <a:graphicFrameLocks noGrp="1"/>
          </p:cNvGraphicFramePr>
          <p:nvPr>
            <p:extLst>
              <p:ext uri="{D42A27DB-BD31-4B8C-83A1-F6EECF244321}">
                <p14:modId xmlns:p14="http://schemas.microsoft.com/office/powerpoint/2010/main" val="641736159"/>
              </p:ext>
            </p:extLst>
          </p:nvPr>
        </p:nvGraphicFramePr>
        <p:xfrm>
          <a:off x="5852608" y="1003212"/>
          <a:ext cx="3736182" cy="1691640"/>
        </p:xfrm>
        <a:graphic>
          <a:graphicData uri="http://schemas.openxmlformats.org/drawingml/2006/table">
            <a:tbl>
              <a:tblPr>
                <a:tableStyleId>{2D5ABB26-0587-4C30-8999-92F81FD0307C}</a:tableStyleId>
              </a:tblPr>
              <a:tblGrid>
                <a:gridCol w="1626765">
                  <a:extLst>
                    <a:ext uri="{9D8B030D-6E8A-4147-A177-3AD203B41FA5}">
                      <a16:colId xmlns:a16="http://schemas.microsoft.com/office/drawing/2014/main" val="20000"/>
                    </a:ext>
                  </a:extLst>
                </a:gridCol>
                <a:gridCol w="813382">
                  <a:extLst>
                    <a:ext uri="{9D8B030D-6E8A-4147-A177-3AD203B41FA5}">
                      <a16:colId xmlns:a16="http://schemas.microsoft.com/office/drawing/2014/main" val="20001"/>
                    </a:ext>
                  </a:extLst>
                </a:gridCol>
                <a:gridCol w="628968">
                  <a:extLst>
                    <a:ext uri="{9D8B030D-6E8A-4147-A177-3AD203B41FA5}">
                      <a16:colId xmlns:a16="http://schemas.microsoft.com/office/drawing/2014/main" val="20002"/>
                    </a:ext>
                  </a:extLst>
                </a:gridCol>
                <a:gridCol w="667067">
                  <a:extLst>
                    <a:ext uri="{9D8B030D-6E8A-4147-A177-3AD203B41FA5}">
                      <a16:colId xmlns:a16="http://schemas.microsoft.com/office/drawing/2014/main" val="20003"/>
                    </a:ext>
                  </a:extLst>
                </a:gridCol>
              </a:tblGrid>
              <a:tr h="193540">
                <a:tc>
                  <a:txBody>
                    <a:bodyPr/>
                    <a:lstStyle/>
                    <a:p>
                      <a:pPr marL="0" indent="0" algn="ctr" latinLnBrk="0">
                        <a:buNone/>
                      </a:pPr>
                      <a:r>
                        <a:rPr lang="en-US" sz="900" b="1" noProof="0" dirty="0">
                          <a:solidFill>
                            <a:schemeClr val="tx1"/>
                          </a:solidFill>
                          <a:latin typeface="Arial Narrow" panose="020B0606020202030204" pitchFamily="34" charset="0"/>
                        </a:rPr>
                        <a:t>Task / 작업</a:t>
                      </a:r>
                      <a:endParaRPr lang="en-US" sz="900" noProof="0" dirty="0">
                        <a:solidFill>
                          <a:schemeClr val="tx1"/>
                        </a:solidFill>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indent="0" algn="ctr" latinLnBrk="0">
                        <a:buNone/>
                      </a:pPr>
                      <a:r>
                        <a:rPr lang="en-US" sz="900" b="1" noProof="0" dirty="0">
                          <a:solidFill>
                            <a:schemeClr val="tx1"/>
                          </a:solidFill>
                          <a:latin typeface="Arial Narrow" panose="020B0606020202030204" pitchFamily="34" charset="0"/>
                        </a:rPr>
                        <a:t>As-Is</a:t>
                      </a:r>
                      <a:endParaRPr lang="en-US" sz="900" noProof="0" dirty="0">
                        <a:solidFill>
                          <a:schemeClr val="tx1"/>
                        </a:solidFill>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indent="0" algn="ctr" latinLnBrk="0">
                        <a:buNone/>
                      </a:pPr>
                      <a:r>
                        <a:rPr lang="en-US" sz="900" b="1" noProof="0" dirty="0">
                          <a:solidFill>
                            <a:schemeClr val="tx1"/>
                          </a:solidFill>
                          <a:latin typeface="Arial Narrow" panose="020B0606020202030204" pitchFamily="34" charset="0"/>
                        </a:rPr>
                        <a:t>To-Be</a:t>
                      </a:r>
                      <a:endParaRPr lang="en-US" sz="900" noProof="0" dirty="0">
                        <a:solidFill>
                          <a:schemeClr val="tx1"/>
                        </a:solidFill>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indent="0" algn="ctr" latinLnBrk="0">
                        <a:buNone/>
                      </a:pPr>
                      <a:r>
                        <a:rPr lang="en-US" sz="900" b="1" noProof="0" dirty="0">
                          <a:solidFill>
                            <a:schemeClr val="tx1"/>
                          </a:solidFill>
                          <a:latin typeface="Arial Narrow" panose="020B0606020202030204" pitchFamily="34" charset="0"/>
                        </a:rPr>
                        <a:t>Reduction</a:t>
                      </a:r>
                      <a:endParaRPr lang="en-US" sz="900" noProof="0" dirty="0">
                        <a:solidFill>
                          <a:schemeClr val="tx1"/>
                        </a:solidFill>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0000"/>
                  </a:ext>
                </a:extLst>
              </a:tr>
              <a:tr h="347472">
                <a:tc>
                  <a:txBody>
                    <a:bodyPr/>
                    <a:lstStyle/>
                    <a:p>
                      <a:pPr marL="0" indent="0" latinLnBrk="0">
                        <a:buNone/>
                      </a:pPr>
                      <a:r>
                        <a:rPr lang="en-US" sz="900" noProof="0" dirty="0">
                          <a:solidFill>
                            <a:srgbClr val="3D4A5C"/>
                          </a:solidFill>
                          <a:latin typeface="Arial Narrow" panose="020B0606020202030204" pitchFamily="34" charset="0"/>
                        </a:rPr>
                        <a:t>Search similar past cases</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유사 사례 탐색</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~5 hours</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~5시간</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~5 min</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~5분</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~95% ↓</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latinLnBrk="0">
                        <a:buNone/>
                      </a:pPr>
                      <a:r>
                        <a:rPr lang="en-US" sz="900" noProof="0" dirty="0">
                          <a:solidFill>
                            <a:srgbClr val="3D4A5C"/>
                          </a:solidFill>
                          <a:latin typeface="Arial Narrow" panose="020B0606020202030204" pitchFamily="34" charset="0"/>
                        </a:rPr>
                        <a:t>Compile cases + actions</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사례+조치 목록 정리</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~90 min</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~90분</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~2 min</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~2분</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~97% ↓</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latinLnBrk="0">
                        <a:buNone/>
                      </a:pPr>
                      <a:r>
                        <a:rPr lang="en-US" sz="900" noProof="0" dirty="0">
                          <a:solidFill>
                            <a:srgbClr val="3D4A5C"/>
                          </a:solidFill>
                          <a:latin typeface="Arial Narrow" panose="020B0606020202030204" pitchFamily="34" charset="0"/>
                        </a:rPr>
                        <a:t>Check recurrence (12 mo.)</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12개월 재발 확인</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~60 min</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~60분</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~3 min</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~3분</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~95% ↓</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latinLnBrk="0">
                        <a:buNone/>
                      </a:pPr>
                      <a:r>
                        <a:rPr lang="en-US" sz="900" noProof="0" dirty="0">
                          <a:solidFill>
                            <a:srgbClr val="3D4A5C"/>
                          </a:solidFill>
                          <a:latin typeface="Arial Narrow" panose="020B0606020202030204" pitchFamily="34" charset="0"/>
                        </a:rPr>
                        <a:t>Draft manager summary</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관리자 보고 초안</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~30 min</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~30분</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&lt; 1 min</a:t>
                      </a:r>
                      <a:endParaRPr lang="en-US" sz="900" noProof="0" dirty="0">
                        <a:latin typeface="Arial Narrow" panose="020B0606020202030204" pitchFamily="34" charset="0"/>
                      </a:endParaRPr>
                    </a:p>
                    <a:p>
                      <a:pPr marL="0" indent="0" latinLnBrk="0">
                        <a:buNone/>
                      </a:pPr>
                      <a:r>
                        <a:rPr lang="en-US" sz="900" noProof="0" dirty="0">
                          <a:solidFill>
                            <a:srgbClr val="3D4A5C"/>
                          </a:solidFill>
                          <a:latin typeface="Arial Narrow" panose="020B0606020202030204" pitchFamily="34" charset="0"/>
                        </a:rPr>
                        <a:t>1분 미만</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latinLnBrk="0">
                        <a:buNone/>
                      </a:pPr>
                      <a:r>
                        <a:rPr lang="en-US" sz="900" noProof="0" dirty="0">
                          <a:solidFill>
                            <a:srgbClr val="3D4A5C"/>
                          </a:solidFill>
                          <a:latin typeface="Arial Narrow" panose="020B0606020202030204" pitchFamily="34" charset="0"/>
                        </a:rPr>
                        <a:t>~97% ↓</a:t>
                      </a:r>
                      <a:endParaRPr lang="en-US" sz="900" noProof="0" dirty="0">
                        <a:latin typeface="Arial Narrow" panose="020B0606020202030204" pitchFamily="34"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1" name="Text 33">
            <a:extLst>
              <a:ext uri="{FF2B5EF4-FFF2-40B4-BE49-F238E27FC236}">
                <a16:creationId xmlns:a16="http://schemas.microsoft.com/office/drawing/2014/main" id="{160B7780-2F21-7604-6BC3-C22ADE4BCDD6}"/>
              </a:ext>
            </a:extLst>
          </p:cNvPr>
          <p:cNvSpPr/>
          <p:nvPr/>
        </p:nvSpPr>
        <p:spPr>
          <a:xfrm>
            <a:off x="5852608" y="3092235"/>
            <a:ext cx="3736182" cy="256032"/>
          </a:xfrm>
          <a:prstGeom prst="rect">
            <a:avLst/>
          </a:prstGeom>
          <a:noFill/>
          <a:ln/>
        </p:spPr>
        <p:txBody>
          <a:bodyPr wrap="square" lIns="0" tIns="0" rIns="0" bIns="0" rtlCol="0" anchor="ctr"/>
          <a:lstStyle/>
          <a:p>
            <a:pPr marL="0" indent="0" algn="ctr">
              <a:buNone/>
            </a:pPr>
            <a:r>
              <a:rPr lang="en-US" sz="900" b="1" noProof="0" dirty="0">
                <a:solidFill>
                  <a:srgbClr val="FFFFFF"/>
                </a:solidFill>
                <a:latin typeface="Arial Narrow" panose="020B0606020202030204" pitchFamily="34" charset="0"/>
                <a:ea typeface="Calibri" pitchFamily="34" charset="-122"/>
                <a:cs typeface="Calibri" pitchFamily="34" charset="-120"/>
              </a:rPr>
              <a:t>What AI Automates  /  AI가 자동화하는 작업</a:t>
            </a:r>
            <a:endParaRPr lang="en-US" sz="900" noProof="0" dirty="0">
              <a:latin typeface="Arial Narrow" panose="020B0606020202030204" pitchFamily="34" charset="0"/>
            </a:endParaRPr>
          </a:p>
        </p:txBody>
      </p:sp>
      <p:sp>
        <p:nvSpPr>
          <p:cNvPr id="32" name="Shape 34">
            <a:extLst>
              <a:ext uri="{FF2B5EF4-FFF2-40B4-BE49-F238E27FC236}">
                <a16:creationId xmlns:a16="http://schemas.microsoft.com/office/drawing/2014/main" id="{AB4EFD9A-6A52-C254-B54F-E6F93052E075}"/>
              </a:ext>
            </a:extLst>
          </p:cNvPr>
          <p:cNvSpPr/>
          <p:nvPr/>
        </p:nvSpPr>
        <p:spPr>
          <a:xfrm>
            <a:off x="5852608" y="3393987"/>
            <a:ext cx="3736182" cy="457200"/>
          </a:xfrm>
          <a:prstGeom prst="rect">
            <a:avLst/>
          </a:prstGeom>
          <a:solidFill>
            <a:schemeClr val="bg2">
              <a:lumMod val="20000"/>
              <a:lumOff val="80000"/>
            </a:schemeClr>
          </a:solidFill>
          <a:ln w="6350">
            <a:solidFill>
              <a:srgbClr val="E8EAF0"/>
            </a:solidFill>
            <a:prstDash val="solid"/>
          </a:ln>
        </p:spPr>
        <p:txBody>
          <a:bodyPr/>
          <a:lstStyle/>
          <a:p>
            <a:endParaRPr lang="en-US" sz="1000" noProof="0" dirty="0">
              <a:latin typeface="Arial Narrow" panose="020B0606020202030204" pitchFamily="34" charset="0"/>
            </a:endParaRPr>
          </a:p>
        </p:txBody>
      </p:sp>
      <p:sp>
        <p:nvSpPr>
          <p:cNvPr id="33" name="Shape 35">
            <a:extLst>
              <a:ext uri="{FF2B5EF4-FFF2-40B4-BE49-F238E27FC236}">
                <a16:creationId xmlns:a16="http://schemas.microsoft.com/office/drawing/2014/main" id="{A89C1275-A54B-0A74-48E4-F4791ED9537C}"/>
              </a:ext>
            </a:extLst>
          </p:cNvPr>
          <p:cNvSpPr/>
          <p:nvPr/>
        </p:nvSpPr>
        <p:spPr>
          <a:xfrm>
            <a:off x="5989768" y="3545430"/>
            <a:ext cx="109352" cy="136026"/>
          </a:xfrm>
          <a:prstGeom prst="ellipse">
            <a:avLst/>
          </a:prstGeom>
          <a:solidFill>
            <a:schemeClr val="tx1"/>
          </a:solidFill>
          <a:ln w="12700">
            <a:solidFill>
              <a:srgbClr val="1B2A4A"/>
            </a:solidFill>
            <a:prstDash val="solid"/>
          </a:ln>
        </p:spPr>
        <p:txBody>
          <a:bodyPr/>
          <a:lstStyle/>
          <a:p>
            <a:endParaRPr lang="en-US" sz="900" noProof="0" dirty="0">
              <a:latin typeface="Arial Narrow" panose="020B0606020202030204" pitchFamily="34" charset="0"/>
            </a:endParaRPr>
          </a:p>
        </p:txBody>
      </p:sp>
      <p:sp>
        <p:nvSpPr>
          <p:cNvPr id="34" name="Text 36">
            <a:extLst>
              <a:ext uri="{FF2B5EF4-FFF2-40B4-BE49-F238E27FC236}">
                <a16:creationId xmlns:a16="http://schemas.microsoft.com/office/drawing/2014/main" id="{B6D8C4D3-68EE-0A32-C8AB-094916ECA44C}"/>
              </a:ext>
            </a:extLst>
          </p:cNvPr>
          <p:cNvSpPr/>
          <p:nvPr/>
        </p:nvSpPr>
        <p:spPr>
          <a:xfrm>
            <a:off x="6218368" y="3430563"/>
            <a:ext cx="3432427" cy="384048"/>
          </a:xfrm>
          <a:prstGeom prst="rect">
            <a:avLst/>
          </a:prstGeom>
          <a:noFill/>
          <a:ln/>
        </p:spPr>
        <p:txBody>
          <a:bodyPr wrap="square" rtlCol="0" anchor="ctr"/>
          <a:lstStyle/>
          <a:p>
            <a:pPr marL="0" indent="0">
              <a:buNone/>
            </a:pPr>
            <a:r>
              <a:rPr lang="en-US" sz="900" b="1" noProof="0" dirty="0">
                <a:solidFill>
                  <a:srgbClr val="3D4A5C"/>
                </a:solidFill>
                <a:latin typeface="Arial Narrow" panose="020B0606020202030204" pitchFamily="34" charset="0"/>
                <a:ea typeface="Calibri" pitchFamily="34" charset="-122"/>
                <a:cs typeface="Calibri" pitchFamily="34" charset="-120"/>
              </a:rPr>
              <a:t>Find similar cases across inconsistent wording &amp; typos
</a:t>
            </a:r>
            <a:endParaRPr lang="en-US" sz="900" noProof="0" dirty="0">
              <a:latin typeface="Arial Narrow" panose="020B0606020202030204" pitchFamily="34" charset="0"/>
            </a:endParaRPr>
          </a:p>
          <a:p>
            <a:pPr marL="0" indent="0">
              <a:buNone/>
            </a:pPr>
            <a:r>
              <a:rPr lang="en-US" sz="900" i="1" noProof="0" dirty="0">
                <a:solidFill>
                  <a:srgbClr val="1E7F4E"/>
                </a:solidFill>
                <a:latin typeface="Arial Narrow" panose="020B0606020202030204" pitchFamily="34" charset="0"/>
                <a:ea typeface="Calibri" pitchFamily="34" charset="-122"/>
                <a:cs typeface="Calibri" pitchFamily="34" charset="-120"/>
              </a:rPr>
              <a:t>표현 불일치·오탈자에도 유사 사례 자동 탐색</a:t>
            </a:r>
            <a:endParaRPr lang="en-US" sz="900" noProof="0" dirty="0">
              <a:latin typeface="Arial Narrow" panose="020B0606020202030204" pitchFamily="34" charset="0"/>
            </a:endParaRPr>
          </a:p>
        </p:txBody>
      </p:sp>
      <p:sp>
        <p:nvSpPr>
          <p:cNvPr id="35" name="Shape 37">
            <a:extLst>
              <a:ext uri="{FF2B5EF4-FFF2-40B4-BE49-F238E27FC236}">
                <a16:creationId xmlns:a16="http://schemas.microsoft.com/office/drawing/2014/main" id="{F54DC85C-A2B4-87DC-9412-27D28681D2A5}"/>
              </a:ext>
            </a:extLst>
          </p:cNvPr>
          <p:cNvSpPr/>
          <p:nvPr/>
        </p:nvSpPr>
        <p:spPr>
          <a:xfrm>
            <a:off x="5852608" y="3924339"/>
            <a:ext cx="3736182" cy="457200"/>
          </a:xfrm>
          <a:prstGeom prst="rect">
            <a:avLst/>
          </a:prstGeom>
          <a:solidFill>
            <a:srgbClr val="FFFFFF"/>
          </a:solidFill>
          <a:ln w="6350">
            <a:solidFill>
              <a:srgbClr val="E8EAF0"/>
            </a:solidFill>
            <a:prstDash val="solid"/>
          </a:ln>
        </p:spPr>
        <p:txBody>
          <a:bodyPr/>
          <a:lstStyle/>
          <a:p>
            <a:endParaRPr lang="en-US" sz="1000" noProof="0" dirty="0">
              <a:latin typeface="Arial Narrow" panose="020B0606020202030204" pitchFamily="34" charset="0"/>
            </a:endParaRPr>
          </a:p>
        </p:txBody>
      </p:sp>
      <p:sp>
        <p:nvSpPr>
          <p:cNvPr id="36" name="Shape 38">
            <a:extLst>
              <a:ext uri="{FF2B5EF4-FFF2-40B4-BE49-F238E27FC236}">
                <a16:creationId xmlns:a16="http://schemas.microsoft.com/office/drawing/2014/main" id="{6F17BB9D-FE44-A01E-CFC0-25ADE09649F9}"/>
              </a:ext>
            </a:extLst>
          </p:cNvPr>
          <p:cNvSpPr/>
          <p:nvPr/>
        </p:nvSpPr>
        <p:spPr>
          <a:xfrm>
            <a:off x="5989768" y="4075782"/>
            <a:ext cx="109352" cy="136026"/>
          </a:xfrm>
          <a:prstGeom prst="ellipse">
            <a:avLst/>
          </a:prstGeom>
          <a:solidFill>
            <a:schemeClr val="tx1"/>
          </a:solidFill>
          <a:ln w="12700">
            <a:solidFill>
              <a:srgbClr val="1B2A4A"/>
            </a:solidFill>
            <a:prstDash val="solid"/>
          </a:ln>
        </p:spPr>
        <p:txBody>
          <a:bodyPr/>
          <a:lstStyle/>
          <a:p>
            <a:endParaRPr lang="en-US" sz="900" noProof="0" dirty="0">
              <a:latin typeface="Arial Narrow" panose="020B0606020202030204" pitchFamily="34" charset="0"/>
            </a:endParaRPr>
          </a:p>
        </p:txBody>
      </p:sp>
      <p:sp>
        <p:nvSpPr>
          <p:cNvPr id="37" name="Text 39">
            <a:extLst>
              <a:ext uri="{FF2B5EF4-FFF2-40B4-BE49-F238E27FC236}">
                <a16:creationId xmlns:a16="http://schemas.microsoft.com/office/drawing/2014/main" id="{63C8ECB6-63B3-B8EE-60A8-73D437296825}"/>
              </a:ext>
            </a:extLst>
          </p:cNvPr>
          <p:cNvSpPr/>
          <p:nvPr/>
        </p:nvSpPr>
        <p:spPr>
          <a:xfrm>
            <a:off x="6218368" y="3960915"/>
            <a:ext cx="3432427" cy="384048"/>
          </a:xfrm>
          <a:prstGeom prst="rect">
            <a:avLst/>
          </a:prstGeom>
          <a:noFill/>
          <a:ln/>
        </p:spPr>
        <p:txBody>
          <a:bodyPr wrap="square" rtlCol="0" anchor="ctr"/>
          <a:lstStyle/>
          <a:p>
            <a:pPr marL="0" indent="0">
              <a:buNone/>
            </a:pPr>
            <a:r>
              <a:rPr lang="en-US" sz="900" b="1" noProof="0" dirty="0">
                <a:solidFill>
                  <a:srgbClr val="3D4A5C"/>
                </a:solidFill>
                <a:latin typeface="Arial Narrow" panose="020B0606020202030204" pitchFamily="34" charset="0"/>
                <a:ea typeface="Calibri" pitchFamily="34" charset="-122"/>
                <a:cs typeface="Calibri" pitchFamily="34" charset="-120"/>
              </a:rPr>
              <a:t>Generate summarized answers with cited record IDs/dates/lines
</a:t>
            </a:r>
            <a:endParaRPr lang="en-US" sz="900" noProof="0" dirty="0">
              <a:latin typeface="Arial Narrow" panose="020B0606020202030204" pitchFamily="34" charset="0"/>
            </a:endParaRPr>
          </a:p>
          <a:p>
            <a:pPr marL="0" indent="0">
              <a:buNone/>
            </a:pPr>
            <a:r>
              <a:rPr lang="en-US" sz="900" i="1" noProof="0" dirty="0">
                <a:solidFill>
                  <a:srgbClr val="1E7F4E"/>
                </a:solidFill>
                <a:latin typeface="Arial Narrow" panose="020B0606020202030204" pitchFamily="34" charset="0"/>
                <a:ea typeface="Calibri" pitchFamily="34" charset="-122"/>
                <a:cs typeface="Calibri" pitchFamily="34" charset="-120"/>
              </a:rPr>
              <a:t>ID/일자/라인 포함 요약 응답 자동 생성</a:t>
            </a:r>
            <a:endParaRPr lang="en-US" sz="900" noProof="0" dirty="0">
              <a:latin typeface="Arial Narrow" panose="020B0606020202030204" pitchFamily="34" charset="0"/>
            </a:endParaRPr>
          </a:p>
        </p:txBody>
      </p:sp>
      <p:sp>
        <p:nvSpPr>
          <p:cNvPr id="38" name="Shape 40">
            <a:extLst>
              <a:ext uri="{FF2B5EF4-FFF2-40B4-BE49-F238E27FC236}">
                <a16:creationId xmlns:a16="http://schemas.microsoft.com/office/drawing/2014/main" id="{42E80CCE-6F5B-B11D-C9DC-9D542DB38806}"/>
              </a:ext>
            </a:extLst>
          </p:cNvPr>
          <p:cNvSpPr/>
          <p:nvPr/>
        </p:nvSpPr>
        <p:spPr>
          <a:xfrm>
            <a:off x="5852608" y="4454691"/>
            <a:ext cx="3736182" cy="457200"/>
          </a:xfrm>
          <a:prstGeom prst="rect">
            <a:avLst/>
          </a:prstGeom>
          <a:solidFill>
            <a:schemeClr val="bg2">
              <a:lumMod val="20000"/>
              <a:lumOff val="80000"/>
            </a:schemeClr>
          </a:solidFill>
          <a:ln w="6350">
            <a:solidFill>
              <a:srgbClr val="E8EAF0"/>
            </a:solidFill>
            <a:prstDash val="solid"/>
          </a:ln>
        </p:spPr>
        <p:txBody>
          <a:bodyPr/>
          <a:lstStyle/>
          <a:p>
            <a:endParaRPr lang="en-US" sz="1000" noProof="0" dirty="0">
              <a:latin typeface="Arial Narrow" panose="020B0606020202030204" pitchFamily="34" charset="0"/>
            </a:endParaRPr>
          </a:p>
        </p:txBody>
      </p:sp>
      <p:sp>
        <p:nvSpPr>
          <p:cNvPr id="39" name="Shape 41">
            <a:extLst>
              <a:ext uri="{FF2B5EF4-FFF2-40B4-BE49-F238E27FC236}">
                <a16:creationId xmlns:a16="http://schemas.microsoft.com/office/drawing/2014/main" id="{45FA26A7-2131-1C02-2929-6F0EEE73F48A}"/>
              </a:ext>
            </a:extLst>
          </p:cNvPr>
          <p:cNvSpPr/>
          <p:nvPr/>
        </p:nvSpPr>
        <p:spPr>
          <a:xfrm>
            <a:off x="5989768" y="4606134"/>
            <a:ext cx="109352" cy="136026"/>
          </a:xfrm>
          <a:prstGeom prst="ellipse">
            <a:avLst/>
          </a:prstGeom>
          <a:solidFill>
            <a:schemeClr val="tx1"/>
          </a:solidFill>
          <a:ln w="12700">
            <a:solidFill>
              <a:srgbClr val="1B2A4A"/>
            </a:solidFill>
            <a:prstDash val="solid"/>
          </a:ln>
        </p:spPr>
        <p:txBody>
          <a:bodyPr/>
          <a:lstStyle/>
          <a:p>
            <a:endParaRPr lang="en-US" sz="900" noProof="0" dirty="0">
              <a:latin typeface="Arial Narrow" panose="020B0606020202030204" pitchFamily="34" charset="0"/>
            </a:endParaRPr>
          </a:p>
        </p:txBody>
      </p:sp>
      <p:sp>
        <p:nvSpPr>
          <p:cNvPr id="40" name="Text 42">
            <a:extLst>
              <a:ext uri="{FF2B5EF4-FFF2-40B4-BE49-F238E27FC236}">
                <a16:creationId xmlns:a16="http://schemas.microsoft.com/office/drawing/2014/main" id="{426C72A1-5865-104C-5B3A-FDA48A72353C}"/>
              </a:ext>
            </a:extLst>
          </p:cNvPr>
          <p:cNvSpPr/>
          <p:nvPr/>
        </p:nvSpPr>
        <p:spPr>
          <a:xfrm>
            <a:off x="6218368" y="4491267"/>
            <a:ext cx="3432427" cy="384048"/>
          </a:xfrm>
          <a:prstGeom prst="rect">
            <a:avLst/>
          </a:prstGeom>
          <a:noFill/>
          <a:ln/>
        </p:spPr>
        <p:txBody>
          <a:bodyPr wrap="square" rtlCol="0" anchor="ctr"/>
          <a:lstStyle/>
          <a:p>
            <a:pPr marL="0" indent="0">
              <a:buNone/>
            </a:pPr>
            <a:r>
              <a:rPr lang="en-US" sz="900" b="1" noProof="0" dirty="0">
                <a:solidFill>
                  <a:srgbClr val="3D4A5C"/>
                </a:solidFill>
                <a:latin typeface="Arial Narrow" panose="020B0606020202030204" pitchFamily="34" charset="0"/>
                <a:ea typeface="Calibri" pitchFamily="34" charset="-122"/>
                <a:cs typeface="Calibri" pitchFamily="34" charset="-120"/>
              </a:rPr>
              <a:t>Return trend snippets: top causes, repeat frequency, last-seen
</a:t>
            </a:r>
            <a:endParaRPr lang="en-US" sz="900" noProof="0" dirty="0">
              <a:latin typeface="Arial Narrow" panose="020B0606020202030204" pitchFamily="34" charset="0"/>
            </a:endParaRPr>
          </a:p>
          <a:p>
            <a:pPr marL="0" indent="0">
              <a:buNone/>
            </a:pPr>
            <a:r>
              <a:rPr lang="en-US" sz="900" i="1" noProof="0" dirty="0">
                <a:solidFill>
                  <a:srgbClr val="1E7F4E"/>
                </a:solidFill>
                <a:latin typeface="Arial Narrow" panose="020B0606020202030204" pitchFamily="34" charset="0"/>
                <a:ea typeface="Calibri" pitchFamily="34" charset="-122"/>
                <a:cs typeface="Calibri" pitchFamily="34" charset="-120"/>
              </a:rPr>
              <a:t>상위 원인·반복 빈도·최종 발생일 등 추세 요약 제공</a:t>
            </a:r>
            <a:endParaRPr lang="en-US" sz="900" noProof="0" dirty="0">
              <a:latin typeface="Arial Narrow" panose="020B0606020202030204" pitchFamily="34" charset="0"/>
            </a:endParaRPr>
          </a:p>
        </p:txBody>
      </p:sp>
      <p:sp>
        <p:nvSpPr>
          <p:cNvPr id="41" name="Shape 43">
            <a:extLst>
              <a:ext uri="{FF2B5EF4-FFF2-40B4-BE49-F238E27FC236}">
                <a16:creationId xmlns:a16="http://schemas.microsoft.com/office/drawing/2014/main" id="{2B813012-54CE-2758-1718-A570D16170D5}"/>
              </a:ext>
            </a:extLst>
          </p:cNvPr>
          <p:cNvSpPr/>
          <p:nvPr/>
        </p:nvSpPr>
        <p:spPr>
          <a:xfrm>
            <a:off x="5852608" y="4985043"/>
            <a:ext cx="3736182" cy="457200"/>
          </a:xfrm>
          <a:prstGeom prst="rect">
            <a:avLst/>
          </a:prstGeom>
          <a:solidFill>
            <a:srgbClr val="FFFFFF"/>
          </a:solidFill>
          <a:ln w="6350">
            <a:solidFill>
              <a:srgbClr val="E8EAF0"/>
            </a:solidFill>
            <a:prstDash val="solid"/>
          </a:ln>
        </p:spPr>
        <p:txBody>
          <a:bodyPr/>
          <a:lstStyle/>
          <a:p>
            <a:endParaRPr lang="en-US" sz="1000" noProof="0" dirty="0">
              <a:latin typeface="Arial Narrow" panose="020B0606020202030204" pitchFamily="34" charset="0"/>
            </a:endParaRPr>
          </a:p>
        </p:txBody>
      </p:sp>
      <p:sp>
        <p:nvSpPr>
          <p:cNvPr id="42" name="Shape 44">
            <a:extLst>
              <a:ext uri="{FF2B5EF4-FFF2-40B4-BE49-F238E27FC236}">
                <a16:creationId xmlns:a16="http://schemas.microsoft.com/office/drawing/2014/main" id="{6806C059-FD87-FFAE-8304-4A27D743E2C4}"/>
              </a:ext>
            </a:extLst>
          </p:cNvPr>
          <p:cNvSpPr/>
          <p:nvPr/>
        </p:nvSpPr>
        <p:spPr>
          <a:xfrm>
            <a:off x="5989768" y="5136486"/>
            <a:ext cx="109352" cy="136026"/>
          </a:xfrm>
          <a:prstGeom prst="ellipse">
            <a:avLst/>
          </a:prstGeom>
          <a:solidFill>
            <a:schemeClr val="tx1"/>
          </a:solidFill>
          <a:ln w="12700">
            <a:solidFill>
              <a:srgbClr val="1B2A4A"/>
            </a:solidFill>
            <a:prstDash val="solid"/>
          </a:ln>
        </p:spPr>
        <p:txBody>
          <a:bodyPr/>
          <a:lstStyle/>
          <a:p>
            <a:endParaRPr lang="en-US" sz="900" noProof="0" dirty="0">
              <a:latin typeface="Arial Narrow" panose="020B0606020202030204" pitchFamily="34" charset="0"/>
            </a:endParaRPr>
          </a:p>
        </p:txBody>
      </p:sp>
      <p:sp>
        <p:nvSpPr>
          <p:cNvPr id="43" name="Text 45">
            <a:extLst>
              <a:ext uri="{FF2B5EF4-FFF2-40B4-BE49-F238E27FC236}">
                <a16:creationId xmlns:a16="http://schemas.microsoft.com/office/drawing/2014/main" id="{2B0AB062-3848-05B1-C3DF-ECCA9979B29E}"/>
              </a:ext>
            </a:extLst>
          </p:cNvPr>
          <p:cNvSpPr/>
          <p:nvPr/>
        </p:nvSpPr>
        <p:spPr>
          <a:xfrm>
            <a:off x="6218368" y="5021619"/>
            <a:ext cx="3432427" cy="384048"/>
          </a:xfrm>
          <a:prstGeom prst="rect">
            <a:avLst/>
          </a:prstGeom>
          <a:noFill/>
          <a:ln/>
        </p:spPr>
        <p:txBody>
          <a:bodyPr wrap="square" rtlCol="0" anchor="ctr"/>
          <a:lstStyle/>
          <a:p>
            <a:pPr marL="0" indent="0">
              <a:buNone/>
            </a:pPr>
            <a:r>
              <a:rPr lang="en-US" sz="900" b="1" noProof="0" dirty="0">
                <a:solidFill>
                  <a:srgbClr val="3D4A5C"/>
                </a:solidFill>
                <a:latin typeface="Arial Narrow" panose="020B0606020202030204" pitchFamily="34" charset="0"/>
                <a:ea typeface="Calibri" pitchFamily="34" charset="-122"/>
                <a:cs typeface="Calibri" pitchFamily="34" charset="-120"/>
              </a:rPr>
              <a:t>Create PM task or export summary directly from chat
</a:t>
            </a:r>
            <a:endParaRPr lang="en-US" sz="900" noProof="0" dirty="0">
              <a:latin typeface="Arial Narrow" panose="020B0606020202030204" pitchFamily="34" charset="0"/>
            </a:endParaRPr>
          </a:p>
          <a:p>
            <a:pPr marL="0" indent="0">
              <a:buNone/>
            </a:pPr>
            <a:r>
              <a:rPr lang="en-US" sz="900" i="1" noProof="0" dirty="0">
                <a:solidFill>
                  <a:srgbClr val="1E7F4E"/>
                </a:solidFill>
                <a:latin typeface="Arial Narrow" panose="020B0606020202030204" pitchFamily="34" charset="0"/>
                <a:ea typeface="Calibri" pitchFamily="34" charset="-122"/>
                <a:cs typeface="Calibri" pitchFamily="34" charset="-120"/>
              </a:rPr>
              <a:t>채팅에서 바로 PM 작업 생성 또는 요약 내보내기</a:t>
            </a:r>
            <a:endParaRPr lang="en-US" sz="900" noProof="0" dirty="0">
              <a:latin typeface="Arial Narrow" panose="020B0606020202030204" pitchFamily="34" charset="0"/>
            </a:endParaRPr>
          </a:p>
        </p:txBody>
      </p:sp>
      <p:sp>
        <p:nvSpPr>
          <p:cNvPr id="44" name="Shape 46">
            <a:extLst>
              <a:ext uri="{FF2B5EF4-FFF2-40B4-BE49-F238E27FC236}">
                <a16:creationId xmlns:a16="http://schemas.microsoft.com/office/drawing/2014/main" id="{A0A5D598-8699-2745-99CF-D8019B95585D}"/>
              </a:ext>
            </a:extLst>
          </p:cNvPr>
          <p:cNvSpPr/>
          <p:nvPr/>
        </p:nvSpPr>
        <p:spPr>
          <a:xfrm>
            <a:off x="5852608" y="5515395"/>
            <a:ext cx="3736182" cy="457200"/>
          </a:xfrm>
          <a:prstGeom prst="rect">
            <a:avLst/>
          </a:prstGeom>
          <a:solidFill>
            <a:schemeClr val="bg2">
              <a:lumMod val="20000"/>
              <a:lumOff val="80000"/>
            </a:schemeClr>
          </a:solidFill>
          <a:ln w="6350">
            <a:solidFill>
              <a:srgbClr val="E8EAF0"/>
            </a:solidFill>
            <a:prstDash val="solid"/>
          </a:ln>
        </p:spPr>
        <p:txBody>
          <a:bodyPr/>
          <a:lstStyle/>
          <a:p>
            <a:endParaRPr lang="en-US" sz="1000" noProof="0" dirty="0">
              <a:latin typeface="Arial Narrow" panose="020B0606020202030204" pitchFamily="34" charset="0"/>
            </a:endParaRPr>
          </a:p>
        </p:txBody>
      </p:sp>
      <p:sp>
        <p:nvSpPr>
          <p:cNvPr id="45" name="Shape 47">
            <a:extLst>
              <a:ext uri="{FF2B5EF4-FFF2-40B4-BE49-F238E27FC236}">
                <a16:creationId xmlns:a16="http://schemas.microsoft.com/office/drawing/2014/main" id="{43590AE9-9CC1-273E-CFDF-DD531F43D300}"/>
              </a:ext>
            </a:extLst>
          </p:cNvPr>
          <p:cNvSpPr/>
          <p:nvPr/>
        </p:nvSpPr>
        <p:spPr>
          <a:xfrm>
            <a:off x="5989768" y="5666838"/>
            <a:ext cx="109352" cy="136026"/>
          </a:xfrm>
          <a:prstGeom prst="ellipse">
            <a:avLst/>
          </a:prstGeom>
          <a:solidFill>
            <a:schemeClr val="tx1"/>
          </a:solidFill>
          <a:ln w="12700">
            <a:solidFill>
              <a:srgbClr val="1B2A4A"/>
            </a:solidFill>
            <a:prstDash val="solid"/>
          </a:ln>
        </p:spPr>
        <p:txBody>
          <a:bodyPr/>
          <a:lstStyle/>
          <a:p>
            <a:endParaRPr lang="en-US" sz="900" noProof="0" dirty="0">
              <a:latin typeface="Arial Narrow" panose="020B0606020202030204" pitchFamily="34" charset="0"/>
            </a:endParaRPr>
          </a:p>
        </p:txBody>
      </p:sp>
      <p:sp>
        <p:nvSpPr>
          <p:cNvPr id="46" name="Text 48">
            <a:extLst>
              <a:ext uri="{FF2B5EF4-FFF2-40B4-BE49-F238E27FC236}">
                <a16:creationId xmlns:a16="http://schemas.microsoft.com/office/drawing/2014/main" id="{95133235-FE9F-7E8A-4B0C-EFDD75E52213}"/>
              </a:ext>
            </a:extLst>
          </p:cNvPr>
          <p:cNvSpPr/>
          <p:nvPr/>
        </p:nvSpPr>
        <p:spPr>
          <a:xfrm>
            <a:off x="6218368" y="5551971"/>
            <a:ext cx="3432427" cy="384048"/>
          </a:xfrm>
          <a:prstGeom prst="rect">
            <a:avLst/>
          </a:prstGeom>
          <a:noFill/>
          <a:ln/>
        </p:spPr>
        <p:txBody>
          <a:bodyPr wrap="square" rtlCol="0" anchor="ctr"/>
          <a:lstStyle/>
          <a:p>
            <a:pPr marL="0" indent="0">
              <a:buNone/>
            </a:pPr>
            <a:r>
              <a:rPr lang="en-US" sz="900" b="1" noProof="0" dirty="0">
                <a:solidFill>
                  <a:srgbClr val="3D4A5C"/>
                </a:solidFill>
                <a:latin typeface="Arial Narrow" panose="020B0606020202030204" pitchFamily="34" charset="0"/>
                <a:ea typeface="Calibri" pitchFamily="34" charset="-122"/>
                <a:cs typeface="Calibri" pitchFamily="34" charset="-120"/>
              </a:rPr>
              <a:t>Detect recurrence without manual filter re-builds
</a:t>
            </a:r>
            <a:endParaRPr lang="en-US" sz="900" noProof="0" dirty="0">
              <a:latin typeface="Arial Narrow" panose="020B0606020202030204" pitchFamily="34" charset="0"/>
            </a:endParaRPr>
          </a:p>
          <a:p>
            <a:pPr marL="0" indent="0">
              <a:buNone/>
            </a:pPr>
            <a:r>
              <a:rPr lang="en-US" sz="900" i="1" noProof="0" dirty="0">
                <a:solidFill>
                  <a:srgbClr val="1E7F4E"/>
                </a:solidFill>
                <a:latin typeface="Arial Narrow" panose="020B0606020202030204" pitchFamily="34" charset="0"/>
                <a:ea typeface="Calibri" pitchFamily="34" charset="-122"/>
                <a:cs typeface="Calibri" pitchFamily="34" charset="-120"/>
              </a:rPr>
              <a:t>필터 재설정 없이 재발 여부 자동 감지</a:t>
            </a:r>
            <a:endParaRPr lang="en-US" sz="900" noProof="0" dirty="0">
              <a:latin typeface="Arial Narrow" panose="020B0606020202030204" pitchFamily="34" charset="0"/>
            </a:endParaRPr>
          </a:p>
        </p:txBody>
      </p:sp>
      <p:sp>
        <p:nvSpPr>
          <p:cNvPr id="47" name="Shape 30">
            <a:extLst>
              <a:ext uri="{FF2B5EF4-FFF2-40B4-BE49-F238E27FC236}">
                <a16:creationId xmlns:a16="http://schemas.microsoft.com/office/drawing/2014/main" id="{C7285830-7E97-7F9C-7827-DBB3ABF67B23}"/>
              </a:ext>
            </a:extLst>
          </p:cNvPr>
          <p:cNvSpPr/>
          <p:nvPr/>
        </p:nvSpPr>
        <p:spPr>
          <a:xfrm>
            <a:off x="5835760" y="3056040"/>
            <a:ext cx="3753030" cy="292608"/>
          </a:xfrm>
          <a:prstGeom prst="rect">
            <a:avLst/>
          </a:prstGeom>
          <a:noFill/>
          <a:ln w="12700">
            <a:solidFill>
              <a:srgbClr val="1B2A4A"/>
            </a:solidFill>
            <a:prstDash val="solid"/>
          </a:ln>
        </p:spPr>
        <p:txBody>
          <a:bodyPr/>
          <a:lstStyle/>
          <a:p>
            <a:pPr algn="ctr"/>
            <a:r>
              <a:rPr lang="en-US" sz="1100" b="1" noProof="0" dirty="0">
                <a:latin typeface="Arial Narrow" panose="020B0606020202030204" pitchFamily="34" charset="0"/>
                <a:ea typeface="Calibri" pitchFamily="34" charset="-122"/>
                <a:cs typeface="Calibri" pitchFamily="34" charset="-120"/>
              </a:rPr>
              <a:t>What AI Automates  /  AI 가 자동화하는 작업</a:t>
            </a:r>
            <a:endParaRPr lang="en-US" sz="1100" noProof="0" dirty="0">
              <a:latin typeface="Arial Narrow" panose="020B0606020202030204" pitchFamily="34" charset="0"/>
            </a:endParaRPr>
          </a:p>
        </p:txBody>
      </p:sp>
    </p:spTree>
    <p:extLst>
      <p:ext uri="{BB962C8B-B14F-4D97-AF65-F5344CB8AC3E}">
        <p14:creationId xmlns:p14="http://schemas.microsoft.com/office/powerpoint/2010/main" val="187832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B405C-9349-5166-18CF-B766CFC564A6}"/>
            </a:ext>
          </a:extLst>
        </p:cNvPr>
        <p:cNvGrpSpPr/>
        <p:nvPr/>
      </p:nvGrpSpPr>
      <p:grpSpPr>
        <a:xfrm>
          <a:off x="0" y="0"/>
          <a:ext cx="0" cy="0"/>
          <a:chOff x="0" y="0"/>
          <a:chExt cx="0" cy="0"/>
        </a:xfrm>
      </p:grpSpPr>
      <p:sp>
        <p:nvSpPr>
          <p:cNvPr id="2" name="Text Box 237">
            <a:extLst>
              <a:ext uri="{FF2B5EF4-FFF2-40B4-BE49-F238E27FC236}">
                <a16:creationId xmlns:a16="http://schemas.microsoft.com/office/drawing/2014/main" id="{27F51178-D5B3-3981-3FBA-1BB10713A47A}"/>
              </a:ext>
            </a:extLst>
          </p:cNvPr>
          <p:cNvSpPr txBox="1">
            <a:spLocks noChangeArrowheads="1"/>
          </p:cNvSpPr>
          <p:nvPr/>
        </p:nvSpPr>
        <p:spPr bwMode="gray">
          <a:xfrm>
            <a:off x="448886" y="65731"/>
            <a:ext cx="3006695" cy="39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3077" tIns="43200" rIns="83077" bIns="43200" anchor="ctr">
            <a:spAutoFit/>
          </a:bodyPr>
          <a:lstStyle>
            <a:lvl1pPr eaLnBrk="0" hangingPunct="0">
              <a:defRPr kumimoji="1" sz="1200" b="1">
                <a:solidFill>
                  <a:schemeClr val="tx1"/>
                </a:solidFill>
                <a:latin typeface="Arial" charset="0"/>
                <a:ea typeface="돋움" pitchFamily="50" charset="-127"/>
              </a:defRPr>
            </a:lvl1pPr>
            <a:lvl2pPr marL="742950" indent="-285750" eaLnBrk="0" hangingPunct="0">
              <a:defRPr kumimoji="1" sz="1200" b="1">
                <a:solidFill>
                  <a:schemeClr val="tx1"/>
                </a:solidFill>
                <a:latin typeface="Arial" charset="0"/>
                <a:ea typeface="돋움" pitchFamily="50" charset="-127"/>
              </a:defRPr>
            </a:lvl2pPr>
            <a:lvl3pPr marL="1143000" indent="-228600" eaLnBrk="0" hangingPunct="0">
              <a:defRPr kumimoji="1" sz="1200" b="1">
                <a:solidFill>
                  <a:schemeClr val="tx1"/>
                </a:solidFill>
                <a:latin typeface="Arial" charset="0"/>
                <a:ea typeface="돋움" pitchFamily="50" charset="-127"/>
              </a:defRPr>
            </a:lvl3pPr>
            <a:lvl4pPr marL="1600200" indent="-228600" eaLnBrk="0" hangingPunct="0">
              <a:defRPr kumimoji="1" sz="1200" b="1">
                <a:solidFill>
                  <a:schemeClr val="tx1"/>
                </a:solidFill>
                <a:latin typeface="Arial" charset="0"/>
                <a:ea typeface="돋움" pitchFamily="50" charset="-127"/>
              </a:defRPr>
            </a:lvl4pPr>
            <a:lvl5pPr marL="2057400" indent="-228600" eaLnBrk="0" hangingPunct="0">
              <a:defRPr kumimoji="1" sz="1200" b="1">
                <a:solidFill>
                  <a:schemeClr val="tx1"/>
                </a:solidFill>
                <a:latin typeface="Arial" charset="0"/>
                <a:ea typeface="돋움" pitchFamily="50" charset="-127"/>
              </a:defRPr>
            </a:lvl5pPr>
            <a:lvl6pPr marL="25146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6pPr>
            <a:lvl7pPr marL="29718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7pPr>
            <a:lvl8pPr marL="34290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8pPr>
            <a:lvl9pPr marL="38862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9pPr>
          </a:lstStyle>
          <a:p>
            <a:pPr marL="0" marR="0" lvl="0" indent="0" algn="l" defTabSz="952799" rtl="0" eaLnBrk="0" fontAlgn="auto" latinLnBrk="0" hangingPunct="0">
              <a:lnSpc>
                <a:spcPct val="100000"/>
              </a:lnSpc>
              <a:spcBef>
                <a:spcPts val="0"/>
              </a:spcBef>
              <a:spcAft>
                <a:spcPts val="0"/>
              </a:spcAft>
              <a:buClrTx/>
              <a:buSzTx/>
              <a:buFontTx/>
              <a:buNone/>
              <a:tabLst/>
              <a:defRPr/>
            </a:pPr>
            <a:r>
              <a:rPr kumimoji="1" lang="en-US" sz="2000" b="1" i="0" u="none" strike="noStrike" kern="1200" cap="none" spc="0" normalizeH="0" baseline="0" noProof="0" dirty="0">
                <a:ln>
                  <a:noFill/>
                </a:ln>
                <a:effectLst/>
                <a:uLnTx/>
                <a:uFillTx/>
                <a:latin typeface="Arial Narrow" panose="020B0606020202030204" pitchFamily="34" charset="0"/>
                <a:ea typeface="돋움" pitchFamily="50" charset="-127"/>
                <a:cs typeface="+mn-cs"/>
              </a:rPr>
              <a:t>Sample Queries - </a:t>
            </a:r>
            <a:r>
              <a:rPr kumimoji="1" lang="ko-KR" altLang="en-US" sz="2000" b="1" i="0" u="none" strike="noStrike" kern="1200" cap="none" spc="0" normalizeH="0" baseline="0" noProof="0" dirty="0">
                <a:ln>
                  <a:noFill/>
                </a:ln>
                <a:effectLst/>
                <a:uLnTx/>
                <a:uFillTx/>
                <a:latin typeface="Arial Narrow" panose="020B0606020202030204" pitchFamily="34" charset="0"/>
                <a:ea typeface="돋움" pitchFamily="50" charset="-127"/>
                <a:cs typeface="+mn-cs"/>
              </a:rPr>
              <a:t>샘플 질의</a:t>
            </a:r>
            <a:endParaRPr kumimoji="1" lang="en-US" sz="2000" b="1" i="0" u="none" strike="noStrike" kern="1200" cap="none" spc="0" normalizeH="0" baseline="0" noProof="0" dirty="0">
              <a:ln>
                <a:noFill/>
              </a:ln>
              <a:effectLst/>
              <a:uLnTx/>
              <a:uFillTx/>
              <a:latin typeface="Arial Narrow" panose="020B0606020202030204" pitchFamily="34" charset="0"/>
              <a:ea typeface="돋움" pitchFamily="50" charset="-127"/>
              <a:cs typeface="+mn-cs"/>
            </a:endParaRPr>
          </a:p>
        </p:txBody>
      </p:sp>
      <p:sp>
        <p:nvSpPr>
          <p:cNvPr id="7" name="텍스트 개체 틀 4">
            <a:extLst>
              <a:ext uri="{FF2B5EF4-FFF2-40B4-BE49-F238E27FC236}">
                <a16:creationId xmlns:a16="http://schemas.microsoft.com/office/drawing/2014/main" id="{5D770014-6200-6A96-F7B1-32A6E7EC9349}"/>
              </a:ext>
            </a:extLst>
          </p:cNvPr>
          <p:cNvSpPr txBox="1">
            <a:spLocks/>
          </p:cNvSpPr>
          <p:nvPr/>
        </p:nvSpPr>
        <p:spPr>
          <a:xfrm>
            <a:off x="421380" y="537721"/>
            <a:ext cx="7667956" cy="286232"/>
          </a:xfrm>
          <a:prstGeom prst="rect">
            <a:avLst/>
          </a:prstGeom>
        </p:spPr>
        <p:txBody>
          <a:bodyPr wrap="square">
            <a:spAutoFit/>
          </a:bodyPr>
          <a:lstStyle>
            <a:lvl1pPr marL="354013" indent="-354013" algn="l" defTabSz="903091" rtl="0" eaLnBrk="1" latinLnBrk="1" hangingPunct="1">
              <a:spcBef>
                <a:spcPct val="20000"/>
              </a:spcBef>
              <a:buFont typeface="Wingdings" panose="05000000000000000000" pitchFamily="2" charset="2"/>
              <a:buChar char="q"/>
              <a:defRPr sz="1400" kern="1200">
                <a:solidFill>
                  <a:schemeClr val="tx1"/>
                </a:solidFill>
                <a:latin typeface="LG스마트체2.0 Regular" panose="020B0600000101010101" pitchFamily="50" charset="-127"/>
                <a:ea typeface="LG스마트체2.0 Regular" panose="020B0600000101010101" pitchFamily="50" charset="-127"/>
                <a:cs typeface="+mn-cs"/>
              </a:defRPr>
            </a:lvl1pPr>
            <a:lvl2pPr marL="719138" indent="-365125" algn="l" defTabSz="903091" rtl="0" eaLnBrk="1" latinLnBrk="1" hangingPunct="1">
              <a:spcBef>
                <a:spcPct val="20000"/>
              </a:spcBef>
              <a:buFont typeface="Arial" panose="020B0604020202020204" pitchFamily="34" charset="0"/>
              <a:buChar char="–"/>
              <a:defRPr sz="1200" kern="1200" baseline="0">
                <a:solidFill>
                  <a:schemeClr val="tx1"/>
                </a:solidFill>
                <a:latin typeface="LG스마트체2.0 Regular" panose="020B0600000101010101" pitchFamily="50" charset="-127"/>
                <a:ea typeface="LG스마트체2.0 Regular" panose="020B0600000101010101" pitchFamily="50" charset="-127"/>
                <a:cs typeface="+mn-cs"/>
              </a:defRPr>
            </a:lvl2pPr>
            <a:lvl3pPr marL="1128864" indent="-225773" algn="l" defTabSz="903091" rtl="0" eaLnBrk="1" latinLnBrk="1" hangingPunct="1">
              <a:spcBef>
                <a:spcPct val="20000"/>
              </a:spcBef>
              <a:buFont typeface="Arial" panose="020B0604020202020204" pitchFamily="34" charset="0"/>
              <a:buChar char="•"/>
              <a:defRPr sz="2358" kern="1200">
                <a:solidFill>
                  <a:schemeClr val="tx1"/>
                </a:solidFill>
                <a:latin typeface="+mn-lt"/>
                <a:ea typeface="+mn-ea"/>
                <a:cs typeface="+mn-cs"/>
              </a:defRPr>
            </a:lvl3pPr>
            <a:lvl4pPr marL="1580409"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4pPr>
            <a:lvl5pPr marL="2031955"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5pPr>
            <a:lvl6pPr marL="2483500"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6pPr>
            <a:lvl7pPr marL="2935046"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7pPr>
            <a:lvl8pPr marL="3386591"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8pPr>
            <a:lvl9pPr marL="3838136"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9pPr>
          </a:lstStyle>
          <a:p>
            <a:pPr marL="0" indent="0" latinLnBrk="0">
              <a:lnSpc>
                <a:spcPct val="90000"/>
              </a:lnSpc>
            </a:pPr>
            <a:r>
              <a:rPr lang="en-US" b="1" noProof="0" dirty="0">
                <a:latin typeface="Arial Narrow" panose="020B0606020202030204" pitchFamily="34" charset="0"/>
                <a:ea typeface="LG스마트체 Regular" panose="020B0600000101010101" pitchFamily="50" charset="-127"/>
              </a:rPr>
              <a:t> AI Assistant in Action - </a:t>
            </a:r>
            <a:r>
              <a:rPr lang="en-US" altLang="ko-KR" b="1" noProof="0" dirty="0">
                <a:latin typeface="Arial Narrow" panose="020B0606020202030204" pitchFamily="34" charset="0"/>
                <a:ea typeface="LG스마트체 Regular" panose="020B0600000101010101" pitchFamily="50" charset="-127"/>
              </a:rPr>
              <a:t>AI </a:t>
            </a:r>
            <a:r>
              <a:rPr lang="ko-KR" altLang="en-US" b="1" noProof="0" dirty="0">
                <a:latin typeface="Arial Narrow" panose="020B0606020202030204" pitchFamily="34" charset="0"/>
                <a:ea typeface="LG스마트체 Regular" panose="020B0600000101010101" pitchFamily="50" charset="-127"/>
              </a:rPr>
              <a:t>어시스턴트 실제 사용 예시</a:t>
            </a:r>
            <a:endParaRPr lang="en-US" b="1" noProof="0" dirty="0">
              <a:latin typeface="Arial Narrow" panose="020B0606020202030204" pitchFamily="34" charset="0"/>
              <a:ea typeface="LG스마트체 Regular" panose="020B0600000101010101" pitchFamily="50" charset="-127"/>
            </a:endParaRPr>
          </a:p>
        </p:txBody>
      </p:sp>
      <p:sp>
        <p:nvSpPr>
          <p:cNvPr id="4" name="TextBox 3">
            <a:extLst>
              <a:ext uri="{FF2B5EF4-FFF2-40B4-BE49-F238E27FC236}">
                <a16:creationId xmlns:a16="http://schemas.microsoft.com/office/drawing/2014/main" id="{E406AA35-3072-2F8E-4E9C-83103AFF5B50}"/>
              </a:ext>
            </a:extLst>
          </p:cNvPr>
          <p:cNvSpPr txBox="1"/>
          <p:nvPr/>
        </p:nvSpPr>
        <p:spPr>
          <a:xfrm>
            <a:off x="200472" y="905699"/>
            <a:ext cx="9577064" cy="830997"/>
          </a:xfrm>
          <a:prstGeom prst="rect">
            <a:avLst/>
          </a:prstGeom>
          <a:noFill/>
        </p:spPr>
        <p:txBody>
          <a:bodyPr wrap="square">
            <a:spAutoFit/>
          </a:bodyPr>
          <a:lstStyle/>
          <a:p>
            <a:pPr latinLnBrk="0">
              <a:buNone/>
            </a:pPr>
            <a:r>
              <a:rPr lang="en-US" sz="1200" dirty="0">
                <a:latin typeface="Arial Narrow" panose="020B0606020202030204" pitchFamily="34" charset="0"/>
              </a:rPr>
              <a:t>The following examples show how PE engineers interact with the AI assistant directly inside Microsoft Teams. No training required — engineers type questions in plain English or Korean, and the assistant retrieves and summarizes relevant work-order history from 7 years of GMES data in seconds.</a:t>
            </a:r>
          </a:p>
          <a:p>
            <a:pPr latinLnBrk="0">
              <a:buNone/>
            </a:pPr>
            <a:r>
              <a:rPr lang="ko-KR" altLang="en-US" sz="1200" dirty="0">
                <a:solidFill>
                  <a:srgbClr val="008000"/>
                </a:solidFill>
                <a:latin typeface="Arial Narrow" panose="020B0606020202030204" pitchFamily="34" charset="0"/>
              </a:rPr>
              <a:t>다음 예시는 </a:t>
            </a:r>
            <a:r>
              <a:rPr lang="en-US" sz="1200" dirty="0">
                <a:solidFill>
                  <a:srgbClr val="008000"/>
                </a:solidFill>
                <a:latin typeface="Arial Narrow" panose="020B0606020202030204" pitchFamily="34" charset="0"/>
              </a:rPr>
              <a:t>PE </a:t>
            </a:r>
            <a:r>
              <a:rPr lang="ko-KR" altLang="en-US" sz="1200" dirty="0">
                <a:solidFill>
                  <a:srgbClr val="008000"/>
                </a:solidFill>
                <a:latin typeface="Arial Narrow" panose="020B0606020202030204" pitchFamily="34" charset="0"/>
              </a:rPr>
              <a:t>엔지니어가 </a:t>
            </a:r>
            <a:r>
              <a:rPr lang="en-US" sz="1200" dirty="0">
                <a:solidFill>
                  <a:srgbClr val="008000"/>
                </a:solidFill>
                <a:latin typeface="Arial Narrow" panose="020B0606020202030204" pitchFamily="34" charset="0"/>
              </a:rPr>
              <a:t>Microsoft Teams </a:t>
            </a:r>
            <a:r>
              <a:rPr lang="ko-KR" altLang="en-US" sz="1200" dirty="0">
                <a:solidFill>
                  <a:srgbClr val="008000"/>
                </a:solidFill>
                <a:latin typeface="Arial Narrow" panose="020B0606020202030204" pitchFamily="34" charset="0"/>
              </a:rPr>
              <a:t>내에서 </a:t>
            </a:r>
            <a:r>
              <a:rPr lang="en-US" sz="1200" dirty="0">
                <a:solidFill>
                  <a:srgbClr val="008000"/>
                </a:solidFill>
                <a:latin typeface="Arial Narrow" panose="020B0606020202030204" pitchFamily="34" charset="0"/>
              </a:rPr>
              <a:t>AI </a:t>
            </a:r>
            <a:r>
              <a:rPr lang="ko-KR" altLang="en-US" sz="1200" dirty="0">
                <a:solidFill>
                  <a:srgbClr val="008000"/>
                </a:solidFill>
                <a:latin typeface="Arial Narrow" panose="020B0606020202030204" pitchFamily="34" charset="0"/>
              </a:rPr>
              <a:t>어시스턴트와 직접 상호작용하는 방식을 보여줍니다</a:t>
            </a:r>
            <a:r>
              <a:rPr lang="en-US" altLang="ko-KR" sz="1200" dirty="0">
                <a:solidFill>
                  <a:srgbClr val="008000"/>
                </a:solidFill>
                <a:latin typeface="Arial Narrow" panose="020B0606020202030204" pitchFamily="34" charset="0"/>
              </a:rPr>
              <a:t>. </a:t>
            </a:r>
            <a:r>
              <a:rPr lang="ko-KR" altLang="en-US" sz="1200" dirty="0">
                <a:solidFill>
                  <a:srgbClr val="008000"/>
                </a:solidFill>
                <a:latin typeface="Arial Narrow" panose="020B0606020202030204" pitchFamily="34" charset="0"/>
              </a:rPr>
              <a:t>별도 교육 없이 자연어로 질의하면 </a:t>
            </a:r>
            <a:r>
              <a:rPr lang="en-US" altLang="ko-KR" sz="1200" dirty="0">
                <a:solidFill>
                  <a:srgbClr val="008000"/>
                </a:solidFill>
                <a:latin typeface="Arial Narrow" panose="020B0606020202030204" pitchFamily="34" charset="0"/>
              </a:rPr>
              <a:t>7</a:t>
            </a:r>
            <a:r>
              <a:rPr lang="ko-KR" altLang="en-US" sz="1200" dirty="0">
                <a:solidFill>
                  <a:srgbClr val="008000"/>
                </a:solidFill>
                <a:latin typeface="Arial Narrow" panose="020B0606020202030204" pitchFamily="34" charset="0"/>
              </a:rPr>
              <a:t>년치 </a:t>
            </a:r>
            <a:r>
              <a:rPr lang="en-US" sz="1200" dirty="0">
                <a:solidFill>
                  <a:srgbClr val="008000"/>
                </a:solidFill>
                <a:latin typeface="Arial Narrow" panose="020B0606020202030204" pitchFamily="34" charset="0"/>
              </a:rPr>
              <a:t>GMES </a:t>
            </a:r>
            <a:r>
              <a:rPr lang="ko-KR" altLang="en-US" sz="1200" dirty="0">
                <a:solidFill>
                  <a:srgbClr val="008000"/>
                </a:solidFill>
                <a:latin typeface="Arial Narrow" panose="020B0606020202030204" pitchFamily="34" charset="0"/>
              </a:rPr>
              <a:t>데이터에서 관련 작업지시 이력을 수 초 내에 검색</a:t>
            </a:r>
            <a:r>
              <a:rPr lang="en-US" altLang="ko-KR" sz="1200" dirty="0">
                <a:solidFill>
                  <a:srgbClr val="008000"/>
                </a:solidFill>
                <a:latin typeface="Arial Narrow" panose="020B0606020202030204" pitchFamily="34" charset="0"/>
              </a:rPr>
              <a:t>·</a:t>
            </a:r>
            <a:r>
              <a:rPr lang="ko-KR" altLang="en-US" sz="1200" dirty="0">
                <a:solidFill>
                  <a:srgbClr val="008000"/>
                </a:solidFill>
                <a:latin typeface="Arial Narrow" panose="020B0606020202030204" pitchFamily="34" charset="0"/>
              </a:rPr>
              <a:t>요약하여 제공합니다</a:t>
            </a:r>
            <a:r>
              <a:rPr lang="en-US" altLang="ko-KR" sz="1200" dirty="0">
                <a:solidFill>
                  <a:srgbClr val="008000"/>
                </a:solidFill>
                <a:latin typeface="Arial Narrow" panose="020B0606020202030204" pitchFamily="34" charset="0"/>
              </a:rPr>
              <a:t>.</a:t>
            </a:r>
          </a:p>
        </p:txBody>
      </p:sp>
      <p:sp>
        <p:nvSpPr>
          <p:cNvPr id="6" name="TextBox 5">
            <a:extLst>
              <a:ext uri="{FF2B5EF4-FFF2-40B4-BE49-F238E27FC236}">
                <a16:creationId xmlns:a16="http://schemas.microsoft.com/office/drawing/2014/main" id="{478548F5-1576-19B3-FC20-809A64D29C58}"/>
              </a:ext>
            </a:extLst>
          </p:cNvPr>
          <p:cNvSpPr txBox="1"/>
          <p:nvPr/>
        </p:nvSpPr>
        <p:spPr>
          <a:xfrm>
            <a:off x="200472" y="4797152"/>
            <a:ext cx="4958498" cy="1061829"/>
          </a:xfrm>
          <a:prstGeom prst="rect">
            <a:avLst/>
          </a:prstGeom>
          <a:noFill/>
        </p:spPr>
        <p:txBody>
          <a:bodyPr wrap="square">
            <a:spAutoFit/>
          </a:bodyPr>
          <a:lstStyle/>
          <a:p>
            <a:pPr latinLnBrk="0">
              <a:buNone/>
            </a:pPr>
            <a:r>
              <a:rPr lang="en-US" sz="900" b="1" dirty="0">
                <a:latin typeface="Arial Narrow" panose="020B0606020202030204" pitchFamily="34" charset="0"/>
              </a:rPr>
              <a:t>Scenario 1 — Search past failures:</a:t>
            </a:r>
            <a:endParaRPr lang="en-US" sz="900" dirty="0">
              <a:latin typeface="Arial Narrow" panose="020B0606020202030204" pitchFamily="34" charset="0"/>
            </a:endParaRPr>
          </a:p>
          <a:p>
            <a:pPr latinLnBrk="0">
              <a:buNone/>
            </a:pPr>
            <a:r>
              <a:rPr lang="en-US" sz="900" dirty="0">
                <a:latin typeface="Arial Narrow" panose="020B0606020202030204" pitchFamily="34" charset="0"/>
              </a:rPr>
              <a:t>Engineer queries a specific robot by ID. The assistant finds 4 matching work orders despite different wording used by different technicians ("air leak", "pads not gripping", "suction failure") and returns a consolidated summary with a PM recommendation — in under 5 seconds.</a:t>
            </a:r>
          </a:p>
          <a:p>
            <a:pPr latinLnBrk="0">
              <a:buNone/>
            </a:pPr>
            <a:r>
              <a:rPr lang="ko-KR" altLang="en-US" sz="900" dirty="0">
                <a:solidFill>
                  <a:srgbClr val="008000"/>
                </a:solidFill>
                <a:latin typeface="Arial Narrow" panose="020B0606020202030204" pitchFamily="34" charset="0"/>
              </a:rPr>
              <a:t>엔지니어가 특정 로봇 </a:t>
            </a:r>
            <a:r>
              <a:rPr lang="en-US" sz="900" dirty="0">
                <a:solidFill>
                  <a:srgbClr val="008000"/>
                </a:solidFill>
                <a:latin typeface="Arial Narrow" panose="020B0606020202030204" pitchFamily="34" charset="0"/>
              </a:rPr>
              <a:t>ID</a:t>
            </a:r>
            <a:r>
              <a:rPr lang="ko-KR" altLang="en-US" sz="900" dirty="0">
                <a:solidFill>
                  <a:srgbClr val="008000"/>
                </a:solidFill>
                <a:latin typeface="Arial Narrow" panose="020B0606020202030204" pitchFamily="34" charset="0"/>
              </a:rPr>
              <a:t>로 질의하면</a:t>
            </a:r>
            <a:r>
              <a:rPr lang="en-US" altLang="ko-KR" sz="900" dirty="0">
                <a:solidFill>
                  <a:srgbClr val="008000"/>
                </a:solidFill>
                <a:latin typeface="Arial Narrow" panose="020B0606020202030204" pitchFamily="34" charset="0"/>
              </a:rPr>
              <a:t>, </a:t>
            </a:r>
            <a:r>
              <a:rPr lang="ko-KR" altLang="en-US" sz="900" dirty="0">
                <a:solidFill>
                  <a:srgbClr val="008000"/>
                </a:solidFill>
                <a:latin typeface="Arial Narrow" panose="020B0606020202030204" pitchFamily="34" charset="0"/>
              </a:rPr>
              <a:t>기술자마다 다른 표현</a:t>
            </a:r>
            <a:r>
              <a:rPr lang="en-US" altLang="ko-KR" sz="900" dirty="0">
                <a:solidFill>
                  <a:srgbClr val="008000"/>
                </a:solidFill>
                <a:latin typeface="Arial Narrow" panose="020B0606020202030204" pitchFamily="34" charset="0"/>
              </a:rPr>
              <a:t>("</a:t>
            </a:r>
            <a:r>
              <a:rPr lang="en-US" sz="900" dirty="0">
                <a:solidFill>
                  <a:srgbClr val="008000"/>
                </a:solidFill>
                <a:latin typeface="Arial Narrow" panose="020B0606020202030204" pitchFamily="34" charset="0"/>
              </a:rPr>
              <a:t>air leak", "pads not gripping", "suction failure")</a:t>
            </a:r>
            <a:r>
              <a:rPr lang="ko-KR" altLang="en-US" sz="900" dirty="0">
                <a:solidFill>
                  <a:srgbClr val="008000"/>
                </a:solidFill>
                <a:latin typeface="Arial Narrow" panose="020B0606020202030204" pitchFamily="34" charset="0"/>
              </a:rPr>
              <a:t>으로 등록된 </a:t>
            </a:r>
            <a:r>
              <a:rPr lang="en-US" altLang="ko-KR" sz="900" dirty="0">
                <a:solidFill>
                  <a:srgbClr val="008000"/>
                </a:solidFill>
                <a:latin typeface="Arial Narrow" panose="020B0606020202030204" pitchFamily="34" charset="0"/>
              </a:rPr>
              <a:t>4</a:t>
            </a:r>
            <a:r>
              <a:rPr lang="ko-KR" altLang="en-US" sz="900" dirty="0">
                <a:solidFill>
                  <a:srgbClr val="008000"/>
                </a:solidFill>
                <a:latin typeface="Arial Narrow" panose="020B0606020202030204" pitchFamily="34" charset="0"/>
              </a:rPr>
              <a:t>건의 작업지시를 자동으로 탐색하여 </a:t>
            </a:r>
            <a:r>
              <a:rPr lang="en-US" sz="900" dirty="0">
                <a:solidFill>
                  <a:srgbClr val="008000"/>
                </a:solidFill>
                <a:latin typeface="Arial Narrow" panose="020B0606020202030204" pitchFamily="34" charset="0"/>
              </a:rPr>
              <a:t>PM </a:t>
            </a:r>
            <a:r>
              <a:rPr lang="ko-KR" altLang="en-US" sz="900" dirty="0">
                <a:solidFill>
                  <a:srgbClr val="008000"/>
                </a:solidFill>
                <a:latin typeface="Arial Narrow" panose="020B0606020202030204" pitchFamily="34" charset="0"/>
              </a:rPr>
              <a:t>권고사항을 포함한 통합 요약을 </a:t>
            </a:r>
            <a:r>
              <a:rPr lang="en-US" altLang="ko-KR" sz="900" dirty="0">
                <a:solidFill>
                  <a:srgbClr val="008000"/>
                </a:solidFill>
                <a:latin typeface="Arial Narrow" panose="020B0606020202030204" pitchFamily="34" charset="0"/>
              </a:rPr>
              <a:t>5</a:t>
            </a:r>
            <a:r>
              <a:rPr lang="ko-KR" altLang="en-US" sz="900" dirty="0">
                <a:solidFill>
                  <a:srgbClr val="008000"/>
                </a:solidFill>
                <a:latin typeface="Arial Narrow" panose="020B0606020202030204" pitchFamily="34" charset="0"/>
              </a:rPr>
              <a:t>초 이내에 제공합니다</a:t>
            </a:r>
            <a:r>
              <a:rPr lang="en-US" altLang="ko-KR" sz="900" dirty="0">
                <a:solidFill>
                  <a:srgbClr val="008000"/>
                </a:solidFill>
                <a:latin typeface="Arial Narrow" panose="020B0606020202030204" pitchFamily="34" charset="0"/>
              </a:rPr>
              <a:t>.</a:t>
            </a:r>
          </a:p>
        </p:txBody>
      </p:sp>
      <p:pic>
        <p:nvPicPr>
          <p:cNvPr id="1026" name="Picture 2">
            <a:extLst>
              <a:ext uri="{FF2B5EF4-FFF2-40B4-BE49-F238E27FC236}">
                <a16:creationId xmlns:a16="http://schemas.microsoft.com/office/drawing/2014/main" id="{08F2246A-A11B-FFAC-BCC2-9CACDF3070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472" y="1721047"/>
            <a:ext cx="4731421" cy="30576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BAF8B58-F66E-8E03-C2DC-4B49976ED4C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41032" y="1891137"/>
            <a:ext cx="4201112" cy="28875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F1D0DE8-8C8E-C61B-15F5-55D54A9E9A7C}"/>
              </a:ext>
            </a:extLst>
          </p:cNvPr>
          <p:cNvSpPr txBox="1"/>
          <p:nvPr/>
        </p:nvSpPr>
        <p:spPr>
          <a:xfrm>
            <a:off x="5169024" y="4812269"/>
            <a:ext cx="4345128" cy="1200329"/>
          </a:xfrm>
          <a:prstGeom prst="rect">
            <a:avLst/>
          </a:prstGeom>
          <a:noFill/>
        </p:spPr>
        <p:txBody>
          <a:bodyPr wrap="square">
            <a:spAutoFit/>
          </a:bodyPr>
          <a:lstStyle/>
          <a:p>
            <a:pPr latinLnBrk="0">
              <a:buNone/>
            </a:pPr>
            <a:r>
              <a:rPr lang="en-US" sz="900" b="1" dirty="0">
                <a:latin typeface="Arial Narrow" panose="020B0606020202030204" pitchFamily="34" charset="0"/>
              </a:rPr>
              <a:t>Scenario 3 — Top recurring failures EPS Shop:</a:t>
            </a:r>
            <a:endParaRPr lang="en-US" sz="900" dirty="0">
              <a:latin typeface="Arial Narrow" panose="020B0606020202030204" pitchFamily="34" charset="0"/>
            </a:endParaRPr>
          </a:p>
          <a:p>
            <a:pPr latinLnBrk="0">
              <a:buNone/>
            </a:pPr>
            <a:r>
              <a:rPr lang="en-US" sz="900" dirty="0">
                <a:latin typeface="Arial Narrow" panose="020B0606020202030204" pitchFamily="34" charset="0"/>
              </a:rPr>
              <a:t>A single question returns the top 3 recurring failures across the entire EPS shop for the last 90 days — ranked by frequency, with average repair time and last occurrence date. The AI insight box ties all 3 together with PM recommendations, replacing what would normally take 60–90 minutes of manual GMES searching.</a:t>
            </a:r>
          </a:p>
          <a:p>
            <a:pPr latinLnBrk="0">
              <a:buNone/>
            </a:pPr>
            <a:r>
              <a:rPr lang="ko-KR" altLang="en-US" sz="900" dirty="0">
                <a:solidFill>
                  <a:srgbClr val="008000"/>
                </a:solidFill>
                <a:latin typeface="Arial Narrow" panose="020B0606020202030204" pitchFamily="34" charset="0"/>
              </a:rPr>
              <a:t>단 한 번의 질의로 최근 </a:t>
            </a:r>
            <a:r>
              <a:rPr lang="en-US" altLang="ko-KR" sz="900" dirty="0">
                <a:solidFill>
                  <a:srgbClr val="008000"/>
                </a:solidFill>
                <a:latin typeface="Arial Narrow" panose="020B0606020202030204" pitchFamily="34" charset="0"/>
              </a:rPr>
              <a:t>90</a:t>
            </a:r>
            <a:r>
              <a:rPr lang="ko-KR" altLang="en-US" sz="900" dirty="0">
                <a:solidFill>
                  <a:srgbClr val="008000"/>
                </a:solidFill>
                <a:latin typeface="Arial Narrow" panose="020B0606020202030204" pitchFamily="34" charset="0"/>
              </a:rPr>
              <a:t>일간 </a:t>
            </a:r>
            <a:r>
              <a:rPr lang="en-US" sz="900" dirty="0">
                <a:solidFill>
                  <a:srgbClr val="008000"/>
                </a:solidFill>
                <a:latin typeface="Arial Narrow" panose="020B0606020202030204" pitchFamily="34" charset="0"/>
              </a:rPr>
              <a:t>EPS </a:t>
            </a:r>
            <a:r>
              <a:rPr lang="ko-KR" altLang="en-US" sz="900" dirty="0">
                <a:solidFill>
                  <a:srgbClr val="008000"/>
                </a:solidFill>
                <a:latin typeface="Arial Narrow" panose="020B0606020202030204" pitchFamily="34" charset="0"/>
              </a:rPr>
              <a:t>샵 전체의 상위 </a:t>
            </a:r>
            <a:r>
              <a:rPr lang="en-US" altLang="ko-KR" sz="900" dirty="0">
                <a:solidFill>
                  <a:srgbClr val="008000"/>
                </a:solidFill>
                <a:latin typeface="Arial Narrow" panose="020B0606020202030204" pitchFamily="34" charset="0"/>
              </a:rPr>
              <a:t>3</a:t>
            </a:r>
            <a:r>
              <a:rPr lang="ko-KR" altLang="en-US" sz="900" dirty="0">
                <a:solidFill>
                  <a:srgbClr val="008000"/>
                </a:solidFill>
                <a:latin typeface="Arial Narrow" panose="020B0606020202030204" pitchFamily="34" charset="0"/>
              </a:rPr>
              <a:t>대 반복 고장을 빈도순으로 조회합니다</a:t>
            </a:r>
            <a:r>
              <a:rPr lang="en-US" altLang="ko-KR" sz="900" dirty="0">
                <a:solidFill>
                  <a:srgbClr val="008000"/>
                </a:solidFill>
                <a:latin typeface="Arial Narrow" panose="020B0606020202030204" pitchFamily="34" charset="0"/>
              </a:rPr>
              <a:t>. </a:t>
            </a:r>
            <a:r>
              <a:rPr lang="ko-KR" altLang="en-US" sz="900" dirty="0">
                <a:solidFill>
                  <a:srgbClr val="008000"/>
                </a:solidFill>
                <a:latin typeface="Arial Narrow" panose="020B0606020202030204" pitchFamily="34" charset="0"/>
              </a:rPr>
              <a:t>평균 수리 시간 및 최종 발생일과 함께</a:t>
            </a:r>
            <a:r>
              <a:rPr lang="en-US" altLang="ko-KR" sz="900" dirty="0">
                <a:solidFill>
                  <a:srgbClr val="008000"/>
                </a:solidFill>
                <a:latin typeface="Arial Narrow" panose="020B0606020202030204" pitchFamily="34" charset="0"/>
              </a:rPr>
              <a:t>, 3</a:t>
            </a:r>
            <a:r>
              <a:rPr lang="ko-KR" altLang="en-US" sz="900" dirty="0">
                <a:solidFill>
                  <a:srgbClr val="008000"/>
                </a:solidFill>
                <a:latin typeface="Arial Narrow" panose="020B0606020202030204" pitchFamily="34" charset="0"/>
              </a:rPr>
              <a:t>건 모두에 대한 </a:t>
            </a:r>
            <a:r>
              <a:rPr lang="en-US" sz="900" dirty="0">
                <a:solidFill>
                  <a:srgbClr val="008000"/>
                </a:solidFill>
                <a:latin typeface="Arial Narrow" panose="020B0606020202030204" pitchFamily="34" charset="0"/>
              </a:rPr>
              <a:t>PM </a:t>
            </a:r>
            <a:r>
              <a:rPr lang="ko-KR" altLang="en-US" sz="900" dirty="0">
                <a:solidFill>
                  <a:srgbClr val="008000"/>
                </a:solidFill>
                <a:latin typeface="Arial Narrow" panose="020B0606020202030204" pitchFamily="34" charset="0"/>
              </a:rPr>
              <a:t>권고사항을 통합 제공합니다</a:t>
            </a:r>
            <a:r>
              <a:rPr lang="en-US" altLang="ko-KR" sz="900" dirty="0">
                <a:solidFill>
                  <a:srgbClr val="008000"/>
                </a:solidFill>
                <a:latin typeface="Arial Narrow" panose="020B0606020202030204" pitchFamily="34" charset="0"/>
              </a:rPr>
              <a:t>. </a:t>
            </a:r>
            <a:r>
              <a:rPr lang="ko-KR" altLang="en-US" sz="900" dirty="0">
                <a:solidFill>
                  <a:srgbClr val="008000"/>
                </a:solidFill>
                <a:latin typeface="Arial Narrow" panose="020B0606020202030204" pitchFamily="34" charset="0"/>
              </a:rPr>
              <a:t>기존에는 </a:t>
            </a:r>
            <a:r>
              <a:rPr lang="en-US" sz="900" dirty="0">
                <a:solidFill>
                  <a:srgbClr val="008000"/>
                </a:solidFill>
                <a:latin typeface="Arial Narrow" panose="020B0606020202030204" pitchFamily="34" charset="0"/>
              </a:rPr>
              <a:t>GMES </a:t>
            </a:r>
            <a:r>
              <a:rPr lang="ko-KR" altLang="en-US" sz="900" dirty="0">
                <a:solidFill>
                  <a:srgbClr val="008000"/>
                </a:solidFill>
                <a:latin typeface="Arial Narrow" panose="020B0606020202030204" pitchFamily="34" charset="0"/>
              </a:rPr>
              <a:t>수동 검색으로 </a:t>
            </a:r>
            <a:r>
              <a:rPr lang="en-US" altLang="ko-KR" sz="900" dirty="0">
                <a:solidFill>
                  <a:srgbClr val="008000"/>
                </a:solidFill>
                <a:latin typeface="Arial Narrow" panose="020B0606020202030204" pitchFamily="34" charset="0"/>
              </a:rPr>
              <a:t>60~90</a:t>
            </a:r>
            <a:r>
              <a:rPr lang="ko-KR" altLang="en-US" sz="900" dirty="0">
                <a:solidFill>
                  <a:srgbClr val="008000"/>
                </a:solidFill>
                <a:latin typeface="Arial Narrow" panose="020B0606020202030204" pitchFamily="34" charset="0"/>
              </a:rPr>
              <a:t>분이 소요되던 작업입니다</a:t>
            </a:r>
            <a:r>
              <a:rPr lang="en-US" altLang="ko-KR" sz="900" dirty="0">
                <a:solidFill>
                  <a:srgbClr val="008000"/>
                </a:solidFill>
                <a:latin typeface="Arial Narrow" panose="020B0606020202030204" pitchFamily="34" charset="0"/>
              </a:rPr>
              <a:t>.</a:t>
            </a:r>
          </a:p>
        </p:txBody>
      </p:sp>
      <p:graphicFrame>
        <p:nvGraphicFramePr>
          <p:cNvPr id="10" name="Table 9">
            <a:extLst>
              <a:ext uri="{FF2B5EF4-FFF2-40B4-BE49-F238E27FC236}">
                <a16:creationId xmlns:a16="http://schemas.microsoft.com/office/drawing/2014/main" id="{4576501B-175F-8A33-B9FD-A6562E6638D3}"/>
              </a:ext>
            </a:extLst>
          </p:cNvPr>
          <p:cNvGraphicFramePr>
            <a:graphicFrameLocks noGrp="1"/>
          </p:cNvGraphicFramePr>
          <p:nvPr>
            <p:extLst>
              <p:ext uri="{D42A27DB-BD31-4B8C-83A1-F6EECF244321}">
                <p14:modId xmlns:p14="http://schemas.microsoft.com/office/powerpoint/2010/main" val="1355529500"/>
              </p:ext>
            </p:extLst>
          </p:nvPr>
        </p:nvGraphicFramePr>
        <p:xfrm>
          <a:off x="990112" y="5852339"/>
          <a:ext cx="3152140" cy="731520"/>
        </p:xfrm>
        <a:graphic>
          <a:graphicData uri="http://schemas.openxmlformats.org/drawingml/2006/table">
            <a:tbl>
              <a:tblPr/>
              <a:tblGrid>
                <a:gridCol w="706755">
                  <a:extLst>
                    <a:ext uri="{9D8B030D-6E8A-4147-A177-3AD203B41FA5}">
                      <a16:colId xmlns:a16="http://schemas.microsoft.com/office/drawing/2014/main" val="144774597"/>
                    </a:ext>
                  </a:extLst>
                </a:gridCol>
                <a:gridCol w="1925955">
                  <a:extLst>
                    <a:ext uri="{9D8B030D-6E8A-4147-A177-3AD203B41FA5}">
                      <a16:colId xmlns:a16="http://schemas.microsoft.com/office/drawing/2014/main" val="4195582808"/>
                    </a:ext>
                  </a:extLst>
                </a:gridCol>
                <a:gridCol w="519430">
                  <a:extLst>
                    <a:ext uri="{9D8B030D-6E8A-4147-A177-3AD203B41FA5}">
                      <a16:colId xmlns:a16="http://schemas.microsoft.com/office/drawing/2014/main" val="2286610988"/>
                    </a:ext>
                  </a:extLst>
                </a:gridCol>
              </a:tblGrid>
              <a:tr h="0">
                <a:tc>
                  <a:txBody>
                    <a:bodyPr/>
                    <a:lstStyle/>
                    <a:p>
                      <a:pPr>
                        <a:buNone/>
                      </a:pPr>
                      <a:r>
                        <a:rPr lang="en-US" sz="1000" dirty="0">
                          <a:latin typeface="Arial Narrow" panose="020B0606020202030204" pitchFamily="34" charset="0"/>
                        </a:rPr>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000" b="1" dirty="0">
                          <a:latin typeface="Arial Narrow" panose="020B0606020202030204" pitchFamily="34" charset="0"/>
                        </a:rPr>
                        <a:t>As-Is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000" b="1" dirty="0">
                          <a:latin typeface="Arial Narrow" panose="020B0606020202030204" pitchFamily="34" charset="0"/>
                        </a:rPr>
                        <a:t>To-Be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7717507"/>
                  </a:ext>
                </a:extLst>
              </a:tr>
              <a:tr h="0">
                <a:tc>
                  <a:txBody>
                    <a:bodyPr/>
                    <a:lstStyle/>
                    <a:p>
                      <a:pPr>
                        <a:buNone/>
                      </a:pPr>
                      <a:r>
                        <a:rPr lang="en-US" sz="1000" b="1" dirty="0">
                          <a:latin typeface="Arial Narrow" panose="020B0606020202030204" pitchFamily="34" charset="0"/>
                        </a:rPr>
                        <a:t>Scenario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00" dirty="0">
                          <a:latin typeface="Arial Narrow" panose="020B0606020202030204" pitchFamily="34" charset="0"/>
                        </a:rPr>
                        <a:t>~90 min manual search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00" dirty="0">
                          <a:latin typeface="Arial Narrow" panose="020B0606020202030204" pitchFamily="34" charset="0"/>
                        </a:rPr>
                        <a:t>~5 sec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1610306"/>
                  </a:ext>
                </a:extLst>
              </a:tr>
              <a:tr h="0">
                <a:tc>
                  <a:txBody>
                    <a:bodyPr/>
                    <a:lstStyle/>
                    <a:p>
                      <a:pPr>
                        <a:buNone/>
                      </a:pPr>
                      <a:r>
                        <a:rPr lang="en-US" sz="1000" b="1" dirty="0">
                          <a:latin typeface="Arial Narrow" panose="020B0606020202030204" pitchFamily="34" charset="0"/>
                        </a:rPr>
                        <a:t>Scenario 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00" dirty="0">
                          <a:latin typeface="Arial Narrow" panose="020B0606020202030204" pitchFamily="34" charset="0"/>
                        </a:rPr>
                        <a:t>~60–90 min across multiple searches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00" dirty="0">
                          <a:latin typeface="Arial Narrow" panose="020B0606020202030204" pitchFamily="34" charset="0"/>
                        </a:rPr>
                        <a:t>~5 sec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348710"/>
                  </a:ext>
                </a:extLst>
              </a:tr>
            </a:tbl>
          </a:graphicData>
        </a:graphic>
      </p:graphicFrame>
    </p:spTree>
    <p:extLst>
      <p:ext uri="{BB962C8B-B14F-4D97-AF65-F5344CB8AC3E}">
        <p14:creationId xmlns:p14="http://schemas.microsoft.com/office/powerpoint/2010/main" val="3403558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B516F2-2821-228A-E74A-F25B7BE605D5}"/>
              </a:ext>
            </a:extLst>
          </p:cNvPr>
          <p:cNvSpPr txBox="1"/>
          <p:nvPr/>
        </p:nvSpPr>
        <p:spPr>
          <a:xfrm>
            <a:off x="128464" y="116632"/>
            <a:ext cx="4957762" cy="369332"/>
          </a:xfrm>
          <a:prstGeom prst="rect">
            <a:avLst/>
          </a:prstGeom>
          <a:noFill/>
        </p:spPr>
        <p:txBody>
          <a:bodyPr wrap="square">
            <a:spAutoFit/>
          </a:bodyPr>
          <a:lstStyle/>
          <a:p>
            <a:r>
              <a:rPr lang="en-US" sz="1800" b="1" noProof="0" dirty="0">
                <a:latin typeface="Arial Narrow" panose="020B0606020202030204" pitchFamily="34" charset="0"/>
                <a:ea typeface="Calibri" pitchFamily="34" charset="-122"/>
                <a:cs typeface="Calibri" pitchFamily="34" charset="-120"/>
              </a:rPr>
              <a:t>KPIs — Workload Reduction &amp; Performance Targets</a:t>
            </a:r>
            <a:endParaRPr lang="en-US" sz="1800" noProof="0" dirty="0">
              <a:latin typeface="Arial Narrow" panose="020B0606020202030204" pitchFamily="34" charset="0"/>
            </a:endParaRPr>
          </a:p>
        </p:txBody>
      </p:sp>
      <p:sp>
        <p:nvSpPr>
          <p:cNvPr id="4" name="Shape 10">
            <a:extLst>
              <a:ext uri="{FF2B5EF4-FFF2-40B4-BE49-F238E27FC236}">
                <a16:creationId xmlns:a16="http://schemas.microsoft.com/office/drawing/2014/main" id="{FE018028-586F-20CC-0712-383833026C13}"/>
              </a:ext>
            </a:extLst>
          </p:cNvPr>
          <p:cNvSpPr/>
          <p:nvPr/>
        </p:nvSpPr>
        <p:spPr>
          <a:xfrm>
            <a:off x="145232" y="620688"/>
            <a:ext cx="9584055" cy="208026"/>
          </a:xfrm>
          <a:prstGeom prst="rect">
            <a:avLst/>
          </a:prstGeom>
          <a:noFill/>
          <a:ln w="12700">
            <a:noFill/>
            <a:prstDash val="solid"/>
          </a:ln>
        </p:spPr>
        <p:txBody>
          <a:bodyPr/>
          <a:lstStyle/>
          <a:p>
            <a:pPr latinLnBrk="0"/>
            <a:endParaRPr lang="en-US" sz="1200" noProof="0" dirty="0">
              <a:latin typeface="Arial Narrow" panose="020B0606020202030204" pitchFamily="34" charset="0"/>
            </a:endParaRPr>
          </a:p>
        </p:txBody>
      </p:sp>
      <p:sp>
        <p:nvSpPr>
          <p:cNvPr id="5" name="Text 11">
            <a:extLst>
              <a:ext uri="{FF2B5EF4-FFF2-40B4-BE49-F238E27FC236}">
                <a16:creationId xmlns:a16="http://schemas.microsoft.com/office/drawing/2014/main" id="{BCD48A13-CB9C-34BE-1FAA-E5BFAFA11DA4}"/>
              </a:ext>
            </a:extLst>
          </p:cNvPr>
          <p:cNvSpPr/>
          <p:nvPr/>
        </p:nvSpPr>
        <p:spPr>
          <a:xfrm>
            <a:off x="145232" y="620688"/>
            <a:ext cx="9584055" cy="208026"/>
          </a:xfrm>
          <a:prstGeom prst="rect">
            <a:avLst/>
          </a:prstGeom>
          <a:noFill/>
          <a:ln>
            <a:noFill/>
          </a:ln>
        </p:spPr>
        <p:txBody>
          <a:bodyPr wrap="square" lIns="0" tIns="0" rIns="0" bIns="0" rtlCol="0" anchor="ctr"/>
          <a:lstStyle/>
          <a:p>
            <a:pPr algn="ctr" latinLnBrk="0"/>
            <a:r>
              <a:rPr lang="en-US" sz="1400" b="1" noProof="0" dirty="0">
                <a:latin typeface="Arial Narrow" panose="020B0606020202030204" pitchFamily="34" charset="0"/>
                <a:ea typeface="Calibri" pitchFamily="34" charset="-122"/>
                <a:cs typeface="Calibri" pitchFamily="34" charset="-120"/>
              </a:rPr>
              <a:t>⬛ WORKLOAD REDUCTION — Core Daily Activity  /  </a:t>
            </a:r>
            <a:r>
              <a:rPr lang="en-US" sz="1400" b="1" noProof="0" dirty="0">
                <a:solidFill>
                  <a:srgbClr val="008000"/>
                </a:solidFill>
                <a:latin typeface="Arial Narrow" panose="020B0606020202030204" pitchFamily="34" charset="0"/>
                <a:ea typeface="Calibri" pitchFamily="34" charset="-122"/>
                <a:cs typeface="Calibri" pitchFamily="34" charset="-120"/>
              </a:rPr>
              <a:t>핵심 업무 부담 감소</a:t>
            </a:r>
            <a:endParaRPr lang="en-US" sz="1400" noProof="0" dirty="0">
              <a:solidFill>
                <a:srgbClr val="008000"/>
              </a:solidFill>
              <a:latin typeface="Arial Narrow" panose="020B0606020202030204" pitchFamily="34" charset="0"/>
            </a:endParaRPr>
          </a:p>
        </p:txBody>
      </p:sp>
      <p:sp>
        <p:nvSpPr>
          <p:cNvPr id="6" name="Shape 12">
            <a:extLst>
              <a:ext uri="{FF2B5EF4-FFF2-40B4-BE49-F238E27FC236}">
                <a16:creationId xmlns:a16="http://schemas.microsoft.com/office/drawing/2014/main" id="{ACF2388F-D373-6CA1-E386-AE23E8D4A0BA}"/>
              </a:ext>
            </a:extLst>
          </p:cNvPr>
          <p:cNvSpPr/>
          <p:nvPr/>
        </p:nvSpPr>
        <p:spPr>
          <a:xfrm>
            <a:off x="145232" y="865861"/>
            <a:ext cx="2265998" cy="1327830"/>
          </a:xfrm>
          <a:prstGeom prst="rect">
            <a:avLst/>
          </a:prstGeom>
          <a:solidFill>
            <a:srgbClr val="FFFFFF"/>
          </a:solidFill>
          <a:ln w="12700">
            <a:noFill/>
            <a:prstDash val="solid"/>
          </a:ln>
          <a:effectLst>
            <a:outerShdw blurRad="50800" dist="25400" dir="8100000" algn="bl" rotWithShape="0">
              <a:srgbClr val="000000">
                <a:alpha val="8000"/>
              </a:srgbClr>
            </a:outerShdw>
          </a:effectLst>
        </p:spPr>
        <p:txBody>
          <a:bodyPr/>
          <a:lstStyle/>
          <a:p>
            <a:pPr latinLnBrk="0"/>
            <a:endParaRPr lang="en-US" sz="1200" noProof="0" dirty="0">
              <a:latin typeface="Arial Narrow" panose="020B0606020202030204" pitchFamily="34" charset="0"/>
            </a:endParaRPr>
          </a:p>
        </p:txBody>
      </p:sp>
      <p:sp>
        <p:nvSpPr>
          <p:cNvPr id="7" name="Shape 13">
            <a:extLst>
              <a:ext uri="{FF2B5EF4-FFF2-40B4-BE49-F238E27FC236}">
                <a16:creationId xmlns:a16="http://schemas.microsoft.com/office/drawing/2014/main" id="{62A30A1E-43B5-BE9F-4DAE-CE6AA0AF9B6D}"/>
              </a:ext>
            </a:extLst>
          </p:cNvPr>
          <p:cNvSpPr/>
          <p:nvPr/>
        </p:nvSpPr>
        <p:spPr>
          <a:xfrm>
            <a:off x="145232" y="865862"/>
            <a:ext cx="2265998" cy="44577"/>
          </a:xfrm>
          <a:prstGeom prst="rect">
            <a:avLst/>
          </a:prstGeom>
          <a:solidFill>
            <a:srgbClr val="C8102E"/>
          </a:solidFill>
          <a:ln w="12700">
            <a:noFill/>
            <a:prstDash val="solid"/>
          </a:ln>
        </p:spPr>
        <p:txBody>
          <a:bodyPr/>
          <a:lstStyle/>
          <a:p>
            <a:pPr latinLnBrk="0"/>
            <a:endParaRPr lang="en-US" sz="1200" noProof="0" dirty="0">
              <a:latin typeface="Arial Narrow" panose="020B0606020202030204" pitchFamily="34" charset="0"/>
            </a:endParaRPr>
          </a:p>
        </p:txBody>
      </p:sp>
      <p:sp>
        <p:nvSpPr>
          <p:cNvPr id="8" name="Text 14">
            <a:extLst>
              <a:ext uri="{FF2B5EF4-FFF2-40B4-BE49-F238E27FC236}">
                <a16:creationId xmlns:a16="http://schemas.microsoft.com/office/drawing/2014/main" id="{95AB08F8-5D46-0789-7C10-D294F81FBE29}"/>
              </a:ext>
            </a:extLst>
          </p:cNvPr>
          <p:cNvSpPr/>
          <p:nvPr/>
        </p:nvSpPr>
        <p:spPr>
          <a:xfrm>
            <a:off x="145232" y="910439"/>
            <a:ext cx="2265998" cy="534924"/>
          </a:xfrm>
          <a:prstGeom prst="rect">
            <a:avLst/>
          </a:prstGeom>
          <a:noFill/>
          <a:ln>
            <a:noFill/>
          </a:ln>
        </p:spPr>
        <p:txBody>
          <a:bodyPr wrap="square" rtlCol="0" anchor="ctr"/>
          <a:lstStyle/>
          <a:p>
            <a:pPr algn="ctr" latinLnBrk="0"/>
            <a:r>
              <a:rPr lang="en-US" sz="1400" b="1" noProof="0" dirty="0">
                <a:latin typeface="Arial Narrow" panose="020B0606020202030204" pitchFamily="34" charset="0"/>
                <a:ea typeface="Calibri" pitchFamily="34" charset="-122"/>
                <a:cs typeface="Calibri" pitchFamily="34" charset="-120"/>
              </a:rPr>
              <a:t>90 min</a:t>
            </a:r>
            <a:endParaRPr lang="en-US" sz="1400" noProof="0" dirty="0">
              <a:latin typeface="Arial Narrow" panose="020B0606020202030204" pitchFamily="34" charset="0"/>
            </a:endParaRPr>
          </a:p>
          <a:p>
            <a:pPr algn="ctr" latinLnBrk="0"/>
            <a:r>
              <a:rPr lang="en-US" sz="1400" b="1" noProof="0" dirty="0">
                <a:latin typeface="Arial Narrow" panose="020B0606020202030204" pitchFamily="34" charset="0"/>
                <a:ea typeface="Calibri" pitchFamily="34" charset="-122"/>
                <a:cs typeface="Calibri" pitchFamily="34" charset="-120"/>
              </a:rPr>
              <a:t>→ 5 min</a:t>
            </a:r>
            <a:endParaRPr lang="en-US" sz="1400" noProof="0" dirty="0">
              <a:latin typeface="Arial Narrow" panose="020B0606020202030204" pitchFamily="34" charset="0"/>
            </a:endParaRPr>
          </a:p>
        </p:txBody>
      </p:sp>
      <p:sp>
        <p:nvSpPr>
          <p:cNvPr id="9" name="Shape 15">
            <a:extLst>
              <a:ext uri="{FF2B5EF4-FFF2-40B4-BE49-F238E27FC236}">
                <a16:creationId xmlns:a16="http://schemas.microsoft.com/office/drawing/2014/main" id="{0F065A50-98CC-346C-A8F8-22B651DBB9FD}"/>
              </a:ext>
            </a:extLst>
          </p:cNvPr>
          <p:cNvSpPr/>
          <p:nvPr/>
        </p:nvSpPr>
        <p:spPr>
          <a:xfrm>
            <a:off x="234386" y="1460222"/>
            <a:ext cx="208769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10" name="Text 16">
            <a:extLst>
              <a:ext uri="{FF2B5EF4-FFF2-40B4-BE49-F238E27FC236}">
                <a16:creationId xmlns:a16="http://schemas.microsoft.com/office/drawing/2014/main" id="{7309CF3B-8E26-F80E-6E78-D4B8DD18E759}"/>
              </a:ext>
            </a:extLst>
          </p:cNvPr>
          <p:cNvSpPr/>
          <p:nvPr/>
        </p:nvSpPr>
        <p:spPr>
          <a:xfrm>
            <a:off x="182379" y="1489940"/>
            <a:ext cx="2191703"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Search time</a:t>
            </a:r>
            <a:endParaRPr lang="en-US" sz="1200" noProof="0" dirty="0">
              <a:latin typeface="Arial Narrow" panose="020B0606020202030204" pitchFamily="34" charset="0"/>
            </a:endParaRPr>
          </a:p>
          <a:p>
            <a:pPr algn="ctr" latinLnBrk="0"/>
            <a:r>
              <a:rPr lang="en-US" sz="1200" b="1" noProof="0" dirty="0">
                <a:latin typeface="Arial Narrow" panose="020B0606020202030204" pitchFamily="34" charset="0"/>
                <a:ea typeface="Calibri" pitchFamily="34" charset="-122"/>
                <a:cs typeface="Calibri" pitchFamily="34" charset="-120"/>
              </a:rPr>
              <a:t>per task  /  </a:t>
            </a: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작업당 검색</a:t>
            </a:r>
            <a:endParaRPr lang="en-US" sz="1200" noProof="0" dirty="0">
              <a:solidFill>
                <a:srgbClr val="008000"/>
              </a:solidFill>
              <a:latin typeface="Arial Narrow" panose="020B0606020202030204" pitchFamily="34" charset="0"/>
            </a:endParaRPr>
          </a:p>
        </p:txBody>
      </p:sp>
      <p:sp>
        <p:nvSpPr>
          <p:cNvPr id="11" name="Text 17">
            <a:extLst>
              <a:ext uri="{FF2B5EF4-FFF2-40B4-BE49-F238E27FC236}">
                <a16:creationId xmlns:a16="http://schemas.microsoft.com/office/drawing/2014/main" id="{D7439023-D66E-3D5A-CA08-AF6F13310646}"/>
              </a:ext>
            </a:extLst>
          </p:cNvPr>
          <p:cNvSpPr/>
          <p:nvPr/>
        </p:nvSpPr>
        <p:spPr>
          <a:xfrm>
            <a:off x="182379" y="1947118"/>
            <a:ext cx="2191703" cy="185738"/>
          </a:xfrm>
          <a:prstGeom prst="rect">
            <a:avLst/>
          </a:prstGeom>
          <a:noFill/>
          <a:ln>
            <a:noFill/>
          </a:ln>
        </p:spPr>
        <p:txBody>
          <a:bodyPr wrap="square" rtlCol="0" anchor="ctr"/>
          <a:lstStyle/>
          <a:p>
            <a:pPr algn="ctr" latinLnBrk="0"/>
            <a:r>
              <a:rPr lang="en-US" sz="1200" b="1" noProof="0" dirty="0">
                <a:solidFill>
                  <a:srgbClr val="FF0000"/>
                </a:solidFill>
                <a:latin typeface="Arial Narrow" panose="020B0606020202030204" pitchFamily="34" charset="0"/>
                <a:ea typeface="Calibri" pitchFamily="34" charset="-122"/>
                <a:cs typeface="Calibri" pitchFamily="34" charset="-120"/>
              </a:rPr>
              <a:t>−95% per task</a:t>
            </a:r>
            <a:endParaRPr lang="en-US" sz="1200" noProof="0" dirty="0">
              <a:solidFill>
                <a:srgbClr val="FF0000"/>
              </a:solidFill>
              <a:latin typeface="Arial Narrow" panose="020B0606020202030204" pitchFamily="34" charset="0"/>
            </a:endParaRPr>
          </a:p>
        </p:txBody>
      </p:sp>
      <p:sp>
        <p:nvSpPr>
          <p:cNvPr id="12" name="Shape 18">
            <a:extLst>
              <a:ext uri="{FF2B5EF4-FFF2-40B4-BE49-F238E27FC236}">
                <a16:creationId xmlns:a16="http://schemas.microsoft.com/office/drawing/2014/main" id="{8E00ADAE-0767-B9BA-2C0B-3649AE3B233F}"/>
              </a:ext>
            </a:extLst>
          </p:cNvPr>
          <p:cNvSpPr/>
          <p:nvPr/>
        </p:nvSpPr>
        <p:spPr>
          <a:xfrm>
            <a:off x="2559819" y="865861"/>
            <a:ext cx="2265998" cy="1327830"/>
          </a:xfrm>
          <a:prstGeom prst="rect">
            <a:avLst/>
          </a:prstGeom>
          <a:solidFill>
            <a:srgbClr val="FFFFFF"/>
          </a:solidFill>
          <a:ln w="12700">
            <a:noFill/>
            <a:prstDash val="solid"/>
          </a:ln>
          <a:effectLst>
            <a:outerShdw blurRad="50800" dist="25400" dir="8100000" algn="bl" rotWithShape="0">
              <a:srgbClr val="000000">
                <a:alpha val="8000"/>
              </a:srgbClr>
            </a:outerShdw>
          </a:effectLst>
        </p:spPr>
        <p:txBody>
          <a:bodyPr/>
          <a:lstStyle/>
          <a:p>
            <a:pPr latinLnBrk="0"/>
            <a:endParaRPr lang="en-US" sz="1200" noProof="0" dirty="0">
              <a:latin typeface="Arial Narrow" panose="020B0606020202030204" pitchFamily="34" charset="0"/>
            </a:endParaRPr>
          </a:p>
        </p:txBody>
      </p:sp>
      <p:sp>
        <p:nvSpPr>
          <p:cNvPr id="13" name="Shape 19">
            <a:extLst>
              <a:ext uri="{FF2B5EF4-FFF2-40B4-BE49-F238E27FC236}">
                <a16:creationId xmlns:a16="http://schemas.microsoft.com/office/drawing/2014/main" id="{55C964A1-7C2B-4075-9EDA-F81FEBA85DEB}"/>
              </a:ext>
            </a:extLst>
          </p:cNvPr>
          <p:cNvSpPr/>
          <p:nvPr/>
        </p:nvSpPr>
        <p:spPr>
          <a:xfrm>
            <a:off x="2559819" y="865862"/>
            <a:ext cx="2265998" cy="44577"/>
          </a:xfrm>
          <a:prstGeom prst="rect">
            <a:avLst/>
          </a:prstGeom>
          <a:solidFill>
            <a:srgbClr val="C8102E"/>
          </a:solidFill>
          <a:ln w="12700">
            <a:noFill/>
            <a:prstDash val="solid"/>
          </a:ln>
        </p:spPr>
        <p:txBody>
          <a:bodyPr/>
          <a:lstStyle/>
          <a:p>
            <a:pPr latinLnBrk="0"/>
            <a:endParaRPr lang="en-US" sz="1200" noProof="0" dirty="0">
              <a:latin typeface="Arial Narrow" panose="020B0606020202030204" pitchFamily="34" charset="0"/>
            </a:endParaRPr>
          </a:p>
        </p:txBody>
      </p:sp>
      <p:sp>
        <p:nvSpPr>
          <p:cNvPr id="14" name="Text 20">
            <a:extLst>
              <a:ext uri="{FF2B5EF4-FFF2-40B4-BE49-F238E27FC236}">
                <a16:creationId xmlns:a16="http://schemas.microsoft.com/office/drawing/2014/main" id="{3E6D8F38-2FEB-0CE4-3DC0-4A03435ABAEC}"/>
              </a:ext>
            </a:extLst>
          </p:cNvPr>
          <p:cNvSpPr/>
          <p:nvPr/>
        </p:nvSpPr>
        <p:spPr>
          <a:xfrm>
            <a:off x="2559819" y="910439"/>
            <a:ext cx="2265998" cy="534924"/>
          </a:xfrm>
          <a:prstGeom prst="rect">
            <a:avLst/>
          </a:prstGeom>
          <a:noFill/>
          <a:ln>
            <a:noFill/>
          </a:ln>
        </p:spPr>
        <p:txBody>
          <a:bodyPr wrap="square" rtlCol="0" anchor="ctr"/>
          <a:lstStyle/>
          <a:p>
            <a:pPr algn="ctr" latinLnBrk="0"/>
            <a:r>
              <a:rPr lang="en-US" sz="1400" b="1" noProof="0" dirty="0">
                <a:latin typeface="Arial Narrow" panose="020B0606020202030204" pitchFamily="34" charset="0"/>
                <a:ea typeface="Calibri" pitchFamily="34" charset="-122"/>
                <a:cs typeface="Calibri" pitchFamily="34" charset="-120"/>
              </a:rPr>
              <a:t>654 hrs</a:t>
            </a:r>
            <a:endParaRPr lang="en-US" sz="1400" noProof="0" dirty="0">
              <a:latin typeface="Arial Narrow" panose="020B0606020202030204" pitchFamily="34" charset="0"/>
            </a:endParaRPr>
          </a:p>
          <a:p>
            <a:pPr algn="ctr" latinLnBrk="0"/>
            <a:r>
              <a:rPr lang="en-US" sz="1400" b="1" noProof="0" dirty="0">
                <a:latin typeface="Arial Narrow" panose="020B0606020202030204" pitchFamily="34" charset="0"/>
                <a:ea typeface="Calibri" pitchFamily="34" charset="-122"/>
                <a:cs typeface="Calibri" pitchFamily="34" charset="-120"/>
              </a:rPr>
              <a:t>→ 36 hrs</a:t>
            </a:r>
            <a:endParaRPr lang="en-US" sz="1400" noProof="0" dirty="0">
              <a:latin typeface="Arial Narrow" panose="020B0606020202030204" pitchFamily="34" charset="0"/>
            </a:endParaRPr>
          </a:p>
        </p:txBody>
      </p:sp>
      <p:sp>
        <p:nvSpPr>
          <p:cNvPr id="15" name="Shape 21">
            <a:extLst>
              <a:ext uri="{FF2B5EF4-FFF2-40B4-BE49-F238E27FC236}">
                <a16:creationId xmlns:a16="http://schemas.microsoft.com/office/drawing/2014/main" id="{72C4FCE8-3161-5983-1DEB-9EED68BE1DA3}"/>
              </a:ext>
            </a:extLst>
          </p:cNvPr>
          <p:cNvSpPr/>
          <p:nvPr/>
        </p:nvSpPr>
        <p:spPr>
          <a:xfrm>
            <a:off x="2648973" y="1460222"/>
            <a:ext cx="208769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16" name="Text 22">
            <a:extLst>
              <a:ext uri="{FF2B5EF4-FFF2-40B4-BE49-F238E27FC236}">
                <a16:creationId xmlns:a16="http://schemas.microsoft.com/office/drawing/2014/main" id="{DEC07B63-64A8-B5B8-1C9F-47708BA1DEE9}"/>
              </a:ext>
            </a:extLst>
          </p:cNvPr>
          <p:cNvSpPr/>
          <p:nvPr/>
        </p:nvSpPr>
        <p:spPr>
          <a:xfrm>
            <a:off x="2596967" y="1489940"/>
            <a:ext cx="2191703"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Monthly hours (7 eng)</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7인 월간 소요시간</a:t>
            </a:r>
            <a:endParaRPr lang="en-US" sz="1200" noProof="0" dirty="0">
              <a:solidFill>
                <a:srgbClr val="008000"/>
              </a:solidFill>
              <a:latin typeface="Arial Narrow" panose="020B0606020202030204" pitchFamily="34" charset="0"/>
            </a:endParaRPr>
          </a:p>
        </p:txBody>
      </p:sp>
      <p:sp>
        <p:nvSpPr>
          <p:cNvPr id="17" name="Text 23">
            <a:extLst>
              <a:ext uri="{FF2B5EF4-FFF2-40B4-BE49-F238E27FC236}">
                <a16:creationId xmlns:a16="http://schemas.microsoft.com/office/drawing/2014/main" id="{3C496B7E-231B-800C-0D69-D73E0E506EE5}"/>
              </a:ext>
            </a:extLst>
          </p:cNvPr>
          <p:cNvSpPr/>
          <p:nvPr/>
        </p:nvSpPr>
        <p:spPr>
          <a:xfrm>
            <a:off x="2596967" y="1947118"/>
            <a:ext cx="2191703" cy="185738"/>
          </a:xfrm>
          <a:prstGeom prst="rect">
            <a:avLst/>
          </a:prstGeom>
          <a:noFill/>
          <a:ln>
            <a:noFill/>
          </a:ln>
        </p:spPr>
        <p:txBody>
          <a:bodyPr wrap="square" rtlCol="0" anchor="ctr"/>
          <a:lstStyle/>
          <a:p>
            <a:pPr algn="ctr" latinLnBrk="0"/>
            <a:r>
              <a:rPr lang="en-US" sz="1200" b="1" noProof="0" dirty="0">
                <a:solidFill>
                  <a:srgbClr val="FF0000"/>
                </a:solidFill>
                <a:latin typeface="Arial Narrow" panose="020B0606020202030204" pitchFamily="34" charset="0"/>
                <a:ea typeface="Calibri" pitchFamily="34" charset="-122"/>
                <a:cs typeface="Calibri" pitchFamily="34" charset="-120"/>
              </a:rPr>
              <a:t>−94% per month</a:t>
            </a:r>
            <a:endParaRPr lang="en-US" sz="1200" noProof="0" dirty="0">
              <a:solidFill>
                <a:srgbClr val="FF0000"/>
              </a:solidFill>
              <a:latin typeface="Arial Narrow" panose="020B0606020202030204" pitchFamily="34" charset="0"/>
            </a:endParaRPr>
          </a:p>
        </p:txBody>
      </p:sp>
      <p:sp>
        <p:nvSpPr>
          <p:cNvPr id="18" name="Shape 24">
            <a:extLst>
              <a:ext uri="{FF2B5EF4-FFF2-40B4-BE49-F238E27FC236}">
                <a16:creationId xmlns:a16="http://schemas.microsoft.com/office/drawing/2014/main" id="{7F395B50-067A-C696-7FD9-126585ED2D22}"/>
              </a:ext>
            </a:extLst>
          </p:cNvPr>
          <p:cNvSpPr/>
          <p:nvPr/>
        </p:nvSpPr>
        <p:spPr>
          <a:xfrm>
            <a:off x="4974407" y="865861"/>
            <a:ext cx="2265998" cy="1309307"/>
          </a:xfrm>
          <a:prstGeom prst="rect">
            <a:avLst/>
          </a:prstGeom>
          <a:solidFill>
            <a:srgbClr val="FFFFFF"/>
          </a:solidFill>
          <a:ln w="12700">
            <a:noFill/>
            <a:prstDash val="solid"/>
          </a:ln>
          <a:effectLst>
            <a:outerShdw blurRad="50800" dist="25400" dir="8100000" algn="bl" rotWithShape="0">
              <a:srgbClr val="000000">
                <a:alpha val="8000"/>
              </a:srgbClr>
            </a:outerShdw>
          </a:effectLst>
        </p:spPr>
        <p:txBody>
          <a:bodyPr/>
          <a:lstStyle/>
          <a:p>
            <a:pPr latinLnBrk="0"/>
            <a:endParaRPr lang="en-US" sz="1200" noProof="0" dirty="0">
              <a:latin typeface="Arial Narrow" panose="020B0606020202030204" pitchFamily="34" charset="0"/>
            </a:endParaRPr>
          </a:p>
        </p:txBody>
      </p:sp>
      <p:sp>
        <p:nvSpPr>
          <p:cNvPr id="19" name="Shape 25">
            <a:extLst>
              <a:ext uri="{FF2B5EF4-FFF2-40B4-BE49-F238E27FC236}">
                <a16:creationId xmlns:a16="http://schemas.microsoft.com/office/drawing/2014/main" id="{3E99812D-F477-6F84-DEBD-95FFBBAEED2A}"/>
              </a:ext>
            </a:extLst>
          </p:cNvPr>
          <p:cNvSpPr/>
          <p:nvPr/>
        </p:nvSpPr>
        <p:spPr>
          <a:xfrm>
            <a:off x="4974407" y="865862"/>
            <a:ext cx="2265998" cy="44577"/>
          </a:xfrm>
          <a:prstGeom prst="rect">
            <a:avLst/>
          </a:prstGeom>
          <a:solidFill>
            <a:srgbClr val="C8102E"/>
          </a:solidFill>
          <a:ln w="12700">
            <a:noFill/>
            <a:prstDash val="solid"/>
          </a:ln>
        </p:spPr>
        <p:txBody>
          <a:bodyPr/>
          <a:lstStyle/>
          <a:p>
            <a:pPr latinLnBrk="0"/>
            <a:endParaRPr lang="en-US" sz="1200" noProof="0" dirty="0">
              <a:latin typeface="Arial Narrow" panose="020B0606020202030204" pitchFamily="34" charset="0"/>
            </a:endParaRPr>
          </a:p>
        </p:txBody>
      </p:sp>
      <p:sp>
        <p:nvSpPr>
          <p:cNvPr id="20" name="Text 26">
            <a:extLst>
              <a:ext uri="{FF2B5EF4-FFF2-40B4-BE49-F238E27FC236}">
                <a16:creationId xmlns:a16="http://schemas.microsoft.com/office/drawing/2014/main" id="{7394D903-C742-35D6-A7B3-54F3558201A9}"/>
              </a:ext>
            </a:extLst>
          </p:cNvPr>
          <p:cNvSpPr/>
          <p:nvPr/>
        </p:nvSpPr>
        <p:spPr>
          <a:xfrm>
            <a:off x="4974407" y="910439"/>
            <a:ext cx="2265998" cy="534924"/>
          </a:xfrm>
          <a:prstGeom prst="rect">
            <a:avLst/>
          </a:prstGeom>
          <a:noFill/>
          <a:ln>
            <a:noFill/>
          </a:ln>
        </p:spPr>
        <p:txBody>
          <a:bodyPr wrap="square" rtlCol="0" anchor="ctr"/>
          <a:lstStyle/>
          <a:p>
            <a:pPr algn="ctr" latinLnBrk="0"/>
            <a:r>
              <a:rPr lang="en-US" sz="1400" b="1" noProof="0" dirty="0">
                <a:latin typeface="Arial Narrow" panose="020B0606020202030204" pitchFamily="34" charset="0"/>
                <a:ea typeface="Calibri" pitchFamily="34" charset="-122"/>
                <a:cs typeface="Calibri" pitchFamily="34" charset="-120"/>
              </a:rPr>
              <a:t>7,854 hrs</a:t>
            </a:r>
            <a:endParaRPr lang="en-US" sz="1400" noProof="0" dirty="0">
              <a:latin typeface="Arial Narrow" panose="020B0606020202030204" pitchFamily="34" charset="0"/>
            </a:endParaRPr>
          </a:p>
          <a:p>
            <a:pPr algn="ctr" latinLnBrk="0"/>
            <a:r>
              <a:rPr lang="en-US" sz="1400" b="1" noProof="0" dirty="0">
                <a:latin typeface="Arial Narrow" panose="020B0606020202030204" pitchFamily="34" charset="0"/>
                <a:ea typeface="Calibri" pitchFamily="34" charset="-122"/>
                <a:cs typeface="Calibri" pitchFamily="34" charset="-120"/>
              </a:rPr>
              <a:t>→ 432 hrs</a:t>
            </a:r>
            <a:endParaRPr lang="en-US" sz="1400" noProof="0" dirty="0">
              <a:latin typeface="Arial Narrow" panose="020B0606020202030204" pitchFamily="34" charset="0"/>
            </a:endParaRPr>
          </a:p>
        </p:txBody>
      </p:sp>
      <p:sp>
        <p:nvSpPr>
          <p:cNvPr id="21" name="Shape 27">
            <a:extLst>
              <a:ext uri="{FF2B5EF4-FFF2-40B4-BE49-F238E27FC236}">
                <a16:creationId xmlns:a16="http://schemas.microsoft.com/office/drawing/2014/main" id="{348DFA99-2381-7EA3-2395-CB1C206CF329}"/>
              </a:ext>
            </a:extLst>
          </p:cNvPr>
          <p:cNvSpPr/>
          <p:nvPr/>
        </p:nvSpPr>
        <p:spPr>
          <a:xfrm>
            <a:off x="5063561" y="1460222"/>
            <a:ext cx="208769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22" name="Text 28">
            <a:extLst>
              <a:ext uri="{FF2B5EF4-FFF2-40B4-BE49-F238E27FC236}">
                <a16:creationId xmlns:a16="http://schemas.microsoft.com/office/drawing/2014/main" id="{0D704004-5A5A-6D3C-B8B9-2BACC2F7A856}"/>
              </a:ext>
            </a:extLst>
          </p:cNvPr>
          <p:cNvSpPr/>
          <p:nvPr/>
        </p:nvSpPr>
        <p:spPr>
          <a:xfrm>
            <a:off x="5011554" y="1489940"/>
            <a:ext cx="2191703"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Annual hours (7 eng)</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7인 연간 소요시간</a:t>
            </a:r>
            <a:endParaRPr lang="en-US" sz="1200" noProof="0" dirty="0">
              <a:solidFill>
                <a:srgbClr val="008000"/>
              </a:solidFill>
              <a:latin typeface="Arial Narrow" panose="020B0606020202030204" pitchFamily="34" charset="0"/>
            </a:endParaRPr>
          </a:p>
        </p:txBody>
      </p:sp>
      <p:sp>
        <p:nvSpPr>
          <p:cNvPr id="23" name="Text 29">
            <a:extLst>
              <a:ext uri="{FF2B5EF4-FFF2-40B4-BE49-F238E27FC236}">
                <a16:creationId xmlns:a16="http://schemas.microsoft.com/office/drawing/2014/main" id="{D6CDCC9B-2FD0-1BA9-ADF3-A7E990076516}"/>
              </a:ext>
            </a:extLst>
          </p:cNvPr>
          <p:cNvSpPr/>
          <p:nvPr/>
        </p:nvSpPr>
        <p:spPr>
          <a:xfrm>
            <a:off x="5011554" y="1947118"/>
            <a:ext cx="2191703" cy="185738"/>
          </a:xfrm>
          <a:prstGeom prst="rect">
            <a:avLst/>
          </a:prstGeom>
          <a:noFill/>
          <a:ln>
            <a:noFill/>
          </a:ln>
        </p:spPr>
        <p:txBody>
          <a:bodyPr wrap="square" rtlCol="0" anchor="ctr"/>
          <a:lstStyle/>
          <a:p>
            <a:pPr algn="ctr" latinLnBrk="0"/>
            <a:r>
              <a:rPr lang="en-US" sz="1200" b="1" noProof="0" dirty="0">
                <a:solidFill>
                  <a:srgbClr val="FF0000"/>
                </a:solidFill>
                <a:latin typeface="Arial Narrow" panose="020B0606020202030204" pitchFamily="34" charset="0"/>
                <a:ea typeface="Calibri" pitchFamily="34" charset="-122"/>
                <a:cs typeface="Calibri" pitchFamily="34" charset="-120"/>
              </a:rPr>
              <a:t>−94% per year</a:t>
            </a:r>
            <a:endParaRPr lang="en-US" sz="1200" noProof="0" dirty="0">
              <a:solidFill>
                <a:srgbClr val="FF0000"/>
              </a:solidFill>
              <a:latin typeface="Arial Narrow" panose="020B0606020202030204" pitchFamily="34" charset="0"/>
            </a:endParaRPr>
          </a:p>
        </p:txBody>
      </p:sp>
      <p:sp>
        <p:nvSpPr>
          <p:cNvPr id="24" name="Shape 30">
            <a:extLst>
              <a:ext uri="{FF2B5EF4-FFF2-40B4-BE49-F238E27FC236}">
                <a16:creationId xmlns:a16="http://schemas.microsoft.com/office/drawing/2014/main" id="{24C0CB3B-CB17-826D-B17E-B19DB0EFA2C1}"/>
              </a:ext>
            </a:extLst>
          </p:cNvPr>
          <p:cNvSpPr/>
          <p:nvPr/>
        </p:nvSpPr>
        <p:spPr>
          <a:xfrm>
            <a:off x="7388994" y="865861"/>
            <a:ext cx="2265998" cy="1309307"/>
          </a:xfrm>
          <a:prstGeom prst="rect">
            <a:avLst/>
          </a:prstGeom>
          <a:solidFill>
            <a:srgbClr val="FFFFFF"/>
          </a:solidFill>
          <a:ln w="12700">
            <a:noFill/>
            <a:prstDash val="solid"/>
          </a:ln>
          <a:effectLst>
            <a:outerShdw blurRad="50800" dist="25400" dir="8100000" algn="bl" rotWithShape="0">
              <a:srgbClr val="000000">
                <a:alpha val="8000"/>
              </a:srgbClr>
            </a:outerShdw>
          </a:effectLst>
        </p:spPr>
        <p:txBody>
          <a:bodyPr/>
          <a:lstStyle/>
          <a:p>
            <a:pPr latinLnBrk="0"/>
            <a:endParaRPr lang="en-US" sz="1200" noProof="0" dirty="0">
              <a:latin typeface="Arial Narrow" panose="020B0606020202030204" pitchFamily="34" charset="0"/>
            </a:endParaRPr>
          </a:p>
        </p:txBody>
      </p:sp>
      <p:sp>
        <p:nvSpPr>
          <p:cNvPr id="25" name="Shape 31">
            <a:extLst>
              <a:ext uri="{FF2B5EF4-FFF2-40B4-BE49-F238E27FC236}">
                <a16:creationId xmlns:a16="http://schemas.microsoft.com/office/drawing/2014/main" id="{E6BC6968-80A0-EA7C-D7EF-EFB1CF852132}"/>
              </a:ext>
            </a:extLst>
          </p:cNvPr>
          <p:cNvSpPr/>
          <p:nvPr/>
        </p:nvSpPr>
        <p:spPr>
          <a:xfrm>
            <a:off x="7388994" y="865862"/>
            <a:ext cx="2265998" cy="44577"/>
          </a:xfrm>
          <a:prstGeom prst="rect">
            <a:avLst/>
          </a:prstGeom>
          <a:solidFill>
            <a:srgbClr val="1E7F4E"/>
          </a:solidFill>
          <a:ln w="12700">
            <a:noFill/>
            <a:prstDash val="solid"/>
          </a:ln>
        </p:spPr>
        <p:txBody>
          <a:bodyPr/>
          <a:lstStyle/>
          <a:p>
            <a:pPr latinLnBrk="0"/>
            <a:endParaRPr lang="en-US" sz="1200" noProof="0" dirty="0">
              <a:latin typeface="Arial Narrow" panose="020B0606020202030204" pitchFamily="34" charset="0"/>
            </a:endParaRPr>
          </a:p>
        </p:txBody>
      </p:sp>
      <p:sp>
        <p:nvSpPr>
          <p:cNvPr id="26" name="Text 32">
            <a:extLst>
              <a:ext uri="{FF2B5EF4-FFF2-40B4-BE49-F238E27FC236}">
                <a16:creationId xmlns:a16="http://schemas.microsoft.com/office/drawing/2014/main" id="{0DF38890-E873-FF66-58DB-BE808427338C}"/>
              </a:ext>
            </a:extLst>
          </p:cNvPr>
          <p:cNvSpPr/>
          <p:nvPr/>
        </p:nvSpPr>
        <p:spPr>
          <a:xfrm>
            <a:off x="7388994" y="910439"/>
            <a:ext cx="2265998" cy="534924"/>
          </a:xfrm>
          <a:prstGeom prst="rect">
            <a:avLst/>
          </a:prstGeom>
          <a:noFill/>
          <a:ln>
            <a:noFill/>
          </a:ln>
        </p:spPr>
        <p:txBody>
          <a:bodyPr wrap="square" rtlCol="0" anchor="ctr"/>
          <a:lstStyle/>
          <a:p>
            <a:pPr algn="ctr" latinLnBrk="0"/>
            <a:r>
              <a:rPr lang="en-US" sz="1400" b="1" noProof="0" dirty="0">
                <a:solidFill>
                  <a:srgbClr val="008000"/>
                </a:solidFill>
                <a:latin typeface="Arial Narrow" panose="020B0606020202030204" pitchFamily="34" charset="0"/>
                <a:ea typeface="Calibri" pitchFamily="34" charset="-122"/>
                <a:cs typeface="Calibri" pitchFamily="34" charset="-120"/>
              </a:rPr>
              <a:t>$314,160</a:t>
            </a:r>
            <a:endParaRPr lang="en-US" sz="1400" noProof="0" dirty="0">
              <a:solidFill>
                <a:srgbClr val="008000"/>
              </a:solidFill>
              <a:latin typeface="Arial Narrow" panose="020B0606020202030204" pitchFamily="34" charset="0"/>
            </a:endParaRPr>
          </a:p>
        </p:txBody>
      </p:sp>
      <p:sp>
        <p:nvSpPr>
          <p:cNvPr id="27" name="Shape 33">
            <a:extLst>
              <a:ext uri="{FF2B5EF4-FFF2-40B4-BE49-F238E27FC236}">
                <a16:creationId xmlns:a16="http://schemas.microsoft.com/office/drawing/2014/main" id="{E680148C-5F0A-CC68-83D7-B369C3A512BD}"/>
              </a:ext>
            </a:extLst>
          </p:cNvPr>
          <p:cNvSpPr/>
          <p:nvPr/>
        </p:nvSpPr>
        <p:spPr>
          <a:xfrm>
            <a:off x="7478148" y="1460222"/>
            <a:ext cx="208769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28" name="Text 34">
            <a:extLst>
              <a:ext uri="{FF2B5EF4-FFF2-40B4-BE49-F238E27FC236}">
                <a16:creationId xmlns:a16="http://schemas.microsoft.com/office/drawing/2014/main" id="{DDB8BE56-6976-BA64-80D7-56007D4E7EFB}"/>
              </a:ext>
            </a:extLst>
          </p:cNvPr>
          <p:cNvSpPr/>
          <p:nvPr/>
        </p:nvSpPr>
        <p:spPr>
          <a:xfrm>
            <a:off x="7426142" y="1489940"/>
            <a:ext cx="2191703"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Annual cost saved</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연간 절감액 (40$/hr)</a:t>
            </a:r>
            <a:endParaRPr lang="en-US" sz="1200" noProof="0" dirty="0">
              <a:solidFill>
                <a:srgbClr val="008000"/>
              </a:solidFill>
              <a:latin typeface="Arial Narrow" panose="020B0606020202030204" pitchFamily="34" charset="0"/>
            </a:endParaRPr>
          </a:p>
        </p:txBody>
      </p:sp>
      <p:sp>
        <p:nvSpPr>
          <p:cNvPr id="29" name="Text 35">
            <a:extLst>
              <a:ext uri="{FF2B5EF4-FFF2-40B4-BE49-F238E27FC236}">
                <a16:creationId xmlns:a16="http://schemas.microsoft.com/office/drawing/2014/main" id="{3170E6CD-CE97-6539-7C89-3E9BF97553A6}"/>
              </a:ext>
            </a:extLst>
          </p:cNvPr>
          <p:cNvSpPr/>
          <p:nvPr/>
        </p:nvSpPr>
        <p:spPr>
          <a:xfrm>
            <a:off x="7426142" y="1947118"/>
            <a:ext cx="2191703" cy="185738"/>
          </a:xfrm>
          <a:prstGeom prst="rect">
            <a:avLst/>
          </a:prstGeom>
          <a:noFill/>
          <a:ln>
            <a:noFill/>
          </a:ln>
        </p:spPr>
        <p:txBody>
          <a:bodyPr wrap="square" rtlCol="0" anchor="ctr"/>
          <a:lstStyle/>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7 engineers × 12 mo.</a:t>
            </a:r>
            <a:endParaRPr lang="en-US" sz="1200" noProof="0" dirty="0">
              <a:solidFill>
                <a:srgbClr val="008000"/>
              </a:solidFill>
              <a:latin typeface="Arial Narrow" panose="020B0606020202030204" pitchFamily="34" charset="0"/>
            </a:endParaRPr>
          </a:p>
        </p:txBody>
      </p:sp>
      <p:sp>
        <p:nvSpPr>
          <p:cNvPr id="30" name="Shape 36">
            <a:extLst>
              <a:ext uri="{FF2B5EF4-FFF2-40B4-BE49-F238E27FC236}">
                <a16:creationId xmlns:a16="http://schemas.microsoft.com/office/drawing/2014/main" id="{864E9114-DD2C-9719-F570-455E7C3B8C37}"/>
              </a:ext>
            </a:extLst>
          </p:cNvPr>
          <p:cNvSpPr/>
          <p:nvPr/>
        </p:nvSpPr>
        <p:spPr>
          <a:xfrm>
            <a:off x="145232" y="2212316"/>
            <a:ext cx="9584055" cy="208026"/>
          </a:xfrm>
          <a:prstGeom prst="rect">
            <a:avLst/>
          </a:prstGeom>
          <a:noFill/>
          <a:ln w="12700">
            <a:noFill/>
            <a:prstDash val="solid"/>
          </a:ln>
        </p:spPr>
        <p:txBody>
          <a:bodyPr/>
          <a:lstStyle/>
          <a:p>
            <a:pPr latinLnBrk="0"/>
            <a:endParaRPr lang="en-US" sz="1200" noProof="0" dirty="0">
              <a:latin typeface="Arial Narrow" panose="020B0606020202030204" pitchFamily="34" charset="0"/>
            </a:endParaRPr>
          </a:p>
        </p:txBody>
      </p:sp>
      <p:sp>
        <p:nvSpPr>
          <p:cNvPr id="31" name="Text 37">
            <a:extLst>
              <a:ext uri="{FF2B5EF4-FFF2-40B4-BE49-F238E27FC236}">
                <a16:creationId xmlns:a16="http://schemas.microsoft.com/office/drawing/2014/main" id="{07A37F78-C4F4-D392-A72A-BBA927C3DC32}"/>
              </a:ext>
            </a:extLst>
          </p:cNvPr>
          <p:cNvSpPr/>
          <p:nvPr/>
        </p:nvSpPr>
        <p:spPr>
          <a:xfrm>
            <a:off x="145232" y="2212316"/>
            <a:ext cx="9584055" cy="208026"/>
          </a:xfrm>
          <a:prstGeom prst="rect">
            <a:avLst/>
          </a:prstGeom>
          <a:noFill/>
          <a:ln>
            <a:noFill/>
          </a:ln>
        </p:spPr>
        <p:txBody>
          <a:bodyPr wrap="square" lIns="0" tIns="0" rIns="0" bIns="0" rtlCol="0" anchor="ctr"/>
          <a:lstStyle/>
          <a:p>
            <a:pPr algn="ctr" latinLnBrk="0"/>
            <a:r>
              <a:rPr lang="en-US" sz="1400" b="1" noProof="0" dirty="0">
                <a:latin typeface="Arial Narrow" panose="020B0606020202030204" pitchFamily="34" charset="0"/>
                <a:ea typeface="Calibri" pitchFamily="34" charset="-122"/>
                <a:cs typeface="Calibri" pitchFamily="34" charset="-120"/>
              </a:rPr>
              <a:t>⬛ Additional Quantitative KPIs  /  </a:t>
            </a:r>
            <a:r>
              <a:rPr lang="en-US" sz="1400" b="1" noProof="0" dirty="0">
                <a:solidFill>
                  <a:srgbClr val="008000"/>
                </a:solidFill>
                <a:latin typeface="Arial Narrow" panose="020B0606020202030204" pitchFamily="34" charset="0"/>
                <a:ea typeface="Calibri" pitchFamily="34" charset="-122"/>
                <a:cs typeface="Calibri" pitchFamily="34" charset="-120"/>
              </a:rPr>
              <a:t>추가 정량 KPI</a:t>
            </a:r>
            <a:endParaRPr lang="en-US" sz="1400" noProof="0" dirty="0">
              <a:solidFill>
                <a:srgbClr val="008000"/>
              </a:solidFill>
              <a:latin typeface="Arial Narrow" panose="020B0606020202030204" pitchFamily="34" charset="0"/>
            </a:endParaRPr>
          </a:p>
        </p:txBody>
      </p:sp>
      <p:sp>
        <p:nvSpPr>
          <p:cNvPr id="32" name="Shape 38">
            <a:extLst>
              <a:ext uri="{FF2B5EF4-FFF2-40B4-BE49-F238E27FC236}">
                <a16:creationId xmlns:a16="http://schemas.microsoft.com/office/drawing/2014/main" id="{69DF1C7D-D573-A595-897C-659A0D82E29C}"/>
              </a:ext>
            </a:extLst>
          </p:cNvPr>
          <p:cNvSpPr/>
          <p:nvPr/>
        </p:nvSpPr>
        <p:spPr>
          <a:xfrm>
            <a:off x="145232" y="2457489"/>
            <a:ext cx="1485900" cy="1550413"/>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33" name="Shape 39">
            <a:extLst>
              <a:ext uri="{FF2B5EF4-FFF2-40B4-BE49-F238E27FC236}">
                <a16:creationId xmlns:a16="http://schemas.microsoft.com/office/drawing/2014/main" id="{90E4711E-8F2E-8DD5-180B-CD9B7575326D}"/>
              </a:ext>
            </a:extLst>
          </p:cNvPr>
          <p:cNvSpPr/>
          <p:nvPr/>
        </p:nvSpPr>
        <p:spPr>
          <a:xfrm>
            <a:off x="145232" y="2457489"/>
            <a:ext cx="1485900" cy="37148"/>
          </a:xfrm>
          <a:prstGeom prst="rect">
            <a:avLst/>
          </a:prstGeom>
          <a:solidFill>
            <a:srgbClr val="C8102E"/>
          </a:solidFill>
          <a:ln w="12700">
            <a:noFill/>
            <a:prstDash val="solid"/>
          </a:ln>
        </p:spPr>
        <p:txBody>
          <a:bodyPr/>
          <a:lstStyle/>
          <a:p>
            <a:pPr latinLnBrk="0"/>
            <a:endParaRPr lang="en-US" sz="1200" noProof="0" dirty="0">
              <a:latin typeface="Arial Narrow" panose="020B0606020202030204" pitchFamily="34" charset="0"/>
            </a:endParaRPr>
          </a:p>
        </p:txBody>
      </p:sp>
      <p:sp>
        <p:nvSpPr>
          <p:cNvPr id="34" name="Text 40">
            <a:extLst>
              <a:ext uri="{FF2B5EF4-FFF2-40B4-BE49-F238E27FC236}">
                <a16:creationId xmlns:a16="http://schemas.microsoft.com/office/drawing/2014/main" id="{A2DA5898-2BF5-B179-56D0-B0F295C73AD9}"/>
              </a:ext>
            </a:extLst>
          </p:cNvPr>
          <p:cNvSpPr/>
          <p:nvPr/>
        </p:nvSpPr>
        <p:spPr>
          <a:xfrm>
            <a:off x="145232" y="2494637"/>
            <a:ext cx="1485900" cy="460629"/>
          </a:xfrm>
          <a:prstGeom prst="rect">
            <a:avLst/>
          </a:prstGeom>
          <a:noFill/>
          <a:ln>
            <a:noFill/>
          </a:ln>
        </p:spPr>
        <p:txBody>
          <a:bodyPr wrap="square" rtlCol="0" anchor="ctr"/>
          <a:lstStyle/>
          <a:p>
            <a:pPr algn="ctr" latinLnBrk="0"/>
            <a:r>
              <a:rPr lang="en-US" sz="1400" b="1" noProof="0" dirty="0">
                <a:solidFill>
                  <a:srgbClr val="FF0000"/>
                </a:solidFill>
                <a:latin typeface="Arial Narrow" panose="020B0606020202030204" pitchFamily="34" charset="0"/>
                <a:ea typeface="Calibri" pitchFamily="34" charset="-122"/>
                <a:cs typeface="Calibri" pitchFamily="34" charset="-120"/>
              </a:rPr>
              <a:t>−30%</a:t>
            </a:r>
            <a:endParaRPr lang="en-US" sz="1400" noProof="0" dirty="0">
              <a:solidFill>
                <a:srgbClr val="FF0000"/>
              </a:solidFill>
              <a:latin typeface="Arial Narrow" panose="020B0606020202030204" pitchFamily="34" charset="0"/>
            </a:endParaRPr>
          </a:p>
        </p:txBody>
      </p:sp>
      <p:sp>
        <p:nvSpPr>
          <p:cNvPr id="35" name="Shape 41">
            <a:extLst>
              <a:ext uri="{FF2B5EF4-FFF2-40B4-BE49-F238E27FC236}">
                <a16:creationId xmlns:a16="http://schemas.microsoft.com/office/drawing/2014/main" id="{EB163AF3-87F9-B93B-6BEB-D70E57AC3139}"/>
              </a:ext>
            </a:extLst>
          </p:cNvPr>
          <p:cNvSpPr/>
          <p:nvPr/>
        </p:nvSpPr>
        <p:spPr>
          <a:xfrm>
            <a:off x="219527" y="2970125"/>
            <a:ext cx="133731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36" name="Text 42">
            <a:extLst>
              <a:ext uri="{FF2B5EF4-FFF2-40B4-BE49-F238E27FC236}">
                <a16:creationId xmlns:a16="http://schemas.microsoft.com/office/drawing/2014/main" id="{96CDE78C-5399-0A13-F802-6DA98D5E18F8}"/>
              </a:ext>
            </a:extLst>
          </p:cNvPr>
          <p:cNvSpPr/>
          <p:nvPr/>
        </p:nvSpPr>
        <p:spPr>
          <a:xfrm>
            <a:off x="182380" y="3133193"/>
            <a:ext cx="1411605"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Manual search time</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수기 검색 시간</a:t>
            </a:r>
            <a:endParaRPr lang="en-US" sz="1200" noProof="0" dirty="0">
              <a:solidFill>
                <a:srgbClr val="008000"/>
              </a:solidFill>
              <a:latin typeface="Arial Narrow" panose="020B0606020202030204" pitchFamily="34" charset="0"/>
            </a:endParaRPr>
          </a:p>
        </p:txBody>
      </p:sp>
      <p:sp>
        <p:nvSpPr>
          <p:cNvPr id="37" name="Text 43">
            <a:extLst>
              <a:ext uri="{FF2B5EF4-FFF2-40B4-BE49-F238E27FC236}">
                <a16:creationId xmlns:a16="http://schemas.microsoft.com/office/drawing/2014/main" id="{A81FF1B4-E1AC-C4B1-51C8-E7B68EF585A0}"/>
              </a:ext>
            </a:extLst>
          </p:cNvPr>
          <p:cNvSpPr/>
          <p:nvPr/>
        </p:nvSpPr>
        <p:spPr>
          <a:xfrm>
            <a:off x="182380" y="3709030"/>
            <a:ext cx="1411605" cy="222885"/>
          </a:xfrm>
          <a:prstGeom prst="rect">
            <a:avLst/>
          </a:prstGeom>
          <a:noFill/>
          <a:ln>
            <a:noFill/>
          </a:ln>
        </p:spPr>
        <p:txBody>
          <a:bodyPr wrap="square" rtlCol="0" anchor="ctr"/>
          <a:lstStyle/>
          <a:p>
            <a:pPr algn="ctr" latinLnBrk="0"/>
            <a:r>
              <a:rPr lang="en-US" sz="1200" i="1" noProof="0" dirty="0">
                <a:latin typeface="Arial Narrow" panose="020B0606020202030204" pitchFamily="34" charset="0"/>
              </a:rPr>
              <a:t>Pilot (target)</a:t>
            </a:r>
          </a:p>
        </p:txBody>
      </p:sp>
      <p:sp>
        <p:nvSpPr>
          <p:cNvPr id="38" name="Shape 44">
            <a:extLst>
              <a:ext uri="{FF2B5EF4-FFF2-40B4-BE49-F238E27FC236}">
                <a16:creationId xmlns:a16="http://schemas.microsoft.com/office/drawing/2014/main" id="{408D3A73-E359-0E49-906F-3E13349F8654}"/>
              </a:ext>
            </a:extLst>
          </p:cNvPr>
          <p:cNvSpPr/>
          <p:nvPr/>
        </p:nvSpPr>
        <p:spPr>
          <a:xfrm>
            <a:off x="1750004" y="2457489"/>
            <a:ext cx="1485900" cy="1550413"/>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39" name="Shape 45">
            <a:extLst>
              <a:ext uri="{FF2B5EF4-FFF2-40B4-BE49-F238E27FC236}">
                <a16:creationId xmlns:a16="http://schemas.microsoft.com/office/drawing/2014/main" id="{7755B73C-83EC-8C5D-6EC8-6149647E9A49}"/>
              </a:ext>
            </a:extLst>
          </p:cNvPr>
          <p:cNvSpPr/>
          <p:nvPr/>
        </p:nvSpPr>
        <p:spPr>
          <a:xfrm>
            <a:off x="1750004" y="2457489"/>
            <a:ext cx="1485900" cy="37148"/>
          </a:xfrm>
          <a:prstGeom prst="rect">
            <a:avLst/>
          </a:prstGeom>
          <a:solidFill>
            <a:srgbClr val="C8102E"/>
          </a:solidFill>
          <a:ln w="12700">
            <a:noFill/>
            <a:prstDash val="solid"/>
          </a:ln>
        </p:spPr>
        <p:txBody>
          <a:bodyPr/>
          <a:lstStyle/>
          <a:p>
            <a:pPr latinLnBrk="0"/>
            <a:endParaRPr lang="en-US" sz="1200" noProof="0" dirty="0">
              <a:latin typeface="Arial Narrow" panose="020B0606020202030204" pitchFamily="34" charset="0"/>
            </a:endParaRPr>
          </a:p>
        </p:txBody>
      </p:sp>
      <p:sp>
        <p:nvSpPr>
          <p:cNvPr id="40" name="Text 46">
            <a:extLst>
              <a:ext uri="{FF2B5EF4-FFF2-40B4-BE49-F238E27FC236}">
                <a16:creationId xmlns:a16="http://schemas.microsoft.com/office/drawing/2014/main" id="{565E082B-268F-0A40-1810-3AEB5A6092F9}"/>
              </a:ext>
            </a:extLst>
          </p:cNvPr>
          <p:cNvSpPr/>
          <p:nvPr/>
        </p:nvSpPr>
        <p:spPr>
          <a:xfrm>
            <a:off x="1750004" y="2494637"/>
            <a:ext cx="1485900" cy="460629"/>
          </a:xfrm>
          <a:prstGeom prst="rect">
            <a:avLst/>
          </a:prstGeom>
          <a:noFill/>
          <a:ln>
            <a:noFill/>
          </a:ln>
        </p:spPr>
        <p:txBody>
          <a:bodyPr wrap="square" rtlCol="0" anchor="ctr"/>
          <a:lstStyle/>
          <a:p>
            <a:pPr algn="ctr" latinLnBrk="0"/>
            <a:r>
              <a:rPr lang="en-US" sz="1400" b="1" noProof="0" dirty="0">
                <a:solidFill>
                  <a:srgbClr val="FF0000"/>
                </a:solidFill>
                <a:latin typeface="Arial Narrow" panose="020B0606020202030204" pitchFamily="34" charset="0"/>
                <a:ea typeface="Calibri" pitchFamily="34" charset="-122"/>
                <a:cs typeface="Calibri" pitchFamily="34" charset="-120"/>
              </a:rPr>
              <a:t>−70%</a:t>
            </a:r>
            <a:endParaRPr lang="en-US" sz="1400" noProof="0" dirty="0">
              <a:solidFill>
                <a:srgbClr val="FF0000"/>
              </a:solidFill>
              <a:latin typeface="Arial Narrow" panose="020B0606020202030204" pitchFamily="34" charset="0"/>
            </a:endParaRPr>
          </a:p>
        </p:txBody>
      </p:sp>
      <p:sp>
        <p:nvSpPr>
          <p:cNvPr id="41" name="Shape 47">
            <a:extLst>
              <a:ext uri="{FF2B5EF4-FFF2-40B4-BE49-F238E27FC236}">
                <a16:creationId xmlns:a16="http://schemas.microsoft.com/office/drawing/2014/main" id="{28E42A4D-0843-88C4-B63E-E414E7FC09BD}"/>
              </a:ext>
            </a:extLst>
          </p:cNvPr>
          <p:cNvSpPr/>
          <p:nvPr/>
        </p:nvSpPr>
        <p:spPr>
          <a:xfrm>
            <a:off x="1824299" y="2970125"/>
            <a:ext cx="133731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42" name="Text 48">
            <a:extLst>
              <a:ext uri="{FF2B5EF4-FFF2-40B4-BE49-F238E27FC236}">
                <a16:creationId xmlns:a16="http://schemas.microsoft.com/office/drawing/2014/main" id="{0FCCCEE4-AD45-9CF7-5CB7-39BF992F33EC}"/>
              </a:ext>
            </a:extLst>
          </p:cNvPr>
          <p:cNvSpPr/>
          <p:nvPr/>
        </p:nvSpPr>
        <p:spPr>
          <a:xfrm>
            <a:off x="1787152" y="3133193"/>
            <a:ext cx="1411605"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Analysis time</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분석 소요 시간</a:t>
            </a:r>
            <a:endParaRPr lang="en-US" sz="1200" noProof="0" dirty="0">
              <a:solidFill>
                <a:srgbClr val="008000"/>
              </a:solidFill>
              <a:latin typeface="Arial Narrow" panose="020B0606020202030204" pitchFamily="34" charset="0"/>
            </a:endParaRPr>
          </a:p>
        </p:txBody>
      </p:sp>
      <p:sp>
        <p:nvSpPr>
          <p:cNvPr id="43" name="Text 49">
            <a:extLst>
              <a:ext uri="{FF2B5EF4-FFF2-40B4-BE49-F238E27FC236}">
                <a16:creationId xmlns:a16="http://schemas.microsoft.com/office/drawing/2014/main" id="{9A167B79-0FF7-3889-ED8B-7D3C43797562}"/>
              </a:ext>
            </a:extLst>
          </p:cNvPr>
          <p:cNvSpPr/>
          <p:nvPr/>
        </p:nvSpPr>
        <p:spPr>
          <a:xfrm>
            <a:off x="1787152" y="3709030"/>
            <a:ext cx="1411605" cy="222885"/>
          </a:xfrm>
          <a:prstGeom prst="rect">
            <a:avLst/>
          </a:prstGeom>
          <a:noFill/>
          <a:ln>
            <a:noFill/>
          </a:ln>
        </p:spPr>
        <p:txBody>
          <a:bodyPr wrap="square" rtlCol="0" anchor="ctr"/>
          <a:lstStyle/>
          <a:p>
            <a:pPr algn="ctr" latinLnBrk="0"/>
            <a:r>
              <a:rPr lang="en-US" sz="1200" i="1" noProof="0" dirty="0">
                <a:latin typeface="Arial Narrow" panose="020B0606020202030204" pitchFamily="34" charset="0"/>
                <a:ea typeface="Calibri" pitchFamily="34" charset="-122"/>
                <a:cs typeface="Calibri" pitchFamily="34" charset="-120"/>
              </a:rPr>
              <a:t>Pilot (target)</a:t>
            </a:r>
            <a:endParaRPr lang="en-US" sz="1200" noProof="0" dirty="0">
              <a:latin typeface="Arial Narrow" panose="020B0606020202030204" pitchFamily="34" charset="0"/>
            </a:endParaRPr>
          </a:p>
        </p:txBody>
      </p:sp>
      <p:sp>
        <p:nvSpPr>
          <p:cNvPr id="44" name="Shape 50">
            <a:extLst>
              <a:ext uri="{FF2B5EF4-FFF2-40B4-BE49-F238E27FC236}">
                <a16:creationId xmlns:a16="http://schemas.microsoft.com/office/drawing/2014/main" id="{35D3C7B8-9CBF-6A90-8FDC-EB17B223A27D}"/>
              </a:ext>
            </a:extLst>
          </p:cNvPr>
          <p:cNvSpPr/>
          <p:nvPr/>
        </p:nvSpPr>
        <p:spPr>
          <a:xfrm>
            <a:off x="3354776" y="2457489"/>
            <a:ext cx="1485900" cy="1550413"/>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45" name="Shape 51">
            <a:extLst>
              <a:ext uri="{FF2B5EF4-FFF2-40B4-BE49-F238E27FC236}">
                <a16:creationId xmlns:a16="http://schemas.microsoft.com/office/drawing/2014/main" id="{D9695382-0713-FF15-C15D-BD5743C06F79}"/>
              </a:ext>
            </a:extLst>
          </p:cNvPr>
          <p:cNvSpPr/>
          <p:nvPr/>
        </p:nvSpPr>
        <p:spPr>
          <a:xfrm>
            <a:off x="3354776" y="2457489"/>
            <a:ext cx="1485900" cy="37148"/>
          </a:xfrm>
          <a:prstGeom prst="rect">
            <a:avLst/>
          </a:prstGeom>
          <a:solidFill>
            <a:srgbClr val="C8102E"/>
          </a:solidFill>
          <a:ln w="12700">
            <a:noFill/>
            <a:prstDash val="solid"/>
          </a:ln>
        </p:spPr>
        <p:txBody>
          <a:bodyPr/>
          <a:lstStyle/>
          <a:p>
            <a:pPr latinLnBrk="0"/>
            <a:endParaRPr lang="en-US" sz="1200" noProof="0" dirty="0">
              <a:latin typeface="Arial Narrow" panose="020B0606020202030204" pitchFamily="34" charset="0"/>
            </a:endParaRPr>
          </a:p>
        </p:txBody>
      </p:sp>
      <p:sp>
        <p:nvSpPr>
          <p:cNvPr id="46" name="Text 52">
            <a:extLst>
              <a:ext uri="{FF2B5EF4-FFF2-40B4-BE49-F238E27FC236}">
                <a16:creationId xmlns:a16="http://schemas.microsoft.com/office/drawing/2014/main" id="{576A6BE6-7D7E-642F-F6B0-C826266897F1}"/>
              </a:ext>
            </a:extLst>
          </p:cNvPr>
          <p:cNvSpPr/>
          <p:nvPr/>
        </p:nvSpPr>
        <p:spPr>
          <a:xfrm>
            <a:off x="3354776" y="2494637"/>
            <a:ext cx="1485900" cy="460629"/>
          </a:xfrm>
          <a:prstGeom prst="rect">
            <a:avLst/>
          </a:prstGeom>
          <a:noFill/>
          <a:ln>
            <a:noFill/>
          </a:ln>
        </p:spPr>
        <p:txBody>
          <a:bodyPr wrap="square" rtlCol="0" anchor="ctr"/>
          <a:lstStyle/>
          <a:p>
            <a:pPr algn="ctr" latinLnBrk="0"/>
            <a:r>
              <a:rPr lang="en-US" sz="1400" b="1" noProof="0" dirty="0">
                <a:solidFill>
                  <a:srgbClr val="FF0000"/>
                </a:solidFill>
                <a:latin typeface="Arial Narrow" panose="020B0606020202030204" pitchFamily="34" charset="0"/>
                <a:ea typeface="Calibri" pitchFamily="34" charset="-122"/>
                <a:cs typeface="Calibri" pitchFamily="34" charset="-120"/>
              </a:rPr>
              <a:t>−20%</a:t>
            </a:r>
            <a:endParaRPr lang="en-US" sz="1400" noProof="0" dirty="0">
              <a:solidFill>
                <a:srgbClr val="FF0000"/>
              </a:solidFill>
              <a:latin typeface="Arial Narrow" panose="020B0606020202030204" pitchFamily="34" charset="0"/>
            </a:endParaRPr>
          </a:p>
        </p:txBody>
      </p:sp>
      <p:sp>
        <p:nvSpPr>
          <p:cNvPr id="47" name="Shape 53">
            <a:extLst>
              <a:ext uri="{FF2B5EF4-FFF2-40B4-BE49-F238E27FC236}">
                <a16:creationId xmlns:a16="http://schemas.microsoft.com/office/drawing/2014/main" id="{CB764442-E640-7E23-FFEB-3A4726968BC6}"/>
              </a:ext>
            </a:extLst>
          </p:cNvPr>
          <p:cNvSpPr/>
          <p:nvPr/>
        </p:nvSpPr>
        <p:spPr>
          <a:xfrm>
            <a:off x="3429071" y="2970125"/>
            <a:ext cx="133731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48" name="Text 54">
            <a:extLst>
              <a:ext uri="{FF2B5EF4-FFF2-40B4-BE49-F238E27FC236}">
                <a16:creationId xmlns:a16="http://schemas.microsoft.com/office/drawing/2014/main" id="{1CD70EBC-A0BB-276B-CCC8-A0A73CE44736}"/>
              </a:ext>
            </a:extLst>
          </p:cNvPr>
          <p:cNvSpPr/>
          <p:nvPr/>
        </p:nvSpPr>
        <p:spPr>
          <a:xfrm>
            <a:off x="3391924" y="3133193"/>
            <a:ext cx="1411605"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Unplanned downtime</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비계획 가동 중단</a:t>
            </a:r>
            <a:endParaRPr lang="en-US" sz="1200" noProof="0" dirty="0">
              <a:solidFill>
                <a:srgbClr val="008000"/>
              </a:solidFill>
              <a:latin typeface="Arial Narrow" panose="020B0606020202030204" pitchFamily="34" charset="0"/>
            </a:endParaRPr>
          </a:p>
        </p:txBody>
      </p:sp>
      <p:sp>
        <p:nvSpPr>
          <p:cNvPr id="49" name="Text 55">
            <a:extLst>
              <a:ext uri="{FF2B5EF4-FFF2-40B4-BE49-F238E27FC236}">
                <a16:creationId xmlns:a16="http://schemas.microsoft.com/office/drawing/2014/main" id="{D9A1BD08-8B28-8660-F2B5-EB783976DA3D}"/>
              </a:ext>
            </a:extLst>
          </p:cNvPr>
          <p:cNvSpPr/>
          <p:nvPr/>
        </p:nvSpPr>
        <p:spPr>
          <a:xfrm>
            <a:off x="3391924" y="3709030"/>
            <a:ext cx="1411605" cy="222885"/>
          </a:xfrm>
          <a:prstGeom prst="rect">
            <a:avLst/>
          </a:prstGeom>
          <a:noFill/>
          <a:ln>
            <a:noFill/>
          </a:ln>
        </p:spPr>
        <p:txBody>
          <a:bodyPr wrap="square" rtlCol="0" anchor="ctr"/>
          <a:lstStyle/>
          <a:p>
            <a:pPr algn="ctr" latinLnBrk="0"/>
            <a:r>
              <a:rPr lang="en-US" sz="1200" i="1" noProof="0" dirty="0">
                <a:latin typeface="Arial Narrow" panose="020B0606020202030204" pitchFamily="34" charset="0"/>
                <a:ea typeface="Calibri" pitchFamily="34" charset="-122"/>
                <a:cs typeface="Calibri" pitchFamily="34" charset="-120"/>
              </a:rPr>
              <a:t>Target post-action</a:t>
            </a:r>
            <a:endParaRPr lang="en-US" sz="1200" noProof="0" dirty="0">
              <a:latin typeface="Arial Narrow" panose="020B0606020202030204" pitchFamily="34" charset="0"/>
            </a:endParaRPr>
          </a:p>
        </p:txBody>
      </p:sp>
      <p:sp>
        <p:nvSpPr>
          <p:cNvPr id="50" name="Shape 56">
            <a:extLst>
              <a:ext uri="{FF2B5EF4-FFF2-40B4-BE49-F238E27FC236}">
                <a16:creationId xmlns:a16="http://schemas.microsoft.com/office/drawing/2014/main" id="{9FD8F29B-D068-CBE7-7E0F-FB29DDB23122}"/>
              </a:ext>
            </a:extLst>
          </p:cNvPr>
          <p:cNvSpPr/>
          <p:nvPr/>
        </p:nvSpPr>
        <p:spPr>
          <a:xfrm>
            <a:off x="4959548" y="2457489"/>
            <a:ext cx="1485900" cy="1550413"/>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51" name="Shape 57">
            <a:extLst>
              <a:ext uri="{FF2B5EF4-FFF2-40B4-BE49-F238E27FC236}">
                <a16:creationId xmlns:a16="http://schemas.microsoft.com/office/drawing/2014/main" id="{4B2D96F0-CEF4-1662-D6C5-96B476AE6B61}"/>
              </a:ext>
            </a:extLst>
          </p:cNvPr>
          <p:cNvSpPr/>
          <p:nvPr/>
        </p:nvSpPr>
        <p:spPr>
          <a:xfrm>
            <a:off x="4959548" y="2457489"/>
            <a:ext cx="1485900" cy="37148"/>
          </a:xfrm>
          <a:prstGeom prst="rect">
            <a:avLst/>
          </a:prstGeom>
          <a:solidFill>
            <a:srgbClr val="1E7F4E"/>
          </a:solidFill>
          <a:ln w="12700">
            <a:noFill/>
            <a:prstDash val="solid"/>
          </a:ln>
        </p:spPr>
        <p:txBody>
          <a:bodyPr/>
          <a:lstStyle/>
          <a:p>
            <a:pPr latinLnBrk="0"/>
            <a:endParaRPr lang="en-US" sz="1200" noProof="0" dirty="0">
              <a:latin typeface="Arial Narrow" panose="020B0606020202030204" pitchFamily="34" charset="0"/>
            </a:endParaRPr>
          </a:p>
        </p:txBody>
      </p:sp>
      <p:sp>
        <p:nvSpPr>
          <p:cNvPr id="52" name="Text 58">
            <a:extLst>
              <a:ext uri="{FF2B5EF4-FFF2-40B4-BE49-F238E27FC236}">
                <a16:creationId xmlns:a16="http://schemas.microsoft.com/office/drawing/2014/main" id="{EE9D3B06-F375-B09D-1E1A-5D3964FA9D45}"/>
              </a:ext>
            </a:extLst>
          </p:cNvPr>
          <p:cNvSpPr/>
          <p:nvPr/>
        </p:nvSpPr>
        <p:spPr>
          <a:xfrm>
            <a:off x="4959548" y="2494637"/>
            <a:ext cx="1485900" cy="460629"/>
          </a:xfrm>
          <a:prstGeom prst="rect">
            <a:avLst/>
          </a:prstGeom>
          <a:noFill/>
          <a:ln>
            <a:noFill/>
          </a:ln>
        </p:spPr>
        <p:txBody>
          <a:bodyPr wrap="square" rtlCol="0" anchor="ctr"/>
          <a:lstStyle/>
          <a:p>
            <a:pPr algn="ctr" latinLnBrk="0"/>
            <a:r>
              <a:rPr lang="en-US" sz="1400" b="1" noProof="0" dirty="0">
                <a:solidFill>
                  <a:srgbClr val="008000"/>
                </a:solidFill>
                <a:latin typeface="Arial Narrow" panose="020B0606020202030204" pitchFamily="34" charset="0"/>
                <a:ea typeface="Calibri" pitchFamily="34" charset="-122"/>
                <a:cs typeface="Calibri" pitchFamily="34" charset="-120"/>
              </a:rPr>
              <a:t>+10%p</a:t>
            </a:r>
            <a:endParaRPr lang="en-US" sz="1400" noProof="0" dirty="0">
              <a:solidFill>
                <a:srgbClr val="008000"/>
              </a:solidFill>
              <a:latin typeface="Arial Narrow" panose="020B0606020202030204" pitchFamily="34" charset="0"/>
            </a:endParaRPr>
          </a:p>
        </p:txBody>
      </p:sp>
      <p:sp>
        <p:nvSpPr>
          <p:cNvPr id="53" name="Shape 59">
            <a:extLst>
              <a:ext uri="{FF2B5EF4-FFF2-40B4-BE49-F238E27FC236}">
                <a16:creationId xmlns:a16="http://schemas.microsoft.com/office/drawing/2014/main" id="{46B54391-7BB7-A5EF-CCB6-6189B1E8235C}"/>
              </a:ext>
            </a:extLst>
          </p:cNvPr>
          <p:cNvSpPr/>
          <p:nvPr/>
        </p:nvSpPr>
        <p:spPr>
          <a:xfrm>
            <a:off x="5033843" y="2970125"/>
            <a:ext cx="133731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54" name="Text 60">
            <a:extLst>
              <a:ext uri="{FF2B5EF4-FFF2-40B4-BE49-F238E27FC236}">
                <a16:creationId xmlns:a16="http://schemas.microsoft.com/office/drawing/2014/main" id="{A2729AAA-8255-0498-BA23-123F39FDC72D}"/>
              </a:ext>
            </a:extLst>
          </p:cNvPr>
          <p:cNvSpPr/>
          <p:nvPr/>
        </p:nvSpPr>
        <p:spPr>
          <a:xfrm>
            <a:off x="4996696" y="3133193"/>
            <a:ext cx="1411605"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PM compliance rate</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예방정비 준수율</a:t>
            </a:r>
            <a:endParaRPr lang="en-US" sz="1200" noProof="0" dirty="0">
              <a:solidFill>
                <a:srgbClr val="008000"/>
              </a:solidFill>
              <a:latin typeface="Arial Narrow" panose="020B0606020202030204" pitchFamily="34" charset="0"/>
            </a:endParaRPr>
          </a:p>
        </p:txBody>
      </p:sp>
      <p:sp>
        <p:nvSpPr>
          <p:cNvPr id="55" name="Text 61">
            <a:extLst>
              <a:ext uri="{FF2B5EF4-FFF2-40B4-BE49-F238E27FC236}">
                <a16:creationId xmlns:a16="http://schemas.microsoft.com/office/drawing/2014/main" id="{995C0185-C0D4-72FA-DDDF-7F515FEDEE7A}"/>
              </a:ext>
            </a:extLst>
          </p:cNvPr>
          <p:cNvSpPr/>
          <p:nvPr/>
        </p:nvSpPr>
        <p:spPr>
          <a:xfrm>
            <a:off x="4996696" y="3709030"/>
            <a:ext cx="1411605" cy="222885"/>
          </a:xfrm>
          <a:prstGeom prst="rect">
            <a:avLst/>
          </a:prstGeom>
          <a:noFill/>
          <a:ln>
            <a:noFill/>
          </a:ln>
        </p:spPr>
        <p:txBody>
          <a:bodyPr wrap="square" rtlCol="0" anchor="ctr"/>
          <a:lstStyle/>
          <a:p>
            <a:pPr algn="ctr" latinLnBrk="0"/>
            <a:r>
              <a:rPr lang="en-US" sz="1200" i="1" noProof="0" dirty="0">
                <a:latin typeface="Arial Narrow" panose="020B0606020202030204" pitchFamily="34" charset="0"/>
                <a:ea typeface="Calibri" pitchFamily="34" charset="-122"/>
                <a:cs typeface="Calibri" pitchFamily="34" charset="-120"/>
              </a:rPr>
              <a:t>Monitored lines (target)</a:t>
            </a:r>
            <a:endParaRPr lang="en-US" sz="1200" noProof="0" dirty="0">
              <a:latin typeface="Arial Narrow" panose="020B0606020202030204" pitchFamily="34" charset="0"/>
            </a:endParaRPr>
          </a:p>
        </p:txBody>
      </p:sp>
      <p:sp>
        <p:nvSpPr>
          <p:cNvPr id="56" name="Shape 62">
            <a:extLst>
              <a:ext uri="{FF2B5EF4-FFF2-40B4-BE49-F238E27FC236}">
                <a16:creationId xmlns:a16="http://schemas.microsoft.com/office/drawing/2014/main" id="{551E266E-F28A-74BE-C7F4-9ADA2B050CDB}"/>
              </a:ext>
            </a:extLst>
          </p:cNvPr>
          <p:cNvSpPr/>
          <p:nvPr/>
        </p:nvSpPr>
        <p:spPr>
          <a:xfrm>
            <a:off x="6564320" y="2457489"/>
            <a:ext cx="1485900" cy="1550413"/>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57" name="Shape 63">
            <a:extLst>
              <a:ext uri="{FF2B5EF4-FFF2-40B4-BE49-F238E27FC236}">
                <a16:creationId xmlns:a16="http://schemas.microsoft.com/office/drawing/2014/main" id="{069C19DB-3C29-AFC6-1E3E-CCF2A29C3AAC}"/>
              </a:ext>
            </a:extLst>
          </p:cNvPr>
          <p:cNvSpPr/>
          <p:nvPr/>
        </p:nvSpPr>
        <p:spPr>
          <a:xfrm>
            <a:off x="6564320" y="2457489"/>
            <a:ext cx="1485900" cy="37148"/>
          </a:xfrm>
          <a:prstGeom prst="rect">
            <a:avLst/>
          </a:prstGeom>
          <a:solidFill>
            <a:srgbClr val="1E7F4E"/>
          </a:solidFill>
          <a:ln w="12700">
            <a:noFill/>
            <a:prstDash val="solid"/>
          </a:ln>
        </p:spPr>
        <p:txBody>
          <a:bodyPr/>
          <a:lstStyle/>
          <a:p>
            <a:pPr latinLnBrk="0"/>
            <a:endParaRPr lang="en-US" sz="1200" noProof="0" dirty="0">
              <a:latin typeface="Arial Narrow" panose="020B0606020202030204" pitchFamily="34" charset="0"/>
            </a:endParaRPr>
          </a:p>
        </p:txBody>
      </p:sp>
      <p:sp>
        <p:nvSpPr>
          <p:cNvPr id="58" name="Text 64">
            <a:extLst>
              <a:ext uri="{FF2B5EF4-FFF2-40B4-BE49-F238E27FC236}">
                <a16:creationId xmlns:a16="http://schemas.microsoft.com/office/drawing/2014/main" id="{9F5FC989-051B-87DF-EA76-03B33FBD55F9}"/>
              </a:ext>
            </a:extLst>
          </p:cNvPr>
          <p:cNvSpPr/>
          <p:nvPr/>
        </p:nvSpPr>
        <p:spPr>
          <a:xfrm>
            <a:off x="6564320" y="2494637"/>
            <a:ext cx="1485900" cy="460629"/>
          </a:xfrm>
          <a:prstGeom prst="rect">
            <a:avLst/>
          </a:prstGeom>
          <a:noFill/>
          <a:ln>
            <a:noFill/>
          </a:ln>
        </p:spPr>
        <p:txBody>
          <a:bodyPr wrap="square" rtlCol="0" anchor="ctr"/>
          <a:lstStyle/>
          <a:p>
            <a:pPr algn="ctr" latinLnBrk="0"/>
            <a:r>
              <a:rPr lang="en-US" sz="1400" b="1" noProof="0" dirty="0">
                <a:solidFill>
                  <a:srgbClr val="008000"/>
                </a:solidFill>
                <a:latin typeface="Arial Narrow" panose="020B0606020202030204" pitchFamily="34" charset="0"/>
                <a:ea typeface="Calibri" pitchFamily="34" charset="-122"/>
                <a:cs typeface="Calibri" pitchFamily="34" charset="-120"/>
              </a:rPr>
              <a:t>≥90%</a:t>
            </a:r>
            <a:endParaRPr lang="en-US" sz="1400" noProof="0" dirty="0">
              <a:solidFill>
                <a:srgbClr val="008000"/>
              </a:solidFill>
              <a:latin typeface="Arial Narrow" panose="020B0606020202030204" pitchFamily="34" charset="0"/>
            </a:endParaRPr>
          </a:p>
        </p:txBody>
      </p:sp>
      <p:sp>
        <p:nvSpPr>
          <p:cNvPr id="59" name="Shape 65">
            <a:extLst>
              <a:ext uri="{FF2B5EF4-FFF2-40B4-BE49-F238E27FC236}">
                <a16:creationId xmlns:a16="http://schemas.microsoft.com/office/drawing/2014/main" id="{1142FDC1-5C83-C469-3B26-0B7AA9A96588}"/>
              </a:ext>
            </a:extLst>
          </p:cNvPr>
          <p:cNvSpPr/>
          <p:nvPr/>
        </p:nvSpPr>
        <p:spPr>
          <a:xfrm>
            <a:off x="6638615" y="2970125"/>
            <a:ext cx="133731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60" name="Text 66">
            <a:extLst>
              <a:ext uri="{FF2B5EF4-FFF2-40B4-BE49-F238E27FC236}">
                <a16:creationId xmlns:a16="http://schemas.microsoft.com/office/drawing/2014/main" id="{B49C014C-1A77-22EB-6542-7C875DBB7F66}"/>
              </a:ext>
            </a:extLst>
          </p:cNvPr>
          <p:cNvSpPr/>
          <p:nvPr/>
        </p:nvSpPr>
        <p:spPr>
          <a:xfrm>
            <a:off x="6601468" y="3133193"/>
            <a:ext cx="1411605"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Answer accuracy</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응답 정확도</a:t>
            </a:r>
            <a:endParaRPr lang="en-US" sz="1200" noProof="0" dirty="0">
              <a:solidFill>
                <a:srgbClr val="008000"/>
              </a:solidFill>
              <a:latin typeface="Arial Narrow" panose="020B0606020202030204" pitchFamily="34" charset="0"/>
            </a:endParaRPr>
          </a:p>
        </p:txBody>
      </p:sp>
      <p:sp>
        <p:nvSpPr>
          <p:cNvPr id="61" name="Text 67">
            <a:extLst>
              <a:ext uri="{FF2B5EF4-FFF2-40B4-BE49-F238E27FC236}">
                <a16:creationId xmlns:a16="http://schemas.microsoft.com/office/drawing/2014/main" id="{5DA6A19A-9565-74C5-5C2D-03F7AAEB9049}"/>
              </a:ext>
            </a:extLst>
          </p:cNvPr>
          <p:cNvSpPr/>
          <p:nvPr/>
        </p:nvSpPr>
        <p:spPr>
          <a:xfrm>
            <a:off x="6601468" y="3709030"/>
            <a:ext cx="1411605" cy="222885"/>
          </a:xfrm>
          <a:prstGeom prst="rect">
            <a:avLst/>
          </a:prstGeom>
          <a:noFill/>
          <a:ln>
            <a:noFill/>
          </a:ln>
        </p:spPr>
        <p:txBody>
          <a:bodyPr wrap="square" rtlCol="0" anchor="ctr"/>
          <a:lstStyle/>
          <a:p>
            <a:pPr algn="ctr" latinLnBrk="0"/>
            <a:r>
              <a:rPr lang="en-US" sz="1200" i="1" noProof="0" dirty="0">
                <a:latin typeface="Arial Narrow" panose="020B0606020202030204" pitchFamily="34" charset="0"/>
                <a:ea typeface="Calibri" pitchFamily="34" charset="-122"/>
                <a:cs typeface="Calibri" pitchFamily="34" charset="-120"/>
              </a:rPr>
              <a:t>Target</a:t>
            </a:r>
            <a:endParaRPr lang="en-US" sz="1200" noProof="0" dirty="0">
              <a:latin typeface="Arial Narrow" panose="020B0606020202030204" pitchFamily="34" charset="0"/>
            </a:endParaRPr>
          </a:p>
        </p:txBody>
      </p:sp>
      <p:sp>
        <p:nvSpPr>
          <p:cNvPr id="62" name="Shape 68">
            <a:extLst>
              <a:ext uri="{FF2B5EF4-FFF2-40B4-BE49-F238E27FC236}">
                <a16:creationId xmlns:a16="http://schemas.microsoft.com/office/drawing/2014/main" id="{6749E6EB-0106-298A-31E0-DA6EF8531E45}"/>
              </a:ext>
            </a:extLst>
          </p:cNvPr>
          <p:cNvSpPr/>
          <p:nvPr/>
        </p:nvSpPr>
        <p:spPr>
          <a:xfrm>
            <a:off x="8169092" y="2457489"/>
            <a:ext cx="1485900" cy="1550413"/>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63" name="Shape 69">
            <a:extLst>
              <a:ext uri="{FF2B5EF4-FFF2-40B4-BE49-F238E27FC236}">
                <a16:creationId xmlns:a16="http://schemas.microsoft.com/office/drawing/2014/main" id="{F1CE5E73-04B1-FEDB-C9ED-B9F77239DB7E}"/>
              </a:ext>
            </a:extLst>
          </p:cNvPr>
          <p:cNvSpPr/>
          <p:nvPr/>
        </p:nvSpPr>
        <p:spPr>
          <a:xfrm>
            <a:off x="8169092" y="2457489"/>
            <a:ext cx="1485900" cy="37148"/>
          </a:xfrm>
          <a:prstGeom prst="rect">
            <a:avLst/>
          </a:prstGeom>
          <a:solidFill>
            <a:srgbClr val="1E7F4E"/>
          </a:solidFill>
          <a:ln w="12700">
            <a:noFill/>
            <a:prstDash val="solid"/>
          </a:ln>
        </p:spPr>
        <p:txBody>
          <a:bodyPr/>
          <a:lstStyle/>
          <a:p>
            <a:pPr latinLnBrk="0"/>
            <a:endParaRPr lang="en-US" sz="1200" noProof="0" dirty="0">
              <a:latin typeface="Arial Narrow" panose="020B0606020202030204" pitchFamily="34" charset="0"/>
            </a:endParaRPr>
          </a:p>
        </p:txBody>
      </p:sp>
      <p:sp>
        <p:nvSpPr>
          <p:cNvPr id="64" name="Text 70">
            <a:extLst>
              <a:ext uri="{FF2B5EF4-FFF2-40B4-BE49-F238E27FC236}">
                <a16:creationId xmlns:a16="http://schemas.microsoft.com/office/drawing/2014/main" id="{80ADA110-A4AB-A784-2372-A745DAAD5229}"/>
              </a:ext>
            </a:extLst>
          </p:cNvPr>
          <p:cNvSpPr/>
          <p:nvPr/>
        </p:nvSpPr>
        <p:spPr>
          <a:xfrm>
            <a:off x="8169092" y="2494637"/>
            <a:ext cx="1485900" cy="460629"/>
          </a:xfrm>
          <a:prstGeom prst="rect">
            <a:avLst/>
          </a:prstGeom>
          <a:noFill/>
          <a:ln>
            <a:noFill/>
          </a:ln>
        </p:spPr>
        <p:txBody>
          <a:bodyPr wrap="square" rtlCol="0" anchor="ctr"/>
          <a:lstStyle/>
          <a:p>
            <a:pPr algn="ctr" latinLnBrk="0"/>
            <a:r>
              <a:rPr lang="en-US" sz="1400" b="1" noProof="0" dirty="0">
                <a:solidFill>
                  <a:srgbClr val="008000"/>
                </a:solidFill>
                <a:latin typeface="Arial Narrow" panose="020B0606020202030204" pitchFamily="34" charset="0"/>
                <a:ea typeface="Calibri" pitchFamily="34" charset="-122"/>
                <a:cs typeface="Calibri" pitchFamily="34" charset="-120"/>
              </a:rPr>
              <a:t>≤5 sec</a:t>
            </a:r>
            <a:endParaRPr lang="en-US" sz="1400" noProof="0" dirty="0">
              <a:solidFill>
                <a:srgbClr val="008000"/>
              </a:solidFill>
              <a:latin typeface="Arial Narrow" panose="020B0606020202030204" pitchFamily="34" charset="0"/>
            </a:endParaRPr>
          </a:p>
        </p:txBody>
      </p:sp>
      <p:sp>
        <p:nvSpPr>
          <p:cNvPr id="65" name="Shape 71">
            <a:extLst>
              <a:ext uri="{FF2B5EF4-FFF2-40B4-BE49-F238E27FC236}">
                <a16:creationId xmlns:a16="http://schemas.microsoft.com/office/drawing/2014/main" id="{47B5D8D3-4A61-F9C5-310F-543707231395}"/>
              </a:ext>
            </a:extLst>
          </p:cNvPr>
          <p:cNvSpPr/>
          <p:nvPr/>
        </p:nvSpPr>
        <p:spPr>
          <a:xfrm>
            <a:off x="8243387" y="2970125"/>
            <a:ext cx="1337310"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66" name="Text 72">
            <a:extLst>
              <a:ext uri="{FF2B5EF4-FFF2-40B4-BE49-F238E27FC236}">
                <a16:creationId xmlns:a16="http://schemas.microsoft.com/office/drawing/2014/main" id="{999EC7C7-592A-F64D-9598-3D7F5826B028}"/>
              </a:ext>
            </a:extLst>
          </p:cNvPr>
          <p:cNvSpPr/>
          <p:nvPr/>
        </p:nvSpPr>
        <p:spPr>
          <a:xfrm>
            <a:off x="8206240" y="3133193"/>
            <a:ext cx="1411605" cy="312039"/>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Avg. response time</a:t>
            </a:r>
            <a:endParaRPr lang="en-US" sz="1200" noProof="0" dirty="0">
              <a:latin typeface="Arial Narrow" panose="020B0606020202030204" pitchFamily="34" charset="0"/>
            </a:endParaRPr>
          </a:p>
          <a:p>
            <a:pPr algn="ctr" latinLnBrk="0"/>
            <a:r>
              <a:rPr lang="en-US" sz="1200" b="1" noProof="0" dirty="0">
                <a:solidFill>
                  <a:srgbClr val="008000"/>
                </a:solidFill>
                <a:latin typeface="Arial Narrow" panose="020B0606020202030204" pitchFamily="34" charset="0"/>
                <a:ea typeface="Calibri" pitchFamily="34" charset="-122"/>
                <a:cs typeface="Calibri" pitchFamily="34" charset="-120"/>
              </a:rPr>
              <a:t>평균 응답시간</a:t>
            </a:r>
            <a:endParaRPr lang="en-US" sz="1200" noProof="0" dirty="0">
              <a:solidFill>
                <a:srgbClr val="008000"/>
              </a:solidFill>
              <a:latin typeface="Arial Narrow" panose="020B0606020202030204" pitchFamily="34" charset="0"/>
            </a:endParaRPr>
          </a:p>
        </p:txBody>
      </p:sp>
      <p:sp>
        <p:nvSpPr>
          <p:cNvPr id="67" name="Text 73">
            <a:extLst>
              <a:ext uri="{FF2B5EF4-FFF2-40B4-BE49-F238E27FC236}">
                <a16:creationId xmlns:a16="http://schemas.microsoft.com/office/drawing/2014/main" id="{1DA2D957-1052-42AC-B4DD-C38E9C32371B}"/>
              </a:ext>
            </a:extLst>
          </p:cNvPr>
          <p:cNvSpPr/>
          <p:nvPr/>
        </p:nvSpPr>
        <p:spPr>
          <a:xfrm>
            <a:off x="8206240" y="3709030"/>
            <a:ext cx="1411605" cy="222885"/>
          </a:xfrm>
          <a:prstGeom prst="rect">
            <a:avLst/>
          </a:prstGeom>
          <a:noFill/>
          <a:ln>
            <a:noFill/>
          </a:ln>
        </p:spPr>
        <p:txBody>
          <a:bodyPr wrap="square" rtlCol="0" anchor="ctr"/>
          <a:lstStyle/>
          <a:p>
            <a:pPr algn="ctr" latinLnBrk="0"/>
            <a:r>
              <a:rPr lang="en-US" sz="1200" i="1" noProof="0" dirty="0">
                <a:latin typeface="Arial Narrow" panose="020B0606020202030204" pitchFamily="34" charset="0"/>
                <a:ea typeface="Calibri" pitchFamily="34" charset="-122"/>
                <a:cs typeface="Calibri" pitchFamily="34" charset="-120"/>
              </a:rPr>
              <a:t>Per query (target)</a:t>
            </a:r>
            <a:endParaRPr lang="en-US" sz="1200" noProof="0" dirty="0">
              <a:latin typeface="Arial Narrow" panose="020B0606020202030204" pitchFamily="34" charset="0"/>
            </a:endParaRPr>
          </a:p>
        </p:txBody>
      </p:sp>
      <p:sp>
        <p:nvSpPr>
          <p:cNvPr id="68" name="Shape 74">
            <a:extLst>
              <a:ext uri="{FF2B5EF4-FFF2-40B4-BE49-F238E27FC236}">
                <a16:creationId xmlns:a16="http://schemas.microsoft.com/office/drawing/2014/main" id="{53A8BB98-3D6B-40DD-BFEE-3B49FA1CEB8A}"/>
              </a:ext>
            </a:extLst>
          </p:cNvPr>
          <p:cNvSpPr/>
          <p:nvPr/>
        </p:nvSpPr>
        <p:spPr>
          <a:xfrm>
            <a:off x="145232" y="4155346"/>
            <a:ext cx="9584055" cy="208026"/>
          </a:xfrm>
          <a:prstGeom prst="rect">
            <a:avLst/>
          </a:prstGeom>
          <a:noFill/>
          <a:ln w="12700">
            <a:noFill/>
            <a:prstDash val="solid"/>
          </a:ln>
        </p:spPr>
        <p:txBody>
          <a:bodyPr/>
          <a:lstStyle/>
          <a:p>
            <a:pPr latinLnBrk="0"/>
            <a:endParaRPr lang="en-US" sz="1200" noProof="0" dirty="0">
              <a:latin typeface="Arial Narrow" panose="020B0606020202030204" pitchFamily="34" charset="0"/>
            </a:endParaRPr>
          </a:p>
        </p:txBody>
      </p:sp>
      <p:sp>
        <p:nvSpPr>
          <p:cNvPr id="69" name="Text 75">
            <a:extLst>
              <a:ext uri="{FF2B5EF4-FFF2-40B4-BE49-F238E27FC236}">
                <a16:creationId xmlns:a16="http://schemas.microsoft.com/office/drawing/2014/main" id="{737FE840-45C6-3125-3F8D-916564153D82}"/>
              </a:ext>
            </a:extLst>
          </p:cNvPr>
          <p:cNvSpPr/>
          <p:nvPr/>
        </p:nvSpPr>
        <p:spPr>
          <a:xfrm>
            <a:off x="145232" y="4155346"/>
            <a:ext cx="9584055" cy="208026"/>
          </a:xfrm>
          <a:prstGeom prst="rect">
            <a:avLst/>
          </a:prstGeom>
          <a:noFill/>
          <a:ln>
            <a:noFill/>
          </a:ln>
        </p:spPr>
        <p:txBody>
          <a:bodyPr wrap="square" lIns="0" tIns="0" rIns="0" bIns="0" rtlCol="0" anchor="ctr"/>
          <a:lstStyle/>
          <a:p>
            <a:pPr algn="ctr" latinLnBrk="0"/>
            <a:r>
              <a:rPr lang="en-US" sz="1400" b="1" noProof="0" dirty="0">
                <a:latin typeface="Arial Narrow" panose="020B0606020202030204" pitchFamily="34" charset="0"/>
                <a:ea typeface="Calibri" pitchFamily="34" charset="-122"/>
                <a:cs typeface="Calibri" pitchFamily="34" charset="-120"/>
              </a:rPr>
              <a:t>⬛ Qualitative KPIs  /  </a:t>
            </a:r>
            <a:r>
              <a:rPr lang="en-US" sz="1400" b="1" noProof="0" dirty="0">
                <a:solidFill>
                  <a:srgbClr val="008000"/>
                </a:solidFill>
                <a:latin typeface="Arial Narrow" panose="020B0606020202030204" pitchFamily="34" charset="0"/>
                <a:ea typeface="Calibri" pitchFamily="34" charset="-122"/>
                <a:cs typeface="Calibri" pitchFamily="34" charset="-120"/>
              </a:rPr>
              <a:t>정성 KPI</a:t>
            </a:r>
            <a:endParaRPr lang="en-US" sz="1400" noProof="0" dirty="0">
              <a:solidFill>
                <a:srgbClr val="008000"/>
              </a:solidFill>
              <a:latin typeface="Arial Narrow" panose="020B0606020202030204" pitchFamily="34" charset="0"/>
            </a:endParaRPr>
          </a:p>
        </p:txBody>
      </p:sp>
      <p:sp>
        <p:nvSpPr>
          <p:cNvPr id="70" name="Shape 76">
            <a:extLst>
              <a:ext uri="{FF2B5EF4-FFF2-40B4-BE49-F238E27FC236}">
                <a16:creationId xmlns:a16="http://schemas.microsoft.com/office/drawing/2014/main" id="{9973773C-7183-AEE3-A880-043371CF5276}"/>
              </a:ext>
            </a:extLst>
          </p:cNvPr>
          <p:cNvSpPr/>
          <p:nvPr/>
        </p:nvSpPr>
        <p:spPr>
          <a:xfrm>
            <a:off x="145232" y="4400520"/>
            <a:ext cx="2280857" cy="2052816"/>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71" name="Shape 77">
            <a:extLst>
              <a:ext uri="{FF2B5EF4-FFF2-40B4-BE49-F238E27FC236}">
                <a16:creationId xmlns:a16="http://schemas.microsoft.com/office/drawing/2014/main" id="{7077550A-9C46-DE74-DD5E-6754B9F65AB8}"/>
              </a:ext>
            </a:extLst>
          </p:cNvPr>
          <p:cNvSpPr/>
          <p:nvPr/>
        </p:nvSpPr>
        <p:spPr>
          <a:xfrm>
            <a:off x="145232" y="4400519"/>
            <a:ext cx="2280857" cy="37148"/>
          </a:xfrm>
          <a:prstGeom prst="rect">
            <a:avLst/>
          </a:prstGeom>
          <a:solidFill>
            <a:srgbClr val="FFC000"/>
          </a:solidFill>
          <a:ln w="12700">
            <a:noFill/>
            <a:prstDash val="solid"/>
          </a:ln>
        </p:spPr>
        <p:txBody>
          <a:bodyPr/>
          <a:lstStyle/>
          <a:p>
            <a:pPr latinLnBrk="0"/>
            <a:endParaRPr lang="en-US" sz="1200" noProof="0" dirty="0">
              <a:latin typeface="Arial Narrow" panose="020B0606020202030204" pitchFamily="34" charset="0"/>
            </a:endParaRPr>
          </a:p>
        </p:txBody>
      </p:sp>
      <p:sp>
        <p:nvSpPr>
          <p:cNvPr id="72" name="Text 78">
            <a:extLst>
              <a:ext uri="{FF2B5EF4-FFF2-40B4-BE49-F238E27FC236}">
                <a16:creationId xmlns:a16="http://schemas.microsoft.com/office/drawing/2014/main" id="{2F337692-888D-2864-087F-7C1B42A96B07}"/>
              </a:ext>
            </a:extLst>
          </p:cNvPr>
          <p:cNvSpPr/>
          <p:nvPr/>
        </p:nvSpPr>
        <p:spPr>
          <a:xfrm>
            <a:off x="145232" y="4437667"/>
            <a:ext cx="2280857" cy="356616"/>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To Be Measured </a:t>
            </a:r>
            <a:endParaRPr lang="en-US" sz="1200" noProof="0" dirty="0">
              <a:latin typeface="Arial Narrow" panose="020B0606020202030204" pitchFamily="34" charset="0"/>
            </a:endParaRPr>
          </a:p>
        </p:txBody>
      </p:sp>
      <p:sp>
        <p:nvSpPr>
          <p:cNvPr id="73" name="Shape 79">
            <a:extLst>
              <a:ext uri="{FF2B5EF4-FFF2-40B4-BE49-F238E27FC236}">
                <a16:creationId xmlns:a16="http://schemas.microsoft.com/office/drawing/2014/main" id="{F64B4694-1FE0-2A2C-0579-1318AC01348F}"/>
              </a:ext>
            </a:extLst>
          </p:cNvPr>
          <p:cNvSpPr/>
          <p:nvPr/>
        </p:nvSpPr>
        <p:spPr>
          <a:xfrm>
            <a:off x="219527" y="4809142"/>
            <a:ext cx="2132267"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74" name="Text 80">
            <a:extLst>
              <a:ext uri="{FF2B5EF4-FFF2-40B4-BE49-F238E27FC236}">
                <a16:creationId xmlns:a16="http://schemas.microsoft.com/office/drawing/2014/main" id="{0B0E9721-A8F9-4DE4-5B1E-EC8626770EAD}"/>
              </a:ext>
            </a:extLst>
          </p:cNvPr>
          <p:cNvSpPr/>
          <p:nvPr/>
        </p:nvSpPr>
        <p:spPr>
          <a:xfrm>
            <a:off x="219527" y="4838860"/>
            <a:ext cx="2132267" cy="1614474"/>
          </a:xfrm>
          <a:prstGeom prst="rect">
            <a:avLst/>
          </a:prstGeom>
          <a:noFill/>
          <a:ln>
            <a:noFill/>
          </a:ln>
        </p:spPr>
        <p:txBody>
          <a:bodyPr wrap="square" rtlCol="0" anchor="t"/>
          <a:lstStyle/>
          <a:p>
            <a:pPr latinLnBrk="0"/>
            <a:r>
              <a:rPr lang="en-US" sz="1200" b="1" noProof="0" dirty="0">
                <a:latin typeface="Arial Narrow" panose="020B0606020202030204" pitchFamily="34" charset="0"/>
                <a:ea typeface="Calibri" pitchFamily="34" charset="-122"/>
                <a:cs typeface="Calibri" pitchFamily="34" charset="-120"/>
              </a:rPr>
              <a:t>Findability  </a:t>
            </a:r>
            <a:r>
              <a:rPr lang="en-US" sz="1200" b="1" noProof="0" dirty="0">
                <a:solidFill>
                  <a:srgbClr val="008000"/>
                </a:solidFill>
                <a:latin typeface="Arial Narrow" panose="020B0606020202030204" pitchFamily="34" charset="0"/>
                <a:ea typeface="Calibri" pitchFamily="34" charset="-122"/>
                <a:cs typeface="Calibri" pitchFamily="34" charset="-120"/>
              </a:rPr>
              <a:t>/  탐색 용이성</a:t>
            </a:r>
            <a:r>
              <a:rPr lang="en-US" sz="1200" b="1" noProof="0" dirty="0">
                <a:latin typeface="Arial Narrow" panose="020B0606020202030204" pitchFamily="34" charset="0"/>
                <a:ea typeface="Calibri" pitchFamily="34" charset="-122"/>
                <a:cs typeface="Calibri" pitchFamily="34" charset="-120"/>
              </a:rPr>
              <a:t>
</a:t>
            </a:r>
            <a:endParaRPr lang="en-US" sz="1200" noProof="0" dirty="0">
              <a:latin typeface="Arial Narrow" panose="020B0606020202030204" pitchFamily="34" charset="0"/>
            </a:endParaRPr>
          </a:p>
          <a:p>
            <a:pPr latinLnBrk="0"/>
            <a:r>
              <a:rPr lang="en-US" sz="1200" noProof="0" dirty="0">
                <a:latin typeface="Arial Narrow" panose="020B0606020202030204" pitchFamily="34" charset="0"/>
                <a:ea typeface="Calibri" pitchFamily="34" charset="-122"/>
                <a:cs typeface="Calibri" pitchFamily="34" charset="-120"/>
              </a:rPr>
              <a:t>Will survey PE team after pilot: Can you find past cases despite different wording?</a:t>
            </a:r>
          </a:p>
          <a:p>
            <a:pPr latinLnBrk="0"/>
            <a:r>
              <a:rPr lang="en-US" sz="1200" noProof="0" dirty="0">
                <a:latin typeface="Arial Narrow" panose="020B0606020202030204" pitchFamily="34" charset="0"/>
                <a:ea typeface="Calibri" pitchFamily="34" charset="-122"/>
                <a:cs typeface="Calibri" pitchFamily="34" charset="-120"/>
              </a:rPr>
              <a:t> Pilot 후 PE팀 설문: 표현이 달라도 과거 사례를 찾을 수 있었는가?</a:t>
            </a:r>
            <a:endParaRPr lang="en-US" sz="1200" noProof="0" dirty="0">
              <a:latin typeface="Arial Narrow" panose="020B0606020202030204" pitchFamily="34" charset="0"/>
            </a:endParaRPr>
          </a:p>
        </p:txBody>
      </p:sp>
      <p:sp>
        <p:nvSpPr>
          <p:cNvPr id="75" name="Shape 81">
            <a:extLst>
              <a:ext uri="{FF2B5EF4-FFF2-40B4-BE49-F238E27FC236}">
                <a16:creationId xmlns:a16="http://schemas.microsoft.com/office/drawing/2014/main" id="{0CA65676-D0BA-8177-97D4-A56A927705FB}"/>
              </a:ext>
            </a:extLst>
          </p:cNvPr>
          <p:cNvSpPr/>
          <p:nvPr/>
        </p:nvSpPr>
        <p:spPr>
          <a:xfrm>
            <a:off x="2574678" y="4400520"/>
            <a:ext cx="2280857" cy="2052816"/>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76" name="Shape 82">
            <a:extLst>
              <a:ext uri="{FF2B5EF4-FFF2-40B4-BE49-F238E27FC236}">
                <a16:creationId xmlns:a16="http://schemas.microsoft.com/office/drawing/2014/main" id="{055C4740-DF91-6045-52D2-FD16DC625FBF}"/>
              </a:ext>
            </a:extLst>
          </p:cNvPr>
          <p:cNvSpPr/>
          <p:nvPr/>
        </p:nvSpPr>
        <p:spPr>
          <a:xfrm>
            <a:off x="2574678" y="4400519"/>
            <a:ext cx="2280857" cy="37148"/>
          </a:xfrm>
          <a:prstGeom prst="rect">
            <a:avLst/>
          </a:prstGeom>
          <a:solidFill>
            <a:srgbClr val="FFC000"/>
          </a:solidFill>
          <a:ln w="12700">
            <a:noFill/>
            <a:prstDash val="solid"/>
          </a:ln>
        </p:spPr>
        <p:txBody>
          <a:bodyPr/>
          <a:lstStyle/>
          <a:p>
            <a:pPr latinLnBrk="0"/>
            <a:endParaRPr lang="en-US" sz="1200" noProof="0" dirty="0">
              <a:latin typeface="Arial Narrow" panose="020B0606020202030204" pitchFamily="34" charset="0"/>
            </a:endParaRPr>
          </a:p>
        </p:txBody>
      </p:sp>
      <p:sp>
        <p:nvSpPr>
          <p:cNvPr id="77" name="Text 83">
            <a:extLst>
              <a:ext uri="{FF2B5EF4-FFF2-40B4-BE49-F238E27FC236}">
                <a16:creationId xmlns:a16="http://schemas.microsoft.com/office/drawing/2014/main" id="{D0E612BE-18EF-20EF-8D2D-B3117AD6CD78}"/>
              </a:ext>
            </a:extLst>
          </p:cNvPr>
          <p:cNvSpPr/>
          <p:nvPr/>
        </p:nvSpPr>
        <p:spPr>
          <a:xfrm>
            <a:off x="2574678" y="4437667"/>
            <a:ext cx="2280857" cy="356616"/>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To Be Measured </a:t>
            </a:r>
            <a:endParaRPr lang="en-US" sz="1200" noProof="0" dirty="0">
              <a:latin typeface="Arial Narrow" panose="020B0606020202030204" pitchFamily="34" charset="0"/>
            </a:endParaRPr>
          </a:p>
        </p:txBody>
      </p:sp>
      <p:sp>
        <p:nvSpPr>
          <p:cNvPr id="78" name="Shape 84">
            <a:extLst>
              <a:ext uri="{FF2B5EF4-FFF2-40B4-BE49-F238E27FC236}">
                <a16:creationId xmlns:a16="http://schemas.microsoft.com/office/drawing/2014/main" id="{7D85DC20-00B3-0D79-2330-D4EB6697FC14}"/>
              </a:ext>
            </a:extLst>
          </p:cNvPr>
          <p:cNvSpPr/>
          <p:nvPr/>
        </p:nvSpPr>
        <p:spPr>
          <a:xfrm>
            <a:off x="2648973" y="4809142"/>
            <a:ext cx="2132267"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79" name="Text 85">
            <a:extLst>
              <a:ext uri="{FF2B5EF4-FFF2-40B4-BE49-F238E27FC236}">
                <a16:creationId xmlns:a16="http://schemas.microsoft.com/office/drawing/2014/main" id="{CFC8A2EF-9199-8CB6-FE6F-1922E0135C82}"/>
              </a:ext>
            </a:extLst>
          </p:cNvPr>
          <p:cNvSpPr/>
          <p:nvPr/>
        </p:nvSpPr>
        <p:spPr>
          <a:xfrm>
            <a:off x="2648973" y="4838860"/>
            <a:ext cx="2132267" cy="1614472"/>
          </a:xfrm>
          <a:prstGeom prst="rect">
            <a:avLst/>
          </a:prstGeom>
          <a:noFill/>
          <a:ln>
            <a:noFill/>
          </a:ln>
        </p:spPr>
        <p:txBody>
          <a:bodyPr wrap="square" rtlCol="0" anchor="t"/>
          <a:lstStyle/>
          <a:p>
            <a:pPr latinLnBrk="0"/>
            <a:r>
              <a:rPr lang="en-US" sz="1200" b="1" noProof="0" dirty="0">
                <a:latin typeface="Arial Narrow" panose="020B0606020202030204" pitchFamily="34" charset="0"/>
                <a:ea typeface="Calibri" pitchFamily="34" charset="-122"/>
                <a:cs typeface="Calibri" pitchFamily="34" charset="-120"/>
              </a:rPr>
              <a:t>Usability Score  /  </a:t>
            </a:r>
            <a:r>
              <a:rPr lang="en-US" sz="1200" b="1" noProof="0" dirty="0">
                <a:solidFill>
                  <a:srgbClr val="008000"/>
                </a:solidFill>
                <a:latin typeface="Arial Narrow" panose="020B0606020202030204" pitchFamily="34" charset="0"/>
                <a:ea typeface="Calibri" pitchFamily="34" charset="-122"/>
                <a:cs typeface="Calibri" pitchFamily="34" charset="-120"/>
              </a:rPr>
              <a:t>사용성 점수</a:t>
            </a:r>
            <a:r>
              <a:rPr lang="en-US" sz="1200" b="1" noProof="0" dirty="0">
                <a:latin typeface="Arial Narrow" panose="020B0606020202030204" pitchFamily="34" charset="0"/>
                <a:ea typeface="Calibri" pitchFamily="34" charset="-122"/>
                <a:cs typeface="Calibri" pitchFamily="34" charset="-120"/>
              </a:rPr>
              <a:t>
</a:t>
            </a:r>
            <a:endParaRPr lang="en-US" sz="1200" noProof="0" dirty="0">
              <a:latin typeface="Arial Narrow" panose="020B0606020202030204" pitchFamily="34" charset="0"/>
            </a:endParaRPr>
          </a:p>
          <a:p>
            <a:pPr latinLnBrk="0"/>
            <a:r>
              <a:rPr lang="en-US" sz="1200" noProof="0" dirty="0">
                <a:latin typeface="Arial Narrow" panose="020B0606020202030204" pitchFamily="34" charset="0"/>
                <a:ea typeface="Calibri" pitchFamily="34" charset="-122"/>
                <a:cs typeface="Calibri" pitchFamily="34" charset="-120"/>
              </a:rPr>
              <a:t>Will collect satisfaction ratings from PE team members after hands-on use.</a:t>
            </a:r>
          </a:p>
          <a:p>
            <a:pPr latinLnBrk="0"/>
            <a:endParaRPr lang="en-US" sz="1200" noProof="0" dirty="0">
              <a:latin typeface="Arial Narrow" panose="020B0606020202030204" pitchFamily="34" charset="0"/>
              <a:ea typeface="Calibri" pitchFamily="34" charset="-122"/>
              <a:cs typeface="Calibri" pitchFamily="34" charset="-120"/>
            </a:endParaRPr>
          </a:p>
          <a:p>
            <a:pPr latinLnBrk="0"/>
            <a:r>
              <a:rPr lang="en-US" sz="1200" noProof="0" dirty="0">
                <a:latin typeface="Arial Narrow" panose="020B0606020202030204" pitchFamily="34" charset="0"/>
                <a:ea typeface="Calibri" pitchFamily="34" charset="-122"/>
                <a:cs typeface="Calibri" pitchFamily="34" charset="-120"/>
              </a:rPr>
              <a:t>Pilot 사용 후 PE팀 구성원 만족도 수집 예정.</a:t>
            </a:r>
            <a:endParaRPr lang="en-US" sz="1200" noProof="0" dirty="0">
              <a:latin typeface="Arial Narrow" panose="020B0606020202030204" pitchFamily="34" charset="0"/>
            </a:endParaRPr>
          </a:p>
        </p:txBody>
      </p:sp>
      <p:sp>
        <p:nvSpPr>
          <p:cNvPr id="80" name="Shape 86">
            <a:extLst>
              <a:ext uri="{FF2B5EF4-FFF2-40B4-BE49-F238E27FC236}">
                <a16:creationId xmlns:a16="http://schemas.microsoft.com/office/drawing/2014/main" id="{38B3FC2D-0E0A-B97C-2E7B-53C5536D929B}"/>
              </a:ext>
            </a:extLst>
          </p:cNvPr>
          <p:cNvSpPr/>
          <p:nvPr/>
        </p:nvSpPr>
        <p:spPr>
          <a:xfrm>
            <a:off x="5004125" y="4400520"/>
            <a:ext cx="2280857" cy="2052816"/>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81" name="Shape 87">
            <a:extLst>
              <a:ext uri="{FF2B5EF4-FFF2-40B4-BE49-F238E27FC236}">
                <a16:creationId xmlns:a16="http://schemas.microsoft.com/office/drawing/2014/main" id="{74425AC7-CAB5-DC87-867D-53B93F6B8BAF}"/>
              </a:ext>
            </a:extLst>
          </p:cNvPr>
          <p:cNvSpPr/>
          <p:nvPr/>
        </p:nvSpPr>
        <p:spPr>
          <a:xfrm>
            <a:off x="5004125" y="4400519"/>
            <a:ext cx="2280857" cy="37148"/>
          </a:xfrm>
          <a:prstGeom prst="rect">
            <a:avLst/>
          </a:prstGeom>
          <a:solidFill>
            <a:srgbClr val="FFC000"/>
          </a:solidFill>
          <a:ln w="12700">
            <a:noFill/>
            <a:prstDash val="solid"/>
          </a:ln>
        </p:spPr>
        <p:txBody>
          <a:bodyPr/>
          <a:lstStyle/>
          <a:p>
            <a:pPr latinLnBrk="0"/>
            <a:endParaRPr lang="en-US" sz="1200" noProof="0" dirty="0">
              <a:latin typeface="Arial Narrow" panose="020B0606020202030204" pitchFamily="34" charset="0"/>
            </a:endParaRPr>
          </a:p>
        </p:txBody>
      </p:sp>
      <p:sp>
        <p:nvSpPr>
          <p:cNvPr id="82" name="Text 88">
            <a:extLst>
              <a:ext uri="{FF2B5EF4-FFF2-40B4-BE49-F238E27FC236}">
                <a16:creationId xmlns:a16="http://schemas.microsoft.com/office/drawing/2014/main" id="{699417A0-836C-012D-8294-8E118198D889}"/>
              </a:ext>
            </a:extLst>
          </p:cNvPr>
          <p:cNvSpPr/>
          <p:nvPr/>
        </p:nvSpPr>
        <p:spPr>
          <a:xfrm>
            <a:off x="5004125" y="4437667"/>
            <a:ext cx="2280857" cy="356616"/>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To Be Measured </a:t>
            </a:r>
            <a:endParaRPr lang="en-US" sz="1200" noProof="0" dirty="0">
              <a:latin typeface="Arial Narrow" panose="020B0606020202030204" pitchFamily="34" charset="0"/>
            </a:endParaRPr>
          </a:p>
        </p:txBody>
      </p:sp>
      <p:sp>
        <p:nvSpPr>
          <p:cNvPr id="83" name="Shape 89">
            <a:extLst>
              <a:ext uri="{FF2B5EF4-FFF2-40B4-BE49-F238E27FC236}">
                <a16:creationId xmlns:a16="http://schemas.microsoft.com/office/drawing/2014/main" id="{774FF9A2-7A93-C003-2C63-E4A9F7A25F15}"/>
              </a:ext>
            </a:extLst>
          </p:cNvPr>
          <p:cNvSpPr/>
          <p:nvPr/>
        </p:nvSpPr>
        <p:spPr>
          <a:xfrm>
            <a:off x="5078420" y="4809142"/>
            <a:ext cx="2132267"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84" name="Text 90">
            <a:extLst>
              <a:ext uri="{FF2B5EF4-FFF2-40B4-BE49-F238E27FC236}">
                <a16:creationId xmlns:a16="http://schemas.microsoft.com/office/drawing/2014/main" id="{DE70CD61-5236-9469-A32A-70E86E9D85C6}"/>
              </a:ext>
            </a:extLst>
          </p:cNvPr>
          <p:cNvSpPr/>
          <p:nvPr/>
        </p:nvSpPr>
        <p:spPr>
          <a:xfrm>
            <a:off x="5078420" y="4838860"/>
            <a:ext cx="2132267" cy="705803"/>
          </a:xfrm>
          <a:prstGeom prst="rect">
            <a:avLst/>
          </a:prstGeom>
          <a:noFill/>
          <a:ln>
            <a:noFill/>
          </a:ln>
        </p:spPr>
        <p:txBody>
          <a:bodyPr wrap="square" rtlCol="0" anchor="t"/>
          <a:lstStyle/>
          <a:p>
            <a:pPr latinLnBrk="0"/>
            <a:r>
              <a:rPr lang="en-US" sz="1200" b="1" noProof="0" dirty="0">
                <a:latin typeface="Arial Narrow" panose="020B0606020202030204" pitchFamily="34" charset="0"/>
                <a:ea typeface="Calibri" pitchFamily="34" charset="-122"/>
                <a:cs typeface="Calibri" pitchFamily="34" charset="-120"/>
              </a:rPr>
              <a:t>Citation Trust  /  </a:t>
            </a:r>
            <a:r>
              <a:rPr lang="en-US" sz="1200" b="1" noProof="0" dirty="0">
                <a:solidFill>
                  <a:srgbClr val="008000"/>
                </a:solidFill>
                <a:latin typeface="Arial Narrow" panose="020B0606020202030204" pitchFamily="34" charset="0"/>
                <a:ea typeface="Calibri" pitchFamily="34" charset="-122"/>
                <a:cs typeface="Calibri" pitchFamily="34" charset="-120"/>
              </a:rPr>
              <a:t>근거 신뢰성</a:t>
            </a:r>
            <a:r>
              <a:rPr lang="en-US" sz="1200" b="1" noProof="0" dirty="0">
                <a:latin typeface="Arial Narrow" panose="020B0606020202030204" pitchFamily="34" charset="0"/>
                <a:ea typeface="Calibri" pitchFamily="34" charset="-122"/>
                <a:cs typeface="Calibri" pitchFamily="34" charset="-120"/>
              </a:rPr>
              <a:t>
</a:t>
            </a:r>
            <a:endParaRPr lang="en-US" sz="1200" noProof="0" dirty="0">
              <a:latin typeface="Arial Narrow" panose="020B0606020202030204" pitchFamily="34" charset="0"/>
            </a:endParaRPr>
          </a:p>
          <a:p>
            <a:pPr latinLnBrk="0"/>
            <a:r>
              <a:rPr lang="en-US" sz="1200" noProof="0" dirty="0">
                <a:latin typeface="Arial Narrow" panose="020B0606020202030204" pitchFamily="34" charset="0"/>
                <a:ea typeface="Calibri" pitchFamily="34" charset="-122"/>
                <a:cs typeface="Calibri" pitchFamily="34" charset="-120"/>
              </a:rPr>
              <a:t>Will validate AI responses against known work-order records during testing phase.</a:t>
            </a:r>
          </a:p>
          <a:p>
            <a:pPr latinLnBrk="0"/>
            <a:r>
              <a:rPr lang="en-US" sz="1200" noProof="0" dirty="0">
                <a:latin typeface="Arial Narrow" panose="020B0606020202030204" pitchFamily="34" charset="0"/>
                <a:ea typeface="Calibri" pitchFamily="34" charset="-122"/>
                <a:cs typeface="Calibri" pitchFamily="34" charset="-120"/>
              </a:rPr>
              <a:t>테스트 단계에서 AI 응답과 실제 작업지시 기록 대조 검증 예정.</a:t>
            </a:r>
            <a:endParaRPr lang="en-US" sz="1200" noProof="0" dirty="0">
              <a:latin typeface="Arial Narrow" panose="020B0606020202030204" pitchFamily="34" charset="0"/>
            </a:endParaRPr>
          </a:p>
        </p:txBody>
      </p:sp>
      <p:sp>
        <p:nvSpPr>
          <p:cNvPr id="85" name="Shape 91">
            <a:extLst>
              <a:ext uri="{FF2B5EF4-FFF2-40B4-BE49-F238E27FC236}">
                <a16:creationId xmlns:a16="http://schemas.microsoft.com/office/drawing/2014/main" id="{33B6113F-1546-612A-F588-A0CF5C3DF4C8}"/>
              </a:ext>
            </a:extLst>
          </p:cNvPr>
          <p:cNvSpPr/>
          <p:nvPr/>
        </p:nvSpPr>
        <p:spPr>
          <a:xfrm>
            <a:off x="7433571" y="4400520"/>
            <a:ext cx="2280857" cy="2052816"/>
          </a:xfrm>
          <a:prstGeom prst="rect">
            <a:avLst/>
          </a:prstGeom>
          <a:solidFill>
            <a:srgbClr val="FFFFFF"/>
          </a:solidFill>
          <a:ln w="12700">
            <a:noFill/>
            <a:prstDash val="solid"/>
          </a:ln>
          <a:effectLst>
            <a:outerShdw blurRad="38100" dist="12700" dir="8100000" algn="bl" rotWithShape="0">
              <a:srgbClr val="000000">
                <a:alpha val="6000"/>
              </a:srgbClr>
            </a:outerShdw>
          </a:effectLst>
        </p:spPr>
        <p:txBody>
          <a:bodyPr/>
          <a:lstStyle/>
          <a:p>
            <a:pPr latinLnBrk="0"/>
            <a:endParaRPr lang="en-US" sz="1200" noProof="0" dirty="0">
              <a:latin typeface="Arial Narrow" panose="020B0606020202030204" pitchFamily="34" charset="0"/>
            </a:endParaRPr>
          </a:p>
        </p:txBody>
      </p:sp>
      <p:sp>
        <p:nvSpPr>
          <p:cNvPr id="86" name="Shape 92">
            <a:extLst>
              <a:ext uri="{FF2B5EF4-FFF2-40B4-BE49-F238E27FC236}">
                <a16:creationId xmlns:a16="http://schemas.microsoft.com/office/drawing/2014/main" id="{2C24B8B0-1718-4972-0F6F-C53198EB4598}"/>
              </a:ext>
            </a:extLst>
          </p:cNvPr>
          <p:cNvSpPr/>
          <p:nvPr/>
        </p:nvSpPr>
        <p:spPr>
          <a:xfrm>
            <a:off x="7433571" y="4400519"/>
            <a:ext cx="2280857" cy="37148"/>
          </a:xfrm>
          <a:prstGeom prst="rect">
            <a:avLst/>
          </a:prstGeom>
          <a:solidFill>
            <a:srgbClr val="FFC000"/>
          </a:solidFill>
          <a:ln w="12700">
            <a:noFill/>
            <a:prstDash val="solid"/>
          </a:ln>
        </p:spPr>
        <p:txBody>
          <a:bodyPr/>
          <a:lstStyle/>
          <a:p>
            <a:pPr latinLnBrk="0"/>
            <a:endParaRPr lang="en-US" sz="1200" noProof="0" dirty="0">
              <a:latin typeface="Arial Narrow" panose="020B0606020202030204" pitchFamily="34" charset="0"/>
            </a:endParaRPr>
          </a:p>
        </p:txBody>
      </p:sp>
      <p:sp>
        <p:nvSpPr>
          <p:cNvPr id="87" name="Text 93">
            <a:extLst>
              <a:ext uri="{FF2B5EF4-FFF2-40B4-BE49-F238E27FC236}">
                <a16:creationId xmlns:a16="http://schemas.microsoft.com/office/drawing/2014/main" id="{6131B0C0-1018-A228-E1DB-84023883D32B}"/>
              </a:ext>
            </a:extLst>
          </p:cNvPr>
          <p:cNvSpPr/>
          <p:nvPr/>
        </p:nvSpPr>
        <p:spPr>
          <a:xfrm>
            <a:off x="7433571" y="4437667"/>
            <a:ext cx="2280857" cy="356616"/>
          </a:xfrm>
          <a:prstGeom prst="rect">
            <a:avLst/>
          </a:prstGeom>
          <a:noFill/>
          <a:ln>
            <a:noFill/>
          </a:ln>
        </p:spPr>
        <p:txBody>
          <a:bodyPr wrap="square" rtlCol="0" anchor="ctr"/>
          <a:lstStyle/>
          <a:p>
            <a:pPr algn="ctr" latinLnBrk="0"/>
            <a:r>
              <a:rPr lang="en-US" sz="1200" b="1" noProof="0" dirty="0">
                <a:latin typeface="Arial Narrow" panose="020B0606020202030204" pitchFamily="34" charset="0"/>
                <a:ea typeface="Calibri" pitchFamily="34" charset="-122"/>
                <a:cs typeface="Calibri" pitchFamily="34" charset="-120"/>
              </a:rPr>
              <a:t>To Be Measured </a:t>
            </a:r>
            <a:endParaRPr lang="en-US" sz="1200" noProof="0" dirty="0">
              <a:latin typeface="Arial Narrow" panose="020B0606020202030204" pitchFamily="34" charset="0"/>
            </a:endParaRPr>
          </a:p>
        </p:txBody>
      </p:sp>
      <p:sp>
        <p:nvSpPr>
          <p:cNvPr id="88" name="Shape 94">
            <a:extLst>
              <a:ext uri="{FF2B5EF4-FFF2-40B4-BE49-F238E27FC236}">
                <a16:creationId xmlns:a16="http://schemas.microsoft.com/office/drawing/2014/main" id="{1B074381-79CD-CA54-9251-F465A93F41D2}"/>
              </a:ext>
            </a:extLst>
          </p:cNvPr>
          <p:cNvSpPr/>
          <p:nvPr/>
        </p:nvSpPr>
        <p:spPr>
          <a:xfrm>
            <a:off x="7507866" y="4809142"/>
            <a:ext cx="2132267" cy="0"/>
          </a:xfrm>
          <a:prstGeom prst="line">
            <a:avLst/>
          </a:prstGeom>
          <a:noFill/>
          <a:ln w="6350">
            <a:noFill/>
            <a:prstDash val="solid"/>
          </a:ln>
        </p:spPr>
        <p:txBody>
          <a:bodyPr/>
          <a:lstStyle/>
          <a:p>
            <a:pPr latinLnBrk="0"/>
            <a:endParaRPr lang="en-US" sz="1200" noProof="0" dirty="0">
              <a:latin typeface="Arial Narrow" panose="020B0606020202030204" pitchFamily="34" charset="0"/>
            </a:endParaRPr>
          </a:p>
        </p:txBody>
      </p:sp>
      <p:sp>
        <p:nvSpPr>
          <p:cNvPr id="89" name="Text 95">
            <a:extLst>
              <a:ext uri="{FF2B5EF4-FFF2-40B4-BE49-F238E27FC236}">
                <a16:creationId xmlns:a16="http://schemas.microsoft.com/office/drawing/2014/main" id="{4FEA13B1-2818-1864-07C4-E0B51F9A53B4}"/>
              </a:ext>
            </a:extLst>
          </p:cNvPr>
          <p:cNvSpPr/>
          <p:nvPr/>
        </p:nvSpPr>
        <p:spPr>
          <a:xfrm>
            <a:off x="7507866" y="4838860"/>
            <a:ext cx="2132267" cy="705803"/>
          </a:xfrm>
          <a:prstGeom prst="rect">
            <a:avLst/>
          </a:prstGeom>
          <a:noFill/>
          <a:ln>
            <a:noFill/>
          </a:ln>
        </p:spPr>
        <p:txBody>
          <a:bodyPr wrap="square" rtlCol="0" anchor="t"/>
          <a:lstStyle/>
          <a:p>
            <a:pPr latinLnBrk="0"/>
            <a:r>
              <a:rPr lang="en-US" sz="1200" b="1" noProof="0" dirty="0">
                <a:latin typeface="Arial Narrow" panose="020B0606020202030204" pitchFamily="34" charset="0"/>
                <a:ea typeface="Calibri" pitchFamily="34" charset="-122"/>
                <a:cs typeface="Calibri" pitchFamily="34" charset="-120"/>
              </a:rPr>
              <a:t>Onboarding Speed  /  </a:t>
            </a:r>
            <a:r>
              <a:rPr lang="en-US" sz="1200" b="1" noProof="0" dirty="0">
                <a:solidFill>
                  <a:srgbClr val="008000"/>
                </a:solidFill>
                <a:latin typeface="Arial Narrow" panose="020B0606020202030204" pitchFamily="34" charset="0"/>
                <a:ea typeface="Calibri" pitchFamily="34" charset="-122"/>
                <a:cs typeface="Calibri" pitchFamily="34" charset="-120"/>
              </a:rPr>
              <a:t>온보딩 속도</a:t>
            </a:r>
            <a:r>
              <a:rPr lang="en-US" sz="1200" b="1" noProof="0" dirty="0">
                <a:latin typeface="Arial Narrow" panose="020B0606020202030204" pitchFamily="34" charset="0"/>
                <a:ea typeface="Calibri" pitchFamily="34" charset="-122"/>
                <a:cs typeface="Calibri" pitchFamily="34" charset="-120"/>
              </a:rPr>
              <a:t>
</a:t>
            </a:r>
            <a:endParaRPr lang="en-US" sz="1200" noProof="0" dirty="0">
              <a:latin typeface="Arial Narrow" panose="020B0606020202030204" pitchFamily="34" charset="0"/>
            </a:endParaRPr>
          </a:p>
          <a:p>
            <a:pPr latinLnBrk="0"/>
            <a:r>
              <a:rPr lang="en-US" sz="1200" noProof="0" dirty="0">
                <a:latin typeface="Arial Narrow" panose="020B0606020202030204" pitchFamily="34" charset="0"/>
                <a:ea typeface="Calibri" pitchFamily="34" charset="-122"/>
                <a:cs typeface="Calibri" pitchFamily="34" charset="-120"/>
              </a:rPr>
              <a:t>Will log actual query response times during pilot vs. current manual baseline.파일럿 중 실제 질의 응답 시간 측정 및 수동 기준선 대비 비교 예정.</a:t>
            </a:r>
            <a:endParaRPr lang="en-US" sz="1200" noProof="0" dirty="0">
              <a:latin typeface="Arial Narrow" panose="020B0606020202030204" pitchFamily="34" charset="0"/>
            </a:endParaRPr>
          </a:p>
        </p:txBody>
      </p:sp>
    </p:spTree>
    <p:extLst>
      <p:ext uri="{BB962C8B-B14F-4D97-AF65-F5344CB8AC3E}">
        <p14:creationId xmlns:p14="http://schemas.microsoft.com/office/powerpoint/2010/main" val="4262950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D2DB-70EB-1402-DBB5-F9E6F0728A64}"/>
            </a:ext>
          </a:extLst>
        </p:cNvPr>
        <p:cNvGrpSpPr/>
        <p:nvPr/>
      </p:nvGrpSpPr>
      <p:grpSpPr>
        <a:xfrm>
          <a:off x="0" y="0"/>
          <a:ext cx="0" cy="0"/>
          <a:chOff x="0" y="0"/>
          <a:chExt cx="0" cy="0"/>
        </a:xfrm>
      </p:grpSpPr>
      <p:sp>
        <p:nvSpPr>
          <p:cNvPr id="6" name="Text Box 237">
            <a:extLst>
              <a:ext uri="{FF2B5EF4-FFF2-40B4-BE49-F238E27FC236}">
                <a16:creationId xmlns:a16="http://schemas.microsoft.com/office/drawing/2014/main" id="{ABE33DA4-18F1-D891-8E1A-FB05F7F7191C}"/>
              </a:ext>
            </a:extLst>
          </p:cNvPr>
          <p:cNvSpPr txBox="1">
            <a:spLocks noChangeArrowheads="1"/>
          </p:cNvSpPr>
          <p:nvPr/>
        </p:nvSpPr>
        <p:spPr bwMode="gray">
          <a:xfrm>
            <a:off x="448886" y="65731"/>
            <a:ext cx="3075560" cy="39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3077" tIns="43200" rIns="83077" bIns="43200" anchor="ctr">
            <a:spAutoFit/>
          </a:bodyPr>
          <a:lstStyle>
            <a:lvl1pPr eaLnBrk="0" hangingPunct="0">
              <a:defRPr kumimoji="1" sz="1200" b="1">
                <a:solidFill>
                  <a:schemeClr val="tx1"/>
                </a:solidFill>
                <a:latin typeface="Arial" charset="0"/>
                <a:ea typeface="돋움" pitchFamily="50" charset="-127"/>
              </a:defRPr>
            </a:lvl1pPr>
            <a:lvl2pPr marL="742950" indent="-285750" eaLnBrk="0" hangingPunct="0">
              <a:defRPr kumimoji="1" sz="1200" b="1">
                <a:solidFill>
                  <a:schemeClr val="tx1"/>
                </a:solidFill>
                <a:latin typeface="Arial" charset="0"/>
                <a:ea typeface="돋움" pitchFamily="50" charset="-127"/>
              </a:defRPr>
            </a:lvl2pPr>
            <a:lvl3pPr marL="1143000" indent="-228600" eaLnBrk="0" hangingPunct="0">
              <a:defRPr kumimoji="1" sz="1200" b="1">
                <a:solidFill>
                  <a:schemeClr val="tx1"/>
                </a:solidFill>
                <a:latin typeface="Arial" charset="0"/>
                <a:ea typeface="돋움" pitchFamily="50" charset="-127"/>
              </a:defRPr>
            </a:lvl3pPr>
            <a:lvl4pPr marL="1600200" indent="-228600" eaLnBrk="0" hangingPunct="0">
              <a:defRPr kumimoji="1" sz="1200" b="1">
                <a:solidFill>
                  <a:schemeClr val="tx1"/>
                </a:solidFill>
                <a:latin typeface="Arial" charset="0"/>
                <a:ea typeface="돋움" pitchFamily="50" charset="-127"/>
              </a:defRPr>
            </a:lvl4pPr>
            <a:lvl5pPr marL="2057400" indent="-228600" eaLnBrk="0" hangingPunct="0">
              <a:defRPr kumimoji="1" sz="1200" b="1">
                <a:solidFill>
                  <a:schemeClr val="tx1"/>
                </a:solidFill>
                <a:latin typeface="Arial" charset="0"/>
                <a:ea typeface="돋움" pitchFamily="50" charset="-127"/>
              </a:defRPr>
            </a:lvl5pPr>
            <a:lvl6pPr marL="25146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6pPr>
            <a:lvl7pPr marL="29718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7pPr>
            <a:lvl8pPr marL="34290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8pPr>
            <a:lvl9pPr marL="38862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9pPr>
          </a:lstStyle>
          <a:p>
            <a:r>
              <a:rPr lang="en-US" sz="2000" noProof="0" dirty="0">
                <a:solidFill>
                  <a:prstClr val="black"/>
                </a:solidFill>
                <a:latin typeface="Arial Narrow" panose="020B0606020202030204" pitchFamily="34" charset="0"/>
              </a:rPr>
              <a:t>Project Workflow &amp; Activities</a:t>
            </a:r>
          </a:p>
        </p:txBody>
      </p:sp>
      <p:sp>
        <p:nvSpPr>
          <p:cNvPr id="13" name="Flowchart: Off-page Connector 12">
            <a:extLst>
              <a:ext uri="{FF2B5EF4-FFF2-40B4-BE49-F238E27FC236}">
                <a16:creationId xmlns:a16="http://schemas.microsoft.com/office/drawing/2014/main" id="{C0FA24B3-80CE-B991-8375-5A0EFF8B41AD}"/>
              </a:ext>
            </a:extLst>
          </p:cNvPr>
          <p:cNvSpPr/>
          <p:nvPr/>
        </p:nvSpPr>
        <p:spPr bwMode="auto">
          <a:xfrm>
            <a:off x="200472" y="980728"/>
            <a:ext cx="1728192" cy="648072"/>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Foundation</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rPr>
              <a:t>&amp;</a:t>
            </a:r>
            <a:endParaRPr kumimoji="1" lang="en-US" sz="1100" noProof="0" dirty="0">
              <a:latin typeface="Arial Narrow" panose="020B0606020202030204" pitchFamily="34" charset="0"/>
              <a:ea typeface="돋움" pitchFamily="50" charset="-127"/>
            </a:endParaRP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Environment Setup</a:t>
            </a:r>
            <a:endPar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endParaRPr>
          </a:p>
        </p:txBody>
      </p:sp>
      <p:sp>
        <p:nvSpPr>
          <p:cNvPr id="28" name="TextBox 27">
            <a:extLst>
              <a:ext uri="{FF2B5EF4-FFF2-40B4-BE49-F238E27FC236}">
                <a16:creationId xmlns:a16="http://schemas.microsoft.com/office/drawing/2014/main" id="{66685DB8-547B-7C4A-6439-964DF3BAC6FC}"/>
              </a:ext>
            </a:extLst>
          </p:cNvPr>
          <p:cNvSpPr txBox="1"/>
          <p:nvPr/>
        </p:nvSpPr>
        <p:spPr>
          <a:xfrm>
            <a:off x="771859" y="603367"/>
            <a:ext cx="585417" cy="307777"/>
          </a:xfrm>
          <a:prstGeom prst="rect">
            <a:avLst/>
          </a:prstGeom>
          <a:noFill/>
        </p:spPr>
        <p:txBody>
          <a:bodyPr wrap="none" rtlCol="0">
            <a:spAutoFit/>
          </a:bodyPr>
          <a:lstStyle/>
          <a:p>
            <a:r>
              <a:rPr lang="en-US" sz="1400" b="1" noProof="0" dirty="0">
                <a:latin typeface="Arial Narrow" panose="020B0606020202030204" pitchFamily="34" charset="0"/>
              </a:rPr>
              <a:t>Steps</a:t>
            </a:r>
          </a:p>
        </p:txBody>
      </p:sp>
      <p:cxnSp>
        <p:nvCxnSpPr>
          <p:cNvPr id="36" name="Straight Connector 35">
            <a:extLst>
              <a:ext uri="{FF2B5EF4-FFF2-40B4-BE49-F238E27FC236}">
                <a16:creationId xmlns:a16="http://schemas.microsoft.com/office/drawing/2014/main" id="{8CD0FA13-F4FE-C6EA-1F16-AAF642344243}"/>
              </a:ext>
            </a:extLst>
          </p:cNvPr>
          <p:cNvCxnSpPr/>
          <p:nvPr/>
        </p:nvCxnSpPr>
        <p:spPr bwMode="auto">
          <a:xfrm>
            <a:off x="704527" y="894954"/>
            <a:ext cx="720080" cy="0"/>
          </a:xfrm>
          <a:prstGeom prst="line">
            <a:avLst/>
          </a:prstGeom>
          <a:noFill/>
          <a:ln w="9525" cap="flat" cmpd="sng" algn="ctr">
            <a:solidFill>
              <a:schemeClr val="tx1"/>
            </a:solidFill>
            <a:prstDash val="solid"/>
            <a:round/>
            <a:headEnd type="none" w="med" len="med"/>
            <a:tailEnd type="none" w="med" len="med"/>
          </a:ln>
          <a:effectLst/>
        </p:spPr>
      </p:cxnSp>
      <p:sp>
        <p:nvSpPr>
          <p:cNvPr id="37" name="TextBox 36">
            <a:extLst>
              <a:ext uri="{FF2B5EF4-FFF2-40B4-BE49-F238E27FC236}">
                <a16:creationId xmlns:a16="http://schemas.microsoft.com/office/drawing/2014/main" id="{A3E74775-2C41-C8D4-62C5-308C41FE94D0}"/>
              </a:ext>
            </a:extLst>
          </p:cNvPr>
          <p:cNvSpPr txBox="1"/>
          <p:nvPr/>
        </p:nvSpPr>
        <p:spPr>
          <a:xfrm>
            <a:off x="4594574" y="603367"/>
            <a:ext cx="718466" cy="307777"/>
          </a:xfrm>
          <a:prstGeom prst="rect">
            <a:avLst/>
          </a:prstGeom>
          <a:noFill/>
        </p:spPr>
        <p:txBody>
          <a:bodyPr wrap="none" rtlCol="0">
            <a:spAutoFit/>
          </a:bodyPr>
          <a:lstStyle/>
          <a:p>
            <a:r>
              <a:rPr lang="en-US" sz="1400" b="1" noProof="0" dirty="0">
                <a:latin typeface="Arial Narrow" panose="020B0606020202030204" pitchFamily="34" charset="0"/>
              </a:rPr>
              <a:t>Activity</a:t>
            </a:r>
          </a:p>
        </p:txBody>
      </p:sp>
      <p:cxnSp>
        <p:nvCxnSpPr>
          <p:cNvPr id="44" name="Straight Connector 43">
            <a:extLst>
              <a:ext uri="{FF2B5EF4-FFF2-40B4-BE49-F238E27FC236}">
                <a16:creationId xmlns:a16="http://schemas.microsoft.com/office/drawing/2014/main" id="{C9F6C249-61BA-4DED-C5CE-14CAEE0D609B}"/>
              </a:ext>
            </a:extLst>
          </p:cNvPr>
          <p:cNvCxnSpPr/>
          <p:nvPr/>
        </p:nvCxnSpPr>
        <p:spPr bwMode="auto">
          <a:xfrm>
            <a:off x="4592960" y="894954"/>
            <a:ext cx="720080" cy="0"/>
          </a:xfrm>
          <a:prstGeom prst="line">
            <a:avLst/>
          </a:prstGeom>
          <a:noFill/>
          <a:ln w="9525" cap="flat" cmpd="sng" algn="ctr">
            <a:solidFill>
              <a:schemeClr val="tx1"/>
            </a:solidFill>
            <a:prstDash val="solid"/>
            <a:round/>
            <a:headEnd type="none" w="med" len="med"/>
            <a:tailEnd type="none" w="med" len="med"/>
          </a:ln>
          <a:effectLst/>
        </p:spPr>
      </p:cxnSp>
      <p:sp>
        <p:nvSpPr>
          <p:cNvPr id="45" name="TextBox 44">
            <a:extLst>
              <a:ext uri="{FF2B5EF4-FFF2-40B4-BE49-F238E27FC236}">
                <a16:creationId xmlns:a16="http://schemas.microsoft.com/office/drawing/2014/main" id="{5A917FBC-F044-BCD8-1EAE-7169A5EC1AD5}"/>
              </a:ext>
            </a:extLst>
          </p:cNvPr>
          <p:cNvSpPr txBox="1"/>
          <p:nvPr/>
        </p:nvSpPr>
        <p:spPr>
          <a:xfrm>
            <a:off x="8049736" y="603367"/>
            <a:ext cx="503664" cy="307777"/>
          </a:xfrm>
          <a:prstGeom prst="rect">
            <a:avLst/>
          </a:prstGeom>
          <a:noFill/>
        </p:spPr>
        <p:txBody>
          <a:bodyPr wrap="none" rtlCol="0">
            <a:spAutoFit/>
          </a:bodyPr>
          <a:lstStyle/>
          <a:p>
            <a:r>
              <a:rPr lang="en-US" sz="1400" b="1" noProof="0" dirty="0">
                <a:latin typeface="Arial Narrow" panose="020B0606020202030204" pitchFamily="34" charset="0"/>
              </a:rPr>
              <a:t>Date</a:t>
            </a:r>
          </a:p>
        </p:txBody>
      </p:sp>
      <p:cxnSp>
        <p:nvCxnSpPr>
          <p:cNvPr id="46" name="Straight Connector 45">
            <a:extLst>
              <a:ext uri="{FF2B5EF4-FFF2-40B4-BE49-F238E27FC236}">
                <a16:creationId xmlns:a16="http://schemas.microsoft.com/office/drawing/2014/main" id="{FE6C84F1-131A-0328-032E-A4CD3E40D19B}"/>
              </a:ext>
            </a:extLst>
          </p:cNvPr>
          <p:cNvCxnSpPr>
            <a:cxnSpLocks/>
          </p:cNvCxnSpPr>
          <p:nvPr/>
        </p:nvCxnSpPr>
        <p:spPr bwMode="auto">
          <a:xfrm>
            <a:off x="8048122" y="894954"/>
            <a:ext cx="505278" cy="0"/>
          </a:xfrm>
          <a:prstGeom prst="line">
            <a:avLst/>
          </a:prstGeom>
          <a:noFill/>
          <a:ln w="9525" cap="flat" cmpd="sng" algn="ctr">
            <a:solidFill>
              <a:schemeClr val="tx1"/>
            </a:solidFill>
            <a:prstDash val="solid"/>
            <a:round/>
            <a:headEnd type="none" w="med" len="med"/>
            <a:tailEnd type="none" w="med" len="med"/>
          </a:ln>
          <a:effectLst/>
        </p:spPr>
      </p:cxnSp>
      <p:sp>
        <p:nvSpPr>
          <p:cNvPr id="49" name="TextBox 48">
            <a:extLst>
              <a:ext uri="{FF2B5EF4-FFF2-40B4-BE49-F238E27FC236}">
                <a16:creationId xmlns:a16="http://schemas.microsoft.com/office/drawing/2014/main" id="{12658D5D-13D4-73D4-E0B5-82B30C0F1E52}"/>
              </a:ext>
            </a:extLst>
          </p:cNvPr>
          <p:cNvSpPr txBox="1"/>
          <p:nvPr/>
        </p:nvSpPr>
        <p:spPr>
          <a:xfrm>
            <a:off x="9001870" y="603367"/>
            <a:ext cx="487634" cy="307777"/>
          </a:xfrm>
          <a:prstGeom prst="rect">
            <a:avLst/>
          </a:prstGeom>
          <a:noFill/>
        </p:spPr>
        <p:txBody>
          <a:bodyPr wrap="none" rtlCol="0">
            <a:spAutoFit/>
          </a:bodyPr>
          <a:lstStyle/>
          <a:p>
            <a:r>
              <a:rPr lang="en-US" sz="1400" b="1" noProof="0" dirty="0">
                <a:latin typeface="Arial Narrow" panose="020B0606020202030204" pitchFamily="34" charset="0"/>
              </a:rPr>
              <a:t>Flag</a:t>
            </a:r>
          </a:p>
        </p:txBody>
      </p:sp>
      <p:cxnSp>
        <p:nvCxnSpPr>
          <p:cNvPr id="65" name="Straight Connector 64">
            <a:extLst>
              <a:ext uri="{FF2B5EF4-FFF2-40B4-BE49-F238E27FC236}">
                <a16:creationId xmlns:a16="http://schemas.microsoft.com/office/drawing/2014/main" id="{97AD0861-F4FF-AEB9-300C-00D7540E9824}"/>
              </a:ext>
            </a:extLst>
          </p:cNvPr>
          <p:cNvCxnSpPr>
            <a:cxnSpLocks/>
          </p:cNvCxnSpPr>
          <p:nvPr/>
        </p:nvCxnSpPr>
        <p:spPr bwMode="auto">
          <a:xfrm>
            <a:off x="9000256" y="894954"/>
            <a:ext cx="489248" cy="0"/>
          </a:xfrm>
          <a:prstGeom prst="line">
            <a:avLst/>
          </a:prstGeom>
          <a:noFill/>
          <a:ln w="9525" cap="flat" cmpd="sng" algn="ctr">
            <a:solidFill>
              <a:schemeClr val="tx1"/>
            </a:solidFill>
            <a:prstDash val="solid"/>
            <a:round/>
            <a:headEnd type="none" w="med" len="med"/>
            <a:tailEnd type="none" w="med" len="med"/>
          </a:ln>
          <a:effectLst/>
        </p:spPr>
      </p:cxnSp>
      <p:sp>
        <p:nvSpPr>
          <p:cNvPr id="68" name="Flowchart: Off-page Connector 67">
            <a:extLst>
              <a:ext uri="{FF2B5EF4-FFF2-40B4-BE49-F238E27FC236}">
                <a16:creationId xmlns:a16="http://schemas.microsoft.com/office/drawing/2014/main" id="{33F4C1AB-D77B-26B2-5D3D-DEE9DBB29E6F}"/>
              </a:ext>
            </a:extLst>
          </p:cNvPr>
          <p:cNvSpPr/>
          <p:nvPr/>
        </p:nvSpPr>
        <p:spPr bwMode="auto">
          <a:xfrm>
            <a:off x="200471" y="1628800"/>
            <a:ext cx="1728192" cy="864096"/>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Requirements</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rPr>
              <a:t>&amp;</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Scope Definition</a:t>
            </a:r>
            <a:endPar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endParaRPr>
          </a:p>
        </p:txBody>
      </p:sp>
      <p:sp>
        <p:nvSpPr>
          <p:cNvPr id="69" name="Flowchart: Off-page Connector 68">
            <a:extLst>
              <a:ext uri="{FF2B5EF4-FFF2-40B4-BE49-F238E27FC236}">
                <a16:creationId xmlns:a16="http://schemas.microsoft.com/office/drawing/2014/main" id="{A0AD0AAA-678C-63CD-E686-68876195C970}"/>
              </a:ext>
            </a:extLst>
          </p:cNvPr>
          <p:cNvSpPr/>
          <p:nvPr/>
        </p:nvSpPr>
        <p:spPr bwMode="auto">
          <a:xfrm>
            <a:off x="200471" y="2492896"/>
            <a:ext cx="1728192" cy="1152128"/>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Data</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rPr>
              <a:t>&amp;</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Architecture Setup</a:t>
            </a:r>
            <a:endPar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endParaRPr>
          </a:p>
        </p:txBody>
      </p:sp>
      <p:sp>
        <p:nvSpPr>
          <p:cNvPr id="72" name="Flowchart: Off-page Connector 71">
            <a:extLst>
              <a:ext uri="{FF2B5EF4-FFF2-40B4-BE49-F238E27FC236}">
                <a16:creationId xmlns:a16="http://schemas.microsoft.com/office/drawing/2014/main" id="{44D27637-ABEC-55BA-CEE6-CAB6D6AA62FB}"/>
              </a:ext>
            </a:extLst>
          </p:cNvPr>
          <p:cNvSpPr/>
          <p:nvPr/>
        </p:nvSpPr>
        <p:spPr bwMode="auto">
          <a:xfrm>
            <a:off x="200471" y="3645025"/>
            <a:ext cx="1728192" cy="1296144"/>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Core Development</a:t>
            </a:r>
          </a:p>
        </p:txBody>
      </p:sp>
      <p:sp>
        <p:nvSpPr>
          <p:cNvPr id="73" name="Flowchart: Off-page Connector 72">
            <a:extLst>
              <a:ext uri="{FF2B5EF4-FFF2-40B4-BE49-F238E27FC236}">
                <a16:creationId xmlns:a16="http://schemas.microsoft.com/office/drawing/2014/main" id="{C69E39C6-9854-3112-F83F-EA656B862222}"/>
              </a:ext>
            </a:extLst>
          </p:cNvPr>
          <p:cNvSpPr/>
          <p:nvPr/>
        </p:nvSpPr>
        <p:spPr bwMode="auto">
          <a:xfrm>
            <a:off x="200471" y="4941169"/>
            <a:ext cx="1728192" cy="991502"/>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Testing</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&amp;</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Feedback</a:t>
            </a:r>
          </a:p>
        </p:txBody>
      </p:sp>
      <p:sp>
        <p:nvSpPr>
          <p:cNvPr id="74" name="Flowchart: Off-page Connector 73">
            <a:extLst>
              <a:ext uri="{FF2B5EF4-FFF2-40B4-BE49-F238E27FC236}">
                <a16:creationId xmlns:a16="http://schemas.microsoft.com/office/drawing/2014/main" id="{6282F07B-19B7-4795-B6B2-5EC2922B7DFE}"/>
              </a:ext>
            </a:extLst>
          </p:cNvPr>
          <p:cNvSpPr/>
          <p:nvPr/>
        </p:nvSpPr>
        <p:spPr bwMode="auto">
          <a:xfrm>
            <a:off x="200471" y="5930597"/>
            <a:ext cx="1728192" cy="861672"/>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Deployment</a:t>
            </a:r>
          </a:p>
        </p:txBody>
      </p:sp>
      <p:sp>
        <p:nvSpPr>
          <p:cNvPr id="75" name="Rectangle 1">
            <a:extLst>
              <a:ext uri="{FF2B5EF4-FFF2-40B4-BE49-F238E27FC236}">
                <a16:creationId xmlns:a16="http://schemas.microsoft.com/office/drawing/2014/main" id="{63D50592-BBF4-29B3-4254-889CDDD66A33}"/>
              </a:ext>
            </a:extLst>
          </p:cNvPr>
          <p:cNvSpPr>
            <a:spLocks noChangeArrowheads="1"/>
          </p:cNvSpPr>
          <p:nvPr/>
        </p:nvSpPr>
        <p:spPr bwMode="auto">
          <a:xfrm>
            <a:off x="2216691" y="982469"/>
            <a:ext cx="547130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defTabSz="914400" eaLnBrk="0" fontAlgn="base" latinLnBrk="0" hangingPunct="0">
              <a:spcBef>
                <a:spcPct val="0"/>
              </a:spcBef>
              <a:spcAft>
                <a:spcPct val="0"/>
              </a:spcAft>
              <a:buFont typeface="Arial" panose="020B0604020202020204" pitchFamily="34" charset="0"/>
              <a:buChar char="•"/>
            </a:pPr>
            <a:r>
              <a:rPr lang="en-US" sz="1200" noProof="0" dirty="0">
                <a:latin typeface="Arial Narrow" panose="020B0606020202030204" pitchFamily="34" charset="0"/>
                <a:cs typeface="Segoe UI" panose="020B0502040204020203" pitchFamily="34" charset="0"/>
              </a:rPr>
              <a:t>Set up the Azure system environment required for data storage, AI retrieval, and model reasoning, including Azure SQL Database, Azure AI Search, Azure OpenAI Service, and Copilot Studio.</a:t>
            </a:r>
          </a:p>
        </p:txBody>
      </p:sp>
      <p:sp>
        <p:nvSpPr>
          <p:cNvPr id="76" name="Rectangle 2">
            <a:extLst>
              <a:ext uri="{FF2B5EF4-FFF2-40B4-BE49-F238E27FC236}">
                <a16:creationId xmlns:a16="http://schemas.microsoft.com/office/drawing/2014/main" id="{8B64C27B-EBD5-DBF5-7E4F-5D1F0DA990DB}"/>
              </a:ext>
            </a:extLst>
          </p:cNvPr>
          <p:cNvSpPr>
            <a:spLocks noChangeArrowheads="1"/>
          </p:cNvSpPr>
          <p:nvPr/>
        </p:nvSpPr>
        <p:spPr bwMode="auto">
          <a:xfrm>
            <a:off x="2216691" y="1556792"/>
            <a:ext cx="54713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defTabSz="914400" eaLnBrk="0" fontAlgn="base" latinLnBrk="0" hangingPunct="0">
              <a:spcBef>
                <a:spcPct val="0"/>
              </a:spcBef>
              <a:spcAft>
                <a:spcPct val="0"/>
              </a:spcAft>
              <a:buFont typeface="Arial" panose="020B0604020202020204" pitchFamily="34" charset="0"/>
              <a:buChar char="•"/>
            </a:pPr>
            <a:r>
              <a:rPr lang="en-US" sz="1200" noProof="0" dirty="0">
                <a:latin typeface="Arial Narrow" panose="020B0606020202030204" pitchFamily="34" charset="0"/>
                <a:cs typeface="Segoe UI" panose="020B0502040204020203" pitchFamily="34" charset="0"/>
              </a:rPr>
              <a:t>Define business requirements, data scope (7‑year work‑order history), system boundaries, KPIs, and success criteria for the AI‑based work‑order management and analytics solution.</a:t>
            </a:r>
          </a:p>
          <a:p>
            <a:pPr marL="171450" indent="-171450" defTabSz="914400" eaLnBrk="0" fontAlgn="base" latinLnBrk="0" hangingPunct="0">
              <a:spcBef>
                <a:spcPct val="0"/>
              </a:spcBef>
              <a:spcAft>
                <a:spcPct val="0"/>
              </a:spcAft>
              <a:buFont typeface="Arial" panose="020B0604020202020204" pitchFamily="34" charset="0"/>
              <a:buChar char="•"/>
            </a:pPr>
            <a:r>
              <a:rPr lang="en-US" sz="1200" noProof="0" dirty="0">
                <a:latin typeface="Arial Narrow" panose="020B0606020202030204" pitchFamily="34" charset="0"/>
                <a:cs typeface="Segoe UI" panose="020B0502040204020203" pitchFamily="34" charset="0"/>
              </a:rPr>
              <a:t>Identify common technician queries, failure scenarios, and expected outputs for natural‑language answers.</a:t>
            </a:r>
          </a:p>
        </p:txBody>
      </p:sp>
      <p:sp>
        <p:nvSpPr>
          <p:cNvPr id="78" name="TextBox 77">
            <a:extLst>
              <a:ext uri="{FF2B5EF4-FFF2-40B4-BE49-F238E27FC236}">
                <a16:creationId xmlns:a16="http://schemas.microsoft.com/office/drawing/2014/main" id="{670918B1-E001-4DD5-7D1C-58450252D0C6}"/>
              </a:ext>
            </a:extLst>
          </p:cNvPr>
          <p:cNvSpPr txBox="1"/>
          <p:nvPr/>
        </p:nvSpPr>
        <p:spPr>
          <a:xfrm>
            <a:off x="2216691" y="2492896"/>
            <a:ext cx="5398917" cy="1015663"/>
          </a:xfrm>
          <a:prstGeom prst="rect">
            <a:avLst/>
          </a:prstGeom>
          <a:noFill/>
        </p:spPr>
        <p:txBody>
          <a:bodyPr wrap="square">
            <a:spAutoFit/>
          </a:bodyPr>
          <a:lstStyle/>
          <a:p>
            <a:pPr marL="171450" indent="-171450" latinLnBrk="0">
              <a:buFont typeface="Arial" panose="020B0604020202020204" pitchFamily="34" charset="0"/>
              <a:buChar char="•"/>
            </a:pPr>
            <a:r>
              <a:rPr lang="en-US" sz="1200" noProof="0" dirty="0">
                <a:latin typeface="Arial Narrow" panose="020B0606020202030204" pitchFamily="34" charset="0"/>
              </a:rPr>
              <a:t>Design the data structure and load historical work‑order data into Azure SQL; normalize inconsistent technician notes, unify terminology, and integrate equipment/line mapping to support reliable AI retrieval. </a:t>
            </a:r>
          </a:p>
          <a:p>
            <a:pPr marL="171450" indent="-171450" latinLnBrk="0">
              <a:buFont typeface="Arial" panose="020B0604020202020204" pitchFamily="34" charset="0"/>
              <a:buChar char="•"/>
            </a:pPr>
            <a:r>
              <a:rPr lang="en-US" sz="1200" noProof="0" dirty="0">
                <a:latin typeface="Arial Narrow" panose="020B0606020202030204" pitchFamily="34" charset="0"/>
              </a:rPr>
              <a:t>Configure Azure AI Search to retrieve relevant work orders even when technicians use different formats or wording.</a:t>
            </a:r>
          </a:p>
        </p:txBody>
      </p:sp>
      <p:sp>
        <p:nvSpPr>
          <p:cNvPr id="84" name="TextBox 83">
            <a:extLst>
              <a:ext uri="{FF2B5EF4-FFF2-40B4-BE49-F238E27FC236}">
                <a16:creationId xmlns:a16="http://schemas.microsoft.com/office/drawing/2014/main" id="{1BE7D6EE-28C8-0083-9A84-B12576F985D3}"/>
              </a:ext>
            </a:extLst>
          </p:cNvPr>
          <p:cNvSpPr txBox="1"/>
          <p:nvPr/>
        </p:nvSpPr>
        <p:spPr>
          <a:xfrm>
            <a:off x="2216691" y="4933617"/>
            <a:ext cx="5470650" cy="1015663"/>
          </a:xfrm>
          <a:prstGeom prst="rect">
            <a:avLst/>
          </a:prstGeom>
          <a:noFill/>
        </p:spPr>
        <p:txBody>
          <a:bodyPr wrap="square">
            <a:spAutoFit/>
          </a:bodyPr>
          <a:lstStyle/>
          <a:p>
            <a:pPr marL="171450" indent="-171450" latinLnBrk="0">
              <a:buFont typeface="Arial" panose="020B0604020202020204" pitchFamily="34" charset="0"/>
              <a:buChar char="•"/>
            </a:pPr>
            <a:r>
              <a:rPr lang="en-US" sz="1200" noProof="0" dirty="0">
                <a:latin typeface="Arial Narrow" panose="020B0606020202030204" pitchFamily="34" charset="0"/>
              </a:rPr>
              <a:t>Validate accuracy, relevance, and response time through user testing with six PE engineers; collect feedback on hallucinations, missing synonyms, and retrieval gaps.</a:t>
            </a:r>
          </a:p>
          <a:p>
            <a:pPr marL="171450" indent="-171450" latinLnBrk="0">
              <a:buFont typeface="Arial" panose="020B0604020202020204" pitchFamily="34" charset="0"/>
              <a:buChar char="•"/>
            </a:pPr>
            <a:r>
              <a:rPr lang="en-US" sz="1200" noProof="0" dirty="0">
                <a:latin typeface="Arial Narrow" panose="020B0606020202030204" pitchFamily="34" charset="0"/>
              </a:rPr>
              <a:t>Refine model prompts, retrieval filters, and language mappings to enhance reliability and usability.</a:t>
            </a:r>
          </a:p>
          <a:p>
            <a:pPr marL="171450" indent="-171450" latinLnBrk="0">
              <a:buFont typeface="Arial" panose="020B0604020202020204" pitchFamily="34" charset="0"/>
              <a:buChar char="•"/>
            </a:pPr>
            <a:endParaRPr lang="en-US" sz="1200" noProof="0" dirty="0">
              <a:latin typeface="Arial Narrow" panose="020B0606020202030204" pitchFamily="34" charset="0"/>
            </a:endParaRPr>
          </a:p>
        </p:txBody>
      </p:sp>
      <p:sp>
        <p:nvSpPr>
          <p:cNvPr id="86" name="TextBox 85">
            <a:extLst>
              <a:ext uri="{FF2B5EF4-FFF2-40B4-BE49-F238E27FC236}">
                <a16:creationId xmlns:a16="http://schemas.microsoft.com/office/drawing/2014/main" id="{E88805CE-9FD5-59C3-7531-8035E66445FD}"/>
              </a:ext>
            </a:extLst>
          </p:cNvPr>
          <p:cNvSpPr txBox="1"/>
          <p:nvPr/>
        </p:nvSpPr>
        <p:spPr>
          <a:xfrm>
            <a:off x="2216691" y="5877272"/>
            <a:ext cx="5470649" cy="830997"/>
          </a:xfrm>
          <a:prstGeom prst="rect">
            <a:avLst/>
          </a:prstGeom>
          <a:noFill/>
        </p:spPr>
        <p:txBody>
          <a:bodyPr wrap="square">
            <a:spAutoFit/>
          </a:bodyPr>
          <a:lstStyle/>
          <a:p>
            <a:pPr marL="171450" indent="-171450" latinLnBrk="0">
              <a:buFont typeface="Arial" panose="020B0604020202020204" pitchFamily="34" charset="0"/>
              <a:buChar char="•"/>
            </a:pPr>
            <a:r>
              <a:rPr lang="en-US" sz="1200" noProof="0" dirty="0">
                <a:latin typeface="Arial Narrow" panose="020B0606020202030204" pitchFamily="34" charset="0"/>
              </a:rPr>
              <a:t>Deploy the validated AI assistant to the production Teams environment; enable secure access, finalize permissions, and monitor performance.</a:t>
            </a:r>
          </a:p>
          <a:p>
            <a:pPr marL="171450" indent="-171450" latinLnBrk="0">
              <a:buFont typeface="Arial" panose="020B0604020202020204" pitchFamily="34" charset="0"/>
              <a:buChar char="•"/>
            </a:pPr>
            <a:r>
              <a:rPr lang="en-US" sz="1200" noProof="0" dirty="0">
                <a:latin typeface="Arial Narrow" panose="020B0606020202030204" pitchFamily="34" charset="0"/>
              </a:rPr>
              <a:t> Provide usage training to technicians and PE engineers and create a continuous improvement loop for system enhancements.</a:t>
            </a:r>
          </a:p>
        </p:txBody>
      </p:sp>
      <p:cxnSp>
        <p:nvCxnSpPr>
          <p:cNvPr id="109" name="직선 연결선 120">
            <a:extLst>
              <a:ext uri="{FF2B5EF4-FFF2-40B4-BE49-F238E27FC236}">
                <a16:creationId xmlns:a16="http://schemas.microsoft.com/office/drawing/2014/main" id="{77F2EF5E-C987-4BC0-F880-9390A344BA2E}"/>
              </a:ext>
            </a:extLst>
          </p:cNvPr>
          <p:cNvCxnSpPr>
            <a:cxnSpLocks/>
            <a:stCxn id="89" idx="4"/>
            <a:endCxn id="90" idx="0"/>
          </p:cNvCxnSpPr>
          <p:nvPr/>
        </p:nvCxnSpPr>
        <p:spPr>
          <a:xfrm>
            <a:off x="9244880" y="1269593"/>
            <a:ext cx="0" cy="708204"/>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7" name="직선 연결선 120">
            <a:extLst>
              <a:ext uri="{FF2B5EF4-FFF2-40B4-BE49-F238E27FC236}">
                <a16:creationId xmlns:a16="http://schemas.microsoft.com/office/drawing/2014/main" id="{FE82A838-DEDA-7B3C-72ED-5D84AB8D42BD}"/>
              </a:ext>
            </a:extLst>
          </p:cNvPr>
          <p:cNvCxnSpPr>
            <a:cxnSpLocks/>
            <a:stCxn id="90" idx="4"/>
            <a:endCxn id="108" idx="0"/>
          </p:cNvCxnSpPr>
          <p:nvPr/>
        </p:nvCxnSpPr>
        <p:spPr>
          <a:xfrm>
            <a:off x="9244880" y="2060848"/>
            <a:ext cx="0" cy="637029"/>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20">
            <a:extLst>
              <a:ext uri="{FF2B5EF4-FFF2-40B4-BE49-F238E27FC236}">
                <a16:creationId xmlns:a16="http://schemas.microsoft.com/office/drawing/2014/main" id="{01F644CE-00F5-FF93-96AB-1414B21D079C}"/>
              </a:ext>
            </a:extLst>
          </p:cNvPr>
          <p:cNvCxnSpPr>
            <a:cxnSpLocks/>
            <a:stCxn id="108" idx="4"/>
            <a:endCxn id="144" idx="0"/>
          </p:cNvCxnSpPr>
          <p:nvPr/>
        </p:nvCxnSpPr>
        <p:spPr>
          <a:xfrm>
            <a:off x="9244880" y="2780928"/>
            <a:ext cx="1032" cy="122413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9" name="직선 연결선 120">
            <a:extLst>
              <a:ext uri="{FF2B5EF4-FFF2-40B4-BE49-F238E27FC236}">
                <a16:creationId xmlns:a16="http://schemas.microsoft.com/office/drawing/2014/main" id="{2573FA6F-B172-E12E-0067-0F8825DE9E0A}"/>
              </a:ext>
            </a:extLst>
          </p:cNvPr>
          <p:cNvCxnSpPr>
            <a:cxnSpLocks/>
            <a:stCxn id="144" idx="4"/>
            <a:endCxn id="148" idx="0"/>
          </p:cNvCxnSpPr>
          <p:nvPr/>
        </p:nvCxnSpPr>
        <p:spPr>
          <a:xfrm flipH="1">
            <a:off x="9244880" y="4088115"/>
            <a:ext cx="1032" cy="1487837"/>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3" name="직선 연결선 120">
            <a:extLst>
              <a:ext uri="{FF2B5EF4-FFF2-40B4-BE49-F238E27FC236}">
                <a16:creationId xmlns:a16="http://schemas.microsoft.com/office/drawing/2014/main" id="{3A933CF1-EBFE-69BF-76DE-327D8AD04E38}"/>
              </a:ext>
            </a:extLst>
          </p:cNvPr>
          <p:cNvCxnSpPr>
            <a:cxnSpLocks/>
            <a:stCxn id="148" idx="4"/>
          </p:cNvCxnSpPr>
          <p:nvPr/>
        </p:nvCxnSpPr>
        <p:spPr>
          <a:xfrm>
            <a:off x="9244880" y="5659003"/>
            <a:ext cx="0" cy="567392"/>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9" name="타원 159">
            <a:extLst>
              <a:ext uri="{FF2B5EF4-FFF2-40B4-BE49-F238E27FC236}">
                <a16:creationId xmlns:a16="http://schemas.microsoft.com/office/drawing/2014/main" id="{4883B880-CC97-696D-0F70-FDFACD11C815}"/>
              </a:ext>
            </a:extLst>
          </p:cNvPr>
          <p:cNvSpPr/>
          <p:nvPr/>
        </p:nvSpPr>
        <p:spPr>
          <a:xfrm>
            <a:off x="9203164" y="1186542"/>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endParaRPr>
          </a:p>
        </p:txBody>
      </p:sp>
      <p:sp>
        <p:nvSpPr>
          <p:cNvPr id="90" name="타원 159">
            <a:extLst>
              <a:ext uri="{FF2B5EF4-FFF2-40B4-BE49-F238E27FC236}">
                <a16:creationId xmlns:a16="http://schemas.microsoft.com/office/drawing/2014/main" id="{F0B8D0D4-C4F1-FB7B-6CAC-58D10CADE705}"/>
              </a:ext>
            </a:extLst>
          </p:cNvPr>
          <p:cNvSpPr/>
          <p:nvPr/>
        </p:nvSpPr>
        <p:spPr>
          <a:xfrm>
            <a:off x="9203164" y="1977797"/>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endParaRPr>
          </a:p>
        </p:txBody>
      </p:sp>
      <p:sp>
        <p:nvSpPr>
          <p:cNvPr id="108" name="타원 159">
            <a:extLst>
              <a:ext uri="{FF2B5EF4-FFF2-40B4-BE49-F238E27FC236}">
                <a16:creationId xmlns:a16="http://schemas.microsoft.com/office/drawing/2014/main" id="{4861D7E7-E736-516F-85BA-2E04FDA3FE4D}"/>
              </a:ext>
            </a:extLst>
          </p:cNvPr>
          <p:cNvSpPr/>
          <p:nvPr/>
        </p:nvSpPr>
        <p:spPr>
          <a:xfrm>
            <a:off x="9203164" y="2697877"/>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endParaRPr>
          </a:p>
        </p:txBody>
      </p:sp>
      <p:sp>
        <p:nvSpPr>
          <p:cNvPr id="144" name="타원 159">
            <a:extLst>
              <a:ext uri="{FF2B5EF4-FFF2-40B4-BE49-F238E27FC236}">
                <a16:creationId xmlns:a16="http://schemas.microsoft.com/office/drawing/2014/main" id="{A30C625E-D798-EB08-4547-90EF4D59CBF2}"/>
              </a:ext>
            </a:extLst>
          </p:cNvPr>
          <p:cNvSpPr/>
          <p:nvPr/>
        </p:nvSpPr>
        <p:spPr>
          <a:xfrm>
            <a:off x="9204196" y="4005064"/>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endParaRPr>
          </a:p>
        </p:txBody>
      </p:sp>
      <p:sp>
        <p:nvSpPr>
          <p:cNvPr id="148" name="타원 159">
            <a:extLst>
              <a:ext uri="{FF2B5EF4-FFF2-40B4-BE49-F238E27FC236}">
                <a16:creationId xmlns:a16="http://schemas.microsoft.com/office/drawing/2014/main" id="{74925D4B-3994-EDB5-1564-661C699095BF}"/>
              </a:ext>
            </a:extLst>
          </p:cNvPr>
          <p:cNvSpPr/>
          <p:nvPr/>
        </p:nvSpPr>
        <p:spPr>
          <a:xfrm>
            <a:off x="9203164" y="5575952"/>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endParaRPr>
          </a:p>
        </p:txBody>
      </p:sp>
      <p:sp>
        <p:nvSpPr>
          <p:cNvPr id="152" name="타원 159">
            <a:extLst>
              <a:ext uri="{FF2B5EF4-FFF2-40B4-BE49-F238E27FC236}">
                <a16:creationId xmlns:a16="http://schemas.microsoft.com/office/drawing/2014/main" id="{E6FA06F9-2301-5495-B54C-7404575C3636}"/>
              </a:ext>
            </a:extLst>
          </p:cNvPr>
          <p:cNvSpPr/>
          <p:nvPr/>
        </p:nvSpPr>
        <p:spPr>
          <a:xfrm>
            <a:off x="9203164" y="6213106"/>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endParaRPr>
          </a:p>
        </p:txBody>
      </p:sp>
      <p:sp>
        <p:nvSpPr>
          <p:cNvPr id="166" name="TextBox 165">
            <a:extLst>
              <a:ext uri="{FF2B5EF4-FFF2-40B4-BE49-F238E27FC236}">
                <a16:creationId xmlns:a16="http://schemas.microsoft.com/office/drawing/2014/main" id="{04D148A6-36E6-56C4-9858-045A5E60CD4C}"/>
              </a:ext>
            </a:extLst>
          </p:cNvPr>
          <p:cNvSpPr txBox="1"/>
          <p:nvPr/>
        </p:nvSpPr>
        <p:spPr>
          <a:xfrm>
            <a:off x="8078585" y="1092919"/>
            <a:ext cx="505267" cy="246221"/>
          </a:xfrm>
          <a:prstGeom prst="rect">
            <a:avLst/>
          </a:prstGeom>
          <a:noFill/>
        </p:spPr>
        <p:txBody>
          <a:bodyPr wrap="none" rtlCol="0">
            <a:spAutoFit/>
          </a:bodyPr>
          <a:lstStyle/>
          <a:p>
            <a:r>
              <a:rPr lang="en-US" sz="1000" noProof="0" dirty="0">
                <a:latin typeface="Arial Narrow" panose="020B0606020202030204" pitchFamily="34" charset="0"/>
              </a:rPr>
              <a:t>~03.19</a:t>
            </a:r>
          </a:p>
        </p:txBody>
      </p:sp>
      <p:sp>
        <p:nvSpPr>
          <p:cNvPr id="167" name="TextBox 166">
            <a:extLst>
              <a:ext uri="{FF2B5EF4-FFF2-40B4-BE49-F238E27FC236}">
                <a16:creationId xmlns:a16="http://schemas.microsoft.com/office/drawing/2014/main" id="{2FF9FC6A-E18A-3BB8-4895-18307DCD5126}"/>
              </a:ext>
            </a:extLst>
          </p:cNvPr>
          <p:cNvSpPr txBox="1"/>
          <p:nvPr/>
        </p:nvSpPr>
        <p:spPr>
          <a:xfrm>
            <a:off x="8078585" y="1854686"/>
            <a:ext cx="505267" cy="246221"/>
          </a:xfrm>
          <a:prstGeom prst="rect">
            <a:avLst/>
          </a:prstGeom>
          <a:noFill/>
        </p:spPr>
        <p:txBody>
          <a:bodyPr wrap="none" rtlCol="0">
            <a:spAutoFit/>
          </a:bodyPr>
          <a:lstStyle/>
          <a:p>
            <a:r>
              <a:rPr lang="en-US" sz="1000" noProof="0" dirty="0">
                <a:latin typeface="Arial Narrow" panose="020B0606020202030204" pitchFamily="34" charset="0"/>
              </a:rPr>
              <a:t>~03.22</a:t>
            </a:r>
          </a:p>
        </p:txBody>
      </p:sp>
      <p:sp>
        <p:nvSpPr>
          <p:cNvPr id="168" name="TextBox 167">
            <a:extLst>
              <a:ext uri="{FF2B5EF4-FFF2-40B4-BE49-F238E27FC236}">
                <a16:creationId xmlns:a16="http://schemas.microsoft.com/office/drawing/2014/main" id="{9B04CF9B-9DC3-89A2-A677-362C693C3276}"/>
              </a:ext>
            </a:extLst>
          </p:cNvPr>
          <p:cNvSpPr txBox="1"/>
          <p:nvPr/>
        </p:nvSpPr>
        <p:spPr>
          <a:xfrm>
            <a:off x="8074839" y="2755814"/>
            <a:ext cx="505267" cy="246221"/>
          </a:xfrm>
          <a:prstGeom prst="rect">
            <a:avLst/>
          </a:prstGeom>
          <a:noFill/>
        </p:spPr>
        <p:txBody>
          <a:bodyPr wrap="none" rtlCol="0">
            <a:spAutoFit/>
          </a:bodyPr>
          <a:lstStyle/>
          <a:p>
            <a:r>
              <a:rPr lang="en-US" sz="1000" noProof="0" dirty="0">
                <a:latin typeface="Arial Narrow" panose="020B0606020202030204" pitchFamily="34" charset="0"/>
              </a:rPr>
              <a:t>~04.25</a:t>
            </a:r>
          </a:p>
        </p:txBody>
      </p:sp>
      <p:sp>
        <p:nvSpPr>
          <p:cNvPr id="169" name="TextBox 168">
            <a:extLst>
              <a:ext uri="{FF2B5EF4-FFF2-40B4-BE49-F238E27FC236}">
                <a16:creationId xmlns:a16="http://schemas.microsoft.com/office/drawing/2014/main" id="{2EE74EF2-C005-8190-F0DF-3A0376F694AF}"/>
              </a:ext>
            </a:extLst>
          </p:cNvPr>
          <p:cNvSpPr txBox="1"/>
          <p:nvPr/>
        </p:nvSpPr>
        <p:spPr>
          <a:xfrm>
            <a:off x="8074839" y="4147175"/>
            <a:ext cx="505267" cy="246221"/>
          </a:xfrm>
          <a:prstGeom prst="rect">
            <a:avLst/>
          </a:prstGeom>
          <a:noFill/>
        </p:spPr>
        <p:txBody>
          <a:bodyPr wrap="none" rtlCol="0">
            <a:spAutoFit/>
          </a:bodyPr>
          <a:lstStyle/>
          <a:p>
            <a:r>
              <a:rPr lang="en-US" sz="1000" noProof="0" dirty="0">
                <a:latin typeface="Arial Narrow" panose="020B0606020202030204" pitchFamily="34" charset="0"/>
              </a:rPr>
              <a:t>~05.31</a:t>
            </a:r>
          </a:p>
        </p:txBody>
      </p:sp>
      <p:sp>
        <p:nvSpPr>
          <p:cNvPr id="170" name="TextBox 169">
            <a:extLst>
              <a:ext uri="{FF2B5EF4-FFF2-40B4-BE49-F238E27FC236}">
                <a16:creationId xmlns:a16="http://schemas.microsoft.com/office/drawing/2014/main" id="{513C0BEA-0CDE-EA3F-BCD8-85D66FB3F8C6}"/>
              </a:ext>
            </a:extLst>
          </p:cNvPr>
          <p:cNvSpPr txBox="1"/>
          <p:nvPr/>
        </p:nvSpPr>
        <p:spPr>
          <a:xfrm>
            <a:off x="8074839" y="5485524"/>
            <a:ext cx="505267" cy="246221"/>
          </a:xfrm>
          <a:prstGeom prst="rect">
            <a:avLst/>
          </a:prstGeom>
          <a:noFill/>
        </p:spPr>
        <p:txBody>
          <a:bodyPr wrap="none" rtlCol="0">
            <a:spAutoFit/>
          </a:bodyPr>
          <a:lstStyle/>
          <a:p>
            <a:r>
              <a:rPr lang="en-US" sz="1000" noProof="0" dirty="0">
                <a:latin typeface="Arial Narrow" panose="020B0606020202030204" pitchFamily="34" charset="0"/>
              </a:rPr>
              <a:t>~06.12</a:t>
            </a:r>
          </a:p>
        </p:txBody>
      </p:sp>
      <p:sp>
        <p:nvSpPr>
          <p:cNvPr id="171" name="TextBox 170">
            <a:extLst>
              <a:ext uri="{FF2B5EF4-FFF2-40B4-BE49-F238E27FC236}">
                <a16:creationId xmlns:a16="http://schemas.microsoft.com/office/drawing/2014/main" id="{7FD2D066-DC14-C8D1-C7F9-D5AEED4A4A5B}"/>
              </a:ext>
            </a:extLst>
          </p:cNvPr>
          <p:cNvSpPr txBox="1"/>
          <p:nvPr/>
        </p:nvSpPr>
        <p:spPr>
          <a:xfrm>
            <a:off x="8074839" y="6131520"/>
            <a:ext cx="505267" cy="246221"/>
          </a:xfrm>
          <a:prstGeom prst="rect">
            <a:avLst/>
          </a:prstGeom>
          <a:noFill/>
        </p:spPr>
        <p:txBody>
          <a:bodyPr wrap="none" rtlCol="0">
            <a:spAutoFit/>
          </a:bodyPr>
          <a:lstStyle/>
          <a:p>
            <a:r>
              <a:rPr lang="en-US" sz="1000" noProof="0" dirty="0">
                <a:latin typeface="Arial Narrow" panose="020B0606020202030204" pitchFamily="34" charset="0"/>
              </a:rPr>
              <a:t>~06.26</a:t>
            </a:r>
          </a:p>
        </p:txBody>
      </p:sp>
      <p:sp>
        <p:nvSpPr>
          <p:cNvPr id="7" name="TextBox 6">
            <a:extLst>
              <a:ext uri="{FF2B5EF4-FFF2-40B4-BE49-F238E27FC236}">
                <a16:creationId xmlns:a16="http://schemas.microsoft.com/office/drawing/2014/main" id="{2897F092-45F9-C416-ADA4-54397525A86A}"/>
              </a:ext>
            </a:extLst>
          </p:cNvPr>
          <p:cNvSpPr txBox="1"/>
          <p:nvPr/>
        </p:nvSpPr>
        <p:spPr>
          <a:xfrm>
            <a:off x="2216691" y="3668831"/>
            <a:ext cx="5398917" cy="1200329"/>
          </a:xfrm>
          <a:prstGeom prst="rect">
            <a:avLst/>
          </a:prstGeom>
          <a:noFill/>
        </p:spPr>
        <p:txBody>
          <a:bodyPr wrap="square">
            <a:spAutoFit/>
          </a:bodyPr>
          <a:lstStyle/>
          <a:p>
            <a:pPr marL="171450" indent="-171450" latinLnBrk="0">
              <a:buFont typeface="Arial" panose="020B0604020202020204" pitchFamily="34" charset="0"/>
              <a:buChar char="•"/>
            </a:pPr>
            <a:r>
              <a:rPr lang="en-US" sz="1200" noProof="0" dirty="0">
                <a:latin typeface="Arial Narrow" panose="020B0606020202030204" pitchFamily="34" charset="0"/>
              </a:rPr>
              <a:t>Implement the AI retrieval pipeline (SQL → AI Search → OpenAI) to enable natural‑language queries over 7‑year historical work orders.</a:t>
            </a:r>
          </a:p>
          <a:p>
            <a:pPr marL="171450" indent="-171450" latinLnBrk="0">
              <a:buFont typeface="Arial" panose="020B0604020202020204" pitchFamily="34" charset="0"/>
              <a:buChar char="•"/>
            </a:pPr>
            <a:r>
              <a:rPr lang="en-US" sz="1200" noProof="0" dirty="0">
                <a:latin typeface="Arial Narrow" panose="020B0606020202030204" pitchFamily="34" charset="0"/>
              </a:rPr>
              <a:t>Develop response logic for summarizing failures, identifying repeated issues, recommending preventive actions, and referencing original records.</a:t>
            </a:r>
          </a:p>
          <a:p>
            <a:pPr marL="171450" indent="-171450" latinLnBrk="0">
              <a:buFont typeface="Arial" panose="020B0604020202020204" pitchFamily="34" charset="0"/>
              <a:buChar char="•"/>
            </a:pPr>
            <a:r>
              <a:rPr lang="en-US" sz="1200" noProof="0" dirty="0">
                <a:latin typeface="Arial Narrow" panose="020B0606020202030204" pitchFamily="34" charset="0"/>
              </a:rPr>
              <a:t>Perform iterative tuning based on real PE use cases (vacuum errors, robot crashes, diverter jams, etc.).</a:t>
            </a:r>
          </a:p>
        </p:txBody>
      </p:sp>
    </p:spTree>
    <p:extLst>
      <p:ext uri="{BB962C8B-B14F-4D97-AF65-F5344CB8AC3E}">
        <p14:creationId xmlns:p14="http://schemas.microsoft.com/office/powerpoint/2010/main" val="4134595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8DEB9-0B97-19A1-A311-F352D54BB63B}"/>
            </a:ext>
          </a:extLst>
        </p:cNvPr>
        <p:cNvGrpSpPr/>
        <p:nvPr/>
      </p:nvGrpSpPr>
      <p:grpSpPr>
        <a:xfrm>
          <a:off x="0" y="0"/>
          <a:ext cx="0" cy="0"/>
          <a:chOff x="0" y="0"/>
          <a:chExt cx="0" cy="0"/>
        </a:xfrm>
      </p:grpSpPr>
      <p:sp>
        <p:nvSpPr>
          <p:cNvPr id="6" name="Text Box 237">
            <a:extLst>
              <a:ext uri="{FF2B5EF4-FFF2-40B4-BE49-F238E27FC236}">
                <a16:creationId xmlns:a16="http://schemas.microsoft.com/office/drawing/2014/main" id="{73A2B827-D4FB-051C-2514-8948913396E8}"/>
              </a:ext>
            </a:extLst>
          </p:cNvPr>
          <p:cNvSpPr txBox="1">
            <a:spLocks noChangeArrowheads="1"/>
          </p:cNvSpPr>
          <p:nvPr/>
        </p:nvSpPr>
        <p:spPr bwMode="gray">
          <a:xfrm>
            <a:off x="200471" y="57023"/>
            <a:ext cx="3075560" cy="39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3077" tIns="43200" rIns="83077" bIns="43200" anchor="ctr">
            <a:spAutoFit/>
          </a:bodyPr>
          <a:lstStyle>
            <a:lvl1pPr eaLnBrk="0" hangingPunct="0">
              <a:defRPr kumimoji="1" sz="1200" b="1">
                <a:solidFill>
                  <a:schemeClr val="tx1"/>
                </a:solidFill>
                <a:latin typeface="Arial" charset="0"/>
                <a:ea typeface="돋움" pitchFamily="50" charset="-127"/>
              </a:defRPr>
            </a:lvl1pPr>
            <a:lvl2pPr marL="742950" indent="-285750" eaLnBrk="0" hangingPunct="0">
              <a:defRPr kumimoji="1" sz="1200" b="1">
                <a:solidFill>
                  <a:schemeClr val="tx1"/>
                </a:solidFill>
                <a:latin typeface="Arial" charset="0"/>
                <a:ea typeface="돋움" pitchFamily="50" charset="-127"/>
              </a:defRPr>
            </a:lvl2pPr>
            <a:lvl3pPr marL="1143000" indent="-228600" eaLnBrk="0" hangingPunct="0">
              <a:defRPr kumimoji="1" sz="1200" b="1">
                <a:solidFill>
                  <a:schemeClr val="tx1"/>
                </a:solidFill>
                <a:latin typeface="Arial" charset="0"/>
                <a:ea typeface="돋움" pitchFamily="50" charset="-127"/>
              </a:defRPr>
            </a:lvl3pPr>
            <a:lvl4pPr marL="1600200" indent="-228600" eaLnBrk="0" hangingPunct="0">
              <a:defRPr kumimoji="1" sz="1200" b="1">
                <a:solidFill>
                  <a:schemeClr val="tx1"/>
                </a:solidFill>
                <a:latin typeface="Arial" charset="0"/>
                <a:ea typeface="돋움" pitchFamily="50" charset="-127"/>
              </a:defRPr>
            </a:lvl4pPr>
            <a:lvl5pPr marL="2057400" indent="-228600" eaLnBrk="0" hangingPunct="0">
              <a:defRPr kumimoji="1" sz="1200" b="1">
                <a:solidFill>
                  <a:schemeClr val="tx1"/>
                </a:solidFill>
                <a:latin typeface="Arial" charset="0"/>
                <a:ea typeface="돋움" pitchFamily="50" charset="-127"/>
              </a:defRPr>
            </a:lvl5pPr>
            <a:lvl6pPr marL="25146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6pPr>
            <a:lvl7pPr marL="29718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7pPr>
            <a:lvl8pPr marL="34290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8pPr>
            <a:lvl9pPr marL="38862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9pPr>
          </a:lstStyle>
          <a:p>
            <a:r>
              <a:rPr lang="en-US" sz="2000" noProof="0" dirty="0">
                <a:solidFill>
                  <a:prstClr val="black"/>
                </a:solidFill>
                <a:latin typeface="Arial Narrow" panose="020B0606020202030204" pitchFamily="34" charset="0"/>
              </a:rPr>
              <a:t>Project Workflow &amp; Activities</a:t>
            </a:r>
          </a:p>
        </p:txBody>
      </p:sp>
      <p:sp>
        <p:nvSpPr>
          <p:cNvPr id="13" name="Flowchart: Off-page Connector 12">
            <a:extLst>
              <a:ext uri="{FF2B5EF4-FFF2-40B4-BE49-F238E27FC236}">
                <a16:creationId xmlns:a16="http://schemas.microsoft.com/office/drawing/2014/main" id="{ACFCC407-B3D7-92C1-868E-733A43AD8994}"/>
              </a:ext>
            </a:extLst>
          </p:cNvPr>
          <p:cNvSpPr/>
          <p:nvPr/>
        </p:nvSpPr>
        <p:spPr bwMode="auto">
          <a:xfrm>
            <a:off x="200472" y="980728"/>
            <a:ext cx="1728192" cy="648072"/>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Foundation</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rPr>
              <a:t>&amp;</a:t>
            </a:r>
            <a:endParaRPr kumimoji="1" lang="en-US" sz="1100" noProof="0" dirty="0">
              <a:latin typeface="Arial Narrow" panose="020B0606020202030204" pitchFamily="34" charset="0"/>
              <a:ea typeface="돋움" pitchFamily="50" charset="-127"/>
            </a:endParaRP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Environment Setup</a:t>
            </a:r>
            <a:endPar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endParaRPr>
          </a:p>
        </p:txBody>
      </p:sp>
      <p:sp>
        <p:nvSpPr>
          <p:cNvPr id="28" name="TextBox 27">
            <a:extLst>
              <a:ext uri="{FF2B5EF4-FFF2-40B4-BE49-F238E27FC236}">
                <a16:creationId xmlns:a16="http://schemas.microsoft.com/office/drawing/2014/main" id="{461BCC60-AA81-84F7-D99E-C3511901E46A}"/>
              </a:ext>
            </a:extLst>
          </p:cNvPr>
          <p:cNvSpPr txBox="1"/>
          <p:nvPr/>
        </p:nvSpPr>
        <p:spPr>
          <a:xfrm>
            <a:off x="771859" y="603367"/>
            <a:ext cx="585417" cy="307777"/>
          </a:xfrm>
          <a:prstGeom prst="rect">
            <a:avLst/>
          </a:prstGeom>
          <a:noFill/>
        </p:spPr>
        <p:txBody>
          <a:bodyPr wrap="none" rtlCol="0">
            <a:spAutoFit/>
          </a:bodyPr>
          <a:lstStyle/>
          <a:p>
            <a:r>
              <a:rPr lang="en-US" sz="1400" b="1" noProof="0" dirty="0">
                <a:latin typeface="Arial Narrow" panose="020B0606020202030204" pitchFamily="34" charset="0"/>
              </a:rPr>
              <a:t>Steps</a:t>
            </a:r>
          </a:p>
        </p:txBody>
      </p:sp>
      <p:cxnSp>
        <p:nvCxnSpPr>
          <p:cNvPr id="36" name="Straight Connector 35">
            <a:extLst>
              <a:ext uri="{FF2B5EF4-FFF2-40B4-BE49-F238E27FC236}">
                <a16:creationId xmlns:a16="http://schemas.microsoft.com/office/drawing/2014/main" id="{465D7696-2015-9C25-A1EA-FDA523388627}"/>
              </a:ext>
            </a:extLst>
          </p:cNvPr>
          <p:cNvCxnSpPr/>
          <p:nvPr/>
        </p:nvCxnSpPr>
        <p:spPr bwMode="auto">
          <a:xfrm>
            <a:off x="704527" y="894954"/>
            <a:ext cx="720080" cy="0"/>
          </a:xfrm>
          <a:prstGeom prst="line">
            <a:avLst/>
          </a:prstGeom>
          <a:noFill/>
          <a:ln w="9525" cap="flat" cmpd="sng" algn="ctr">
            <a:solidFill>
              <a:schemeClr val="tx1"/>
            </a:solidFill>
            <a:prstDash val="solid"/>
            <a:round/>
            <a:headEnd type="none" w="med" len="med"/>
            <a:tailEnd type="none" w="med" len="med"/>
          </a:ln>
          <a:effectLst/>
        </p:spPr>
      </p:cxnSp>
      <p:sp>
        <p:nvSpPr>
          <p:cNvPr id="37" name="TextBox 36">
            <a:extLst>
              <a:ext uri="{FF2B5EF4-FFF2-40B4-BE49-F238E27FC236}">
                <a16:creationId xmlns:a16="http://schemas.microsoft.com/office/drawing/2014/main" id="{FE369532-B231-E739-4F7D-43C0C3108535}"/>
              </a:ext>
            </a:extLst>
          </p:cNvPr>
          <p:cNvSpPr txBox="1"/>
          <p:nvPr/>
        </p:nvSpPr>
        <p:spPr>
          <a:xfrm>
            <a:off x="4594574" y="603367"/>
            <a:ext cx="718466" cy="307777"/>
          </a:xfrm>
          <a:prstGeom prst="rect">
            <a:avLst/>
          </a:prstGeom>
          <a:noFill/>
        </p:spPr>
        <p:txBody>
          <a:bodyPr wrap="none" rtlCol="0">
            <a:spAutoFit/>
          </a:bodyPr>
          <a:lstStyle/>
          <a:p>
            <a:r>
              <a:rPr lang="en-US" sz="1400" b="1" noProof="0" dirty="0">
                <a:latin typeface="Arial Narrow" panose="020B0606020202030204" pitchFamily="34" charset="0"/>
              </a:rPr>
              <a:t>Activity</a:t>
            </a:r>
          </a:p>
        </p:txBody>
      </p:sp>
      <p:cxnSp>
        <p:nvCxnSpPr>
          <p:cNvPr id="44" name="Straight Connector 43">
            <a:extLst>
              <a:ext uri="{FF2B5EF4-FFF2-40B4-BE49-F238E27FC236}">
                <a16:creationId xmlns:a16="http://schemas.microsoft.com/office/drawing/2014/main" id="{427FD3F6-2756-08F5-C3D6-25E0F833807B}"/>
              </a:ext>
            </a:extLst>
          </p:cNvPr>
          <p:cNvCxnSpPr/>
          <p:nvPr/>
        </p:nvCxnSpPr>
        <p:spPr bwMode="auto">
          <a:xfrm>
            <a:off x="4592960" y="894954"/>
            <a:ext cx="720080" cy="0"/>
          </a:xfrm>
          <a:prstGeom prst="line">
            <a:avLst/>
          </a:prstGeom>
          <a:noFill/>
          <a:ln w="9525" cap="flat" cmpd="sng" algn="ctr">
            <a:solidFill>
              <a:schemeClr val="tx1"/>
            </a:solidFill>
            <a:prstDash val="solid"/>
            <a:round/>
            <a:headEnd type="none" w="med" len="med"/>
            <a:tailEnd type="none" w="med" len="med"/>
          </a:ln>
          <a:effectLst/>
        </p:spPr>
      </p:cxnSp>
      <p:sp>
        <p:nvSpPr>
          <p:cNvPr id="49" name="TextBox 48">
            <a:extLst>
              <a:ext uri="{FF2B5EF4-FFF2-40B4-BE49-F238E27FC236}">
                <a16:creationId xmlns:a16="http://schemas.microsoft.com/office/drawing/2014/main" id="{5F4703B4-D701-946D-6FDF-A7CEDC47F14A}"/>
              </a:ext>
            </a:extLst>
          </p:cNvPr>
          <p:cNvSpPr txBox="1"/>
          <p:nvPr/>
        </p:nvSpPr>
        <p:spPr>
          <a:xfrm>
            <a:off x="9001870" y="603367"/>
            <a:ext cx="487634" cy="307777"/>
          </a:xfrm>
          <a:prstGeom prst="rect">
            <a:avLst/>
          </a:prstGeom>
          <a:noFill/>
        </p:spPr>
        <p:txBody>
          <a:bodyPr wrap="none" rtlCol="0">
            <a:spAutoFit/>
          </a:bodyPr>
          <a:lstStyle/>
          <a:p>
            <a:r>
              <a:rPr lang="en-US" sz="1400" b="1" noProof="0" dirty="0">
                <a:latin typeface="Arial Narrow" panose="020B0606020202030204" pitchFamily="34" charset="0"/>
              </a:rPr>
              <a:t>Flag</a:t>
            </a:r>
          </a:p>
        </p:txBody>
      </p:sp>
      <p:cxnSp>
        <p:nvCxnSpPr>
          <p:cNvPr id="65" name="Straight Connector 64">
            <a:extLst>
              <a:ext uri="{FF2B5EF4-FFF2-40B4-BE49-F238E27FC236}">
                <a16:creationId xmlns:a16="http://schemas.microsoft.com/office/drawing/2014/main" id="{09E38E41-8BF1-772E-25AE-2E413A479E8E}"/>
              </a:ext>
            </a:extLst>
          </p:cNvPr>
          <p:cNvCxnSpPr>
            <a:cxnSpLocks/>
          </p:cNvCxnSpPr>
          <p:nvPr/>
        </p:nvCxnSpPr>
        <p:spPr bwMode="auto">
          <a:xfrm>
            <a:off x="9000256" y="894954"/>
            <a:ext cx="489248" cy="0"/>
          </a:xfrm>
          <a:prstGeom prst="line">
            <a:avLst/>
          </a:prstGeom>
          <a:noFill/>
          <a:ln w="9525" cap="flat" cmpd="sng" algn="ctr">
            <a:solidFill>
              <a:schemeClr val="tx1"/>
            </a:solidFill>
            <a:prstDash val="solid"/>
            <a:round/>
            <a:headEnd type="none" w="med" len="med"/>
            <a:tailEnd type="none" w="med" len="med"/>
          </a:ln>
          <a:effectLst/>
        </p:spPr>
      </p:cxnSp>
      <p:sp>
        <p:nvSpPr>
          <p:cNvPr id="68" name="Flowchart: Off-page Connector 67">
            <a:extLst>
              <a:ext uri="{FF2B5EF4-FFF2-40B4-BE49-F238E27FC236}">
                <a16:creationId xmlns:a16="http://schemas.microsoft.com/office/drawing/2014/main" id="{5C9B6E72-E1B4-B3AC-7C6A-D4A9BE9BF933}"/>
              </a:ext>
            </a:extLst>
          </p:cNvPr>
          <p:cNvSpPr/>
          <p:nvPr/>
        </p:nvSpPr>
        <p:spPr bwMode="auto">
          <a:xfrm>
            <a:off x="200471" y="1628800"/>
            <a:ext cx="1728192" cy="864096"/>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Requirements</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rPr>
              <a:t>&amp;</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Scope Definition</a:t>
            </a:r>
            <a:endPar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endParaRPr>
          </a:p>
        </p:txBody>
      </p:sp>
      <p:sp>
        <p:nvSpPr>
          <p:cNvPr id="69" name="Flowchart: Off-page Connector 68">
            <a:extLst>
              <a:ext uri="{FF2B5EF4-FFF2-40B4-BE49-F238E27FC236}">
                <a16:creationId xmlns:a16="http://schemas.microsoft.com/office/drawing/2014/main" id="{FF734E7D-E7DF-5BC8-A7E7-988621A539E5}"/>
              </a:ext>
            </a:extLst>
          </p:cNvPr>
          <p:cNvSpPr/>
          <p:nvPr/>
        </p:nvSpPr>
        <p:spPr bwMode="auto">
          <a:xfrm>
            <a:off x="200471" y="2492896"/>
            <a:ext cx="1728192" cy="936104"/>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Data</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rPr>
              <a:t>&amp;</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Architecture Setup</a:t>
            </a:r>
            <a:endParaRPr kumimoji="1" lang="en-US" sz="1100" i="0" u="none" strike="noStrike" cap="none" normalizeH="0" baseline="0" noProof="0" dirty="0">
              <a:ln>
                <a:noFill/>
              </a:ln>
              <a:solidFill>
                <a:schemeClr val="tx1"/>
              </a:solidFill>
              <a:effectLst/>
              <a:latin typeface="Arial Narrow" panose="020B0606020202030204" pitchFamily="34" charset="0"/>
              <a:ea typeface="돋움" pitchFamily="50" charset="-127"/>
            </a:endParaRPr>
          </a:p>
        </p:txBody>
      </p:sp>
      <p:sp>
        <p:nvSpPr>
          <p:cNvPr id="72" name="Flowchart: Off-page Connector 71">
            <a:extLst>
              <a:ext uri="{FF2B5EF4-FFF2-40B4-BE49-F238E27FC236}">
                <a16:creationId xmlns:a16="http://schemas.microsoft.com/office/drawing/2014/main" id="{3DD728D7-5136-1BF0-8861-A2D2D5E72B39}"/>
              </a:ext>
            </a:extLst>
          </p:cNvPr>
          <p:cNvSpPr/>
          <p:nvPr/>
        </p:nvSpPr>
        <p:spPr bwMode="auto">
          <a:xfrm>
            <a:off x="200471" y="3484400"/>
            <a:ext cx="1728192" cy="1800198"/>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Core Development</a:t>
            </a:r>
          </a:p>
        </p:txBody>
      </p:sp>
      <p:sp>
        <p:nvSpPr>
          <p:cNvPr id="73" name="Flowchart: Off-page Connector 72">
            <a:extLst>
              <a:ext uri="{FF2B5EF4-FFF2-40B4-BE49-F238E27FC236}">
                <a16:creationId xmlns:a16="http://schemas.microsoft.com/office/drawing/2014/main" id="{007C57B3-A395-C7C2-A34F-BCE5E6568917}"/>
              </a:ext>
            </a:extLst>
          </p:cNvPr>
          <p:cNvSpPr/>
          <p:nvPr/>
        </p:nvSpPr>
        <p:spPr bwMode="auto">
          <a:xfrm>
            <a:off x="200471" y="5284599"/>
            <a:ext cx="1728192" cy="648072"/>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Testing</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&amp;</a:t>
            </a:r>
          </a:p>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Feedback</a:t>
            </a:r>
          </a:p>
        </p:txBody>
      </p:sp>
      <p:sp>
        <p:nvSpPr>
          <p:cNvPr id="74" name="Flowchart: Off-page Connector 73">
            <a:extLst>
              <a:ext uri="{FF2B5EF4-FFF2-40B4-BE49-F238E27FC236}">
                <a16:creationId xmlns:a16="http://schemas.microsoft.com/office/drawing/2014/main" id="{366A2E36-820A-DEC5-34DA-E4016ABBFE3E}"/>
              </a:ext>
            </a:extLst>
          </p:cNvPr>
          <p:cNvSpPr/>
          <p:nvPr/>
        </p:nvSpPr>
        <p:spPr bwMode="auto">
          <a:xfrm>
            <a:off x="200471" y="5930597"/>
            <a:ext cx="1728192" cy="861672"/>
          </a:xfrm>
          <a:prstGeom prst="flowChartOffpageConnector">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0"/>
              </a:spcBef>
              <a:spcAft>
                <a:spcPct val="0"/>
              </a:spcAft>
              <a:buClrTx/>
              <a:buSzTx/>
              <a:buFontTx/>
              <a:buNone/>
              <a:tabLst/>
            </a:pPr>
            <a:r>
              <a:rPr kumimoji="1" lang="en-US" sz="1100" noProof="0" dirty="0">
                <a:latin typeface="Arial Narrow" panose="020B0606020202030204" pitchFamily="34" charset="0"/>
                <a:ea typeface="돋움" pitchFamily="50" charset="-127"/>
              </a:rPr>
              <a:t>Deployment</a:t>
            </a:r>
          </a:p>
        </p:txBody>
      </p:sp>
      <p:cxnSp>
        <p:nvCxnSpPr>
          <p:cNvPr id="109" name="직선 연결선 120">
            <a:extLst>
              <a:ext uri="{FF2B5EF4-FFF2-40B4-BE49-F238E27FC236}">
                <a16:creationId xmlns:a16="http://schemas.microsoft.com/office/drawing/2014/main" id="{FEBC7E92-1065-C0F2-A80D-60FDE38B04F9}"/>
              </a:ext>
            </a:extLst>
          </p:cNvPr>
          <p:cNvCxnSpPr>
            <a:cxnSpLocks/>
            <a:stCxn id="89" idx="4"/>
            <a:endCxn id="90" idx="0"/>
          </p:cNvCxnSpPr>
          <p:nvPr/>
        </p:nvCxnSpPr>
        <p:spPr>
          <a:xfrm>
            <a:off x="9244880" y="1269593"/>
            <a:ext cx="0" cy="708204"/>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7" name="직선 연결선 120">
            <a:extLst>
              <a:ext uri="{FF2B5EF4-FFF2-40B4-BE49-F238E27FC236}">
                <a16:creationId xmlns:a16="http://schemas.microsoft.com/office/drawing/2014/main" id="{89229477-72E3-B7C3-9608-95EC5EAE56C4}"/>
              </a:ext>
            </a:extLst>
          </p:cNvPr>
          <p:cNvCxnSpPr>
            <a:cxnSpLocks/>
            <a:stCxn id="90" idx="4"/>
            <a:endCxn id="108" idx="0"/>
          </p:cNvCxnSpPr>
          <p:nvPr/>
        </p:nvCxnSpPr>
        <p:spPr>
          <a:xfrm>
            <a:off x="9244880" y="2060848"/>
            <a:ext cx="0" cy="637029"/>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20">
            <a:extLst>
              <a:ext uri="{FF2B5EF4-FFF2-40B4-BE49-F238E27FC236}">
                <a16:creationId xmlns:a16="http://schemas.microsoft.com/office/drawing/2014/main" id="{816D1665-B9DA-7B36-9B83-54B8BD9DC513}"/>
              </a:ext>
            </a:extLst>
          </p:cNvPr>
          <p:cNvCxnSpPr>
            <a:cxnSpLocks/>
            <a:stCxn id="108" idx="4"/>
            <a:endCxn id="144" idx="0"/>
          </p:cNvCxnSpPr>
          <p:nvPr/>
        </p:nvCxnSpPr>
        <p:spPr>
          <a:xfrm>
            <a:off x="9244880" y="2780928"/>
            <a:ext cx="1032" cy="122413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9" name="직선 연결선 120">
            <a:extLst>
              <a:ext uri="{FF2B5EF4-FFF2-40B4-BE49-F238E27FC236}">
                <a16:creationId xmlns:a16="http://schemas.microsoft.com/office/drawing/2014/main" id="{A1C10A44-FC71-6B81-F045-ED5C025437CD}"/>
              </a:ext>
            </a:extLst>
          </p:cNvPr>
          <p:cNvCxnSpPr>
            <a:cxnSpLocks/>
            <a:stCxn id="144" idx="4"/>
            <a:endCxn id="148" idx="0"/>
          </p:cNvCxnSpPr>
          <p:nvPr/>
        </p:nvCxnSpPr>
        <p:spPr>
          <a:xfrm flipH="1">
            <a:off x="9244880" y="4088115"/>
            <a:ext cx="1032" cy="1487837"/>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3" name="직선 연결선 120">
            <a:extLst>
              <a:ext uri="{FF2B5EF4-FFF2-40B4-BE49-F238E27FC236}">
                <a16:creationId xmlns:a16="http://schemas.microsoft.com/office/drawing/2014/main" id="{C06286BA-830B-A2B7-436A-F330032119DF}"/>
              </a:ext>
            </a:extLst>
          </p:cNvPr>
          <p:cNvCxnSpPr>
            <a:cxnSpLocks/>
            <a:stCxn id="148" idx="4"/>
          </p:cNvCxnSpPr>
          <p:nvPr/>
        </p:nvCxnSpPr>
        <p:spPr>
          <a:xfrm>
            <a:off x="9244880" y="5659003"/>
            <a:ext cx="0" cy="567392"/>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9" name="타원 159">
            <a:extLst>
              <a:ext uri="{FF2B5EF4-FFF2-40B4-BE49-F238E27FC236}">
                <a16:creationId xmlns:a16="http://schemas.microsoft.com/office/drawing/2014/main" id="{0CD249AE-2B8C-ED04-B1C9-0447EA2632C2}"/>
              </a:ext>
            </a:extLst>
          </p:cNvPr>
          <p:cNvSpPr/>
          <p:nvPr/>
        </p:nvSpPr>
        <p:spPr>
          <a:xfrm>
            <a:off x="9203164" y="1186542"/>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latin typeface="Arial Narrow" panose="020B0606020202030204" pitchFamily="34" charset="0"/>
            </a:endParaRPr>
          </a:p>
        </p:txBody>
      </p:sp>
      <p:sp>
        <p:nvSpPr>
          <p:cNvPr id="90" name="타원 159">
            <a:extLst>
              <a:ext uri="{FF2B5EF4-FFF2-40B4-BE49-F238E27FC236}">
                <a16:creationId xmlns:a16="http://schemas.microsoft.com/office/drawing/2014/main" id="{318F8052-F248-02B9-06C4-50A981C44802}"/>
              </a:ext>
            </a:extLst>
          </p:cNvPr>
          <p:cNvSpPr/>
          <p:nvPr/>
        </p:nvSpPr>
        <p:spPr>
          <a:xfrm>
            <a:off x="9203164" y="1977797"/>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latin typeface="Arial Narrow" panose="020B0606020202030204" pitchFamily="34" charset="0"/>
            </a:endParaRPr>
          </a:p>
        </p:txBody>
      </p:sp>
      <p:sp>
        <p:nvSpPr>
          <p:cNvPr id="108" name="타원 159">
            <a:extLst>
              <a:ext uri="{FF2B5EF4-FFF2-40B4-BE49-F238E27FC236}">
                <a16:creationId xmlns:a16="http://schemas.microsoft.com/office/drawing/2014/main" id="{1E4A79D2-E52F-7325-E717-9ED8562BEBAA}"/>
              </a:ext>
            </a:extLst>
          </p:cNvPr>
          <p:cNvSpPr/>
          <p:nvPr/>
        </p:nvSpPr>
        <p:spPr>
          <a:xfrm>
            <a:off x="9203164" y="2697877"/>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latin typeface="Arial Narrow" panose="020B0606020202030204" pitchFamily="34" charset="0"/>
            </a:endParaRPr>
          </a:p>
        </p:txBody>
      </p:sp>
      <p:sp>
        <p:nvSpPr>
          <p:cNvPr id="144" name="타원 159">
            <a:extLst>
              <a:ext uri="{FF2B5EF4-FFF2-40B4-BE49-F238E27FC236}">
                <a16:creationId xmlns:a16="http://schemas.microsoft.com/office/drawing/2014/main" id="{35C0AB5D-0BD9-6676-A9D5-2D8FF054424D}"/>
              </a:ext>
            </a:extLst>
          </p:cNvPr>
          <p:cNvSpPr/>
          <p:nvPr/>
        </p:nvSpPr>
        <p:spPr>
          <a:xfrm>
            <a:off x="9204196" y="4005064"/>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latin typeface="Arial Narrow" panose="020B0606020202030204" pitchFamily="34" charset="0"/>
            </a:endParaRPr>
          </a:p>
        </p:txBody>
      </p:sp>
      <p:sp>
        <p:nvSpPr>
          <p:cNvPr id="148" name="타원 159">
            <a:extLst>
              <a:ext uri="{FF2B5EF4-FFF2-40B4-BE49-F238E27FC236}">
                <a16:creationId xmlns:a16="http://schemas.microsoft.com/office/drawing/2014/main" id="{8A2EBD52-CE9C-AF40-F0BB-78D0EB5D50A5}"/>
              </a:ext>
            </a:extLst>
          </p:cNvPr>
          <p:cNvSpPr/>
          <p:nvPr/>
        </p:nvSpPr>
        <p:spPr>
          <a:xfrm>
            <a:off x="9203164" y="5575952"/>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latin typeface="Arial Narrow" panose="020B0606020202030204" pitchFamily="34" charset="0"/>
            </a:endParaRPr>
          </a:p>
        </p:txBody>
      </p:sp>
      <p:sp>
        <p:nvSpPr>
          <p:cNvPr id="152" name="타원 159">
            <a:extLst>
              <a:ext uri="{FF2B5EF4-FFF2-40B4-BE49-F238E27FC236}">
                <a16:creationId xmlns:a16="http://schemas.microsoft.com/office/drawing/2014/main" id="{ACD374E1-7A65-A290-31A2-C5453D8AAF04}"/>
              </a:ext>
            </a:extLst>
          </p:cNvPr>
          <p:cNvSpPr/>
          <p:nvPr/>
        </p:nvSpPr>
        <p:spPr>
          <a:xfrm>
            <a:off x="9203164" y="6213106"/>
            <a:ext cx="83432" cy="83051"/>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prstClr val="white"/>
              </a:solidFill>
              <a:latin typeface="Arial Narrow" panose="020B0606020202030204" pitchFamily="34" charset="0"/>
            </a:endParaRPr>
          </a:p>
        </p:txBody>
      </p:sp>
      <p:sp>
        <p:nvSpPr>
          <p:cNvPr id="155" name="TextBox 154">
            <a:extLst>
              <a:ext uri="{FF2B5EF4-FFF2-40B4-BE49-F238E27FC236}">
                <a16:creationId xmlns:a16="http://schemas.microsoft.com/office/drawing/2014/main" id="{377B06DE-7F99-23A2-C6D3-1D5D8F43A0E5}"/>
              </a:ext>
            </a:extLst>
          </p:cNvPr>
          <p:cNvSpPr txBox="1"/>
          <p:nvPr/>
        </p:nvSpPr>
        <p:spPr>
          <a:xfrm>
            <a:off x="2100028" y="1030496"/>
            <a:ext cx="5328583" cy="461665"/>
          </a:xfrm>
          <a:prstGeom prst="rect">
            <a:avLst/>
          </a:prstGeom>
          <a:noFill/>
        </p:spPr>
        <p:txBody>
          <a:bodyPr wrap="square">
            <a:spAutoFit/>
          </a:bodyPr>
          <a:lstStyle/>
          <a:p>
            <a:pPr marL="171450" marR="0" lvl="0" indent="-171450" algn="l" defTabSz="952799"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6600"/>
                </a:solidFill>
                <a:effectLst/>
                <a:uLnTx/>
                <a:uFillTx/>
                <a:latin typeface="Arial Narrow" panose="020B0606020202030204" pitchFamily="34" charset="0"/>
                <a:ea typeface="LG Smart_H Regular" panose="020B0600000101010101" pitchFamily="34" charset="-127"/>
              </a:rPr>
              <a:t>데이터 저장, AI 검색, 모델 추론을 위해 필요한 Azure SQL Database, Azure AI Search, Azure OpenAI Service, Copilot Studio 등 Azure 시스템 환경을 구축함.</a:t>
            </a:r>
          </a:p>
        </p:txBody>
      </p:sp>
      <p:sp>
        <p:nvSpPr>
          <p:cNvPr id="156" name="TextBox 155">
            <a:extLst>
              <a:ext uri="{FF2B5EF4-FFF2-40B4-BE49-F238E27FC236}">
                <a16:creationId xmlns:a16="http://schemas.microsoft.com/office/drawing/2014/main" id="{25C52F8E-B88B-1D8F-1C20-14F68A32BAA5}"/>
              </a:ext>
            </a:extLst>
          </p:cNvPr>
          <p:cNvSpPr txBox="1"/>
          <p:nvPr/>
        </p:nvSpPr>
        <p:spPr>
          <a:xfrm>
            <a:off x="2100028" y="1692893"/>
            <a:ext cx="5328583" cy="646331"/>
          </a:xfrm>
          <a:prstGeom prst="rect">
            <a:avLst/>
          </a:prstGeom>
          <a:noFill/>
        </p:spPr>
        <p:txBody>
          <a:bodyPr wrap="square">
            <a:spAutoFit/>
          </a:bodyPr>
          <a:lstStyle/>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AI 기반 작업지시 관리·분석 시스템을 위해 업무 요구사항, 7년치 데이터 범위, 시스템 경계, 주요 KPI, 성공 기준을 정의함.</a:t>
            </a:r>
          </a:p>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현장 기술자들이 자주 묻는 질의, 고장 시나리오, 자연어 응답 형식을 구체화함.</a:t>
            </a:r>
          </a:p>
        </p:txBody>
      </p:sp>
      <p:sp>
        <p:nvSpPr>
          <p:cNvPr id="157" name="TextBox 156">
            <a:extLst>
              <a:ext uri="{FF2B5EF4-FFF2-40B4-BE49-F238E27FC236}">
                <a16:creationId xmlns:a16="http://schemas.microsoft.com/office/drawing/2014/main" id="{28FD89C0-7B1D-276D-6BCF-A23F9F883A66}"/>
              </a:ext>
            </a:extLst>
          </p:cNvPr>
          <p:cNvSpPr txBox="1"/>
          <p:nvPr/>
        </p:nvSpPr>
        <p:spPr>
          <a:xfrm>
            <a:off x="2100028" y="2507874"/>
            <a:ext cx="5328583" cy="646331"/>
          </a:xfrm>
          <a:prstGeom prst="rect">
            <a:avLst/>
          </a:prstGeom>
          <a:noFill/>
        </p:spPr>
        <p:txBody>
          <a:bodyPr wrap="square">
            <a:spAutoFit/>
          </a:bodyPr>
          <a:lstStyle/>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정확한 AI 검색을 위해 Azure SQL에 작업지시 이력을 적재하고, 기술자 입력 문구의 불일치 요소를 정규화하며, 설비/라인 매핑을 통합함. 표현 방식이 달라도 관련 작업지시를 찾아낼 수 있도록 Azure AI Search 색인 구조를 설계함.</a:t>
            </a:r>
          </a:p>
        </p:txBody>
      </p:sp>
      <p:sp>
        <p:nvSpPr>
          <p:cNvPr id="159" name="TextBox 158">
            <a:extLst>
              <a:ext uri="{FF2B5EF4-FFF2-40B4-BE49-F238E27FC236}">
                <a16:creationId xmlns:a16="http://schemas.microsoft.com/office/drawing/2014/main" id="{BC3102EC-5C27-BA60-D035-4312DA340AAC}"/>
              </a:ext>
            </a:extLst>
          </p:cNvPr>
          <p:cNvSpPr txBox="1"/>
          <p:nvPr/>
        </p:nvSpPr>
        <p:spPr>
          <a:xfrm>
            <a:off x="2060918" y="5260139"/>
            <a:ext cx="5406802" cy="646331"/>
          </a:xfrm>
          <a:prstGeom prst="rect">
            <a:avLst/>
          </a:prstGeom>
          <a:noFill/>
        </p:spPr>
        <p:txBody>
          <a:bodyPr wrap="square">
            <a:spAutoFit/>
          </a:bodyPr>
          <a:lstStyle/>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PE팀 6인을 대상으로 테스트를 수행하여 정확도·적합성·응답속도를 검증하고, 누락된 유사어·검색 누락·잘못된 응답에 대한 피드백을 수집함.</a:t>
            </a:r>
          </a:p>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모델 프롬프트, 검색 필터, 용어 매핑을 개선하여 시스템 신뢰성과 사용성을 향상함.</a:t>
            </a:r>
          </a:p>
        </p:txBody>
      </p:sp>
      <p:sp>
        <p:nvSpPr>
          <p:cNvPr id="160" name="TextBox 159">
            <a:extLst>
              <a:ext uri="{FF2B5EF4-FFF2-40B4-BE49-F238E27FC236}">
                <a16:creationId xmlns:a16="http://schemas.microsoft.com/office/drawing/2014/main" id="{6E927A63-7784-C80E-BFA7-81054A956885}"/>
              </a:ext>
            </a:extLst>
          </p:cNvPr>
          <p:cNvSpPr txBox="1"/>
          <p:nvPr/>
        </p:nvSpPr>
        <p:spPr>
          <a:xfrm>
            <a:off x="2102167" y="6080845"/>
            <a:ext cx="5324305" cy="461665"/>
          </a:xfrm>
          <a:prstGeom prst="rect">
            <a:avLst/>
          </a:prstGeom>
          <a:noFill/>
        </p:spPr>
        <p:txBody>
          <a:bodyPr wrap="square">
            <a:spAutoFit/>
          </a:bodyPr>
          <a:lstStyle/>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기술자 및 엔지니어에게 사용 교육을 제공하고, 시스템 고도화를 위한 지속 개선 체계를 마련함.</a:t>
            </a:r>
          </a:p>
        </p:txBody>
      </p:sp>
      <p:sp>
        <p:nvSpPr>
          <p:cNvPr id="9" name="TextBox 8">
            <a:extLst>
              <a:ext uri="{FF2B5EF4-FFF2-40B4-BE49-F238E27FC236}">
                <a16:creationId xmlns:a16="http://schemas.microsoft.com/office/drawing/2014/main" id="{3A2688D1-48E3-A38C-45CE-A5A4AB97B743}"/>
              </a:ext>
            </a:extLst>
          </p:cNvPr>
          <p:cNvSpPr txBox="1"/>
          <p:nvPr/>
        </p:nvSpPr>
        <p:spPr>
          <a:xfrm>
            <a:off x="2100028" y="3581855"/>
            <a:ext cx="5328583" cy="1200329"/>
          </a:xfrm>
          <a:prstGeom prst="rect">
            <a:avLst/>
          </a:prstGeom>
          <a:noFill/>
        </p:spPr>
        <p:txBody>
          <a:bodyPr wrap="square">
            <a:spAutoFit/>
          </a:bodyPr>
          <a:lstStyle/>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7년치 작업지시 이력을 자연어로 질의할 수 있도록 SQL → AI Search → OpenAI 기반 검색·추론 파이프라인을 구축함</a:t>
            </a:r>
          </a:p>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고장 요약, 반복 문제 식별, 예방조치 제안, 원본 작업지시 근거 제시 등을 위한 응답 로직을 개발함.</a:t>
            </a:r>
          </a:p>
          <a:p>
            <a:pPr marL="171450" indent="-171450">
              <a:buFont typeface="Arial" panose="020B0604020202020204" pitchFamily="34" charset="0"/>
              <a:buChar char="•"/>
            </a:pPr>
            <a:r>
              <a:rPr lang="en-US" sz="1200" noProof="0" dirty="0">
                <a:solidFill>
                  <a:srgbClr val="006600"/>
                </a:solidFill>
                <a:latin typeface="Arial Narrow" panose="020B0606020202030204" pitchFamily="34" charset="0"/>
                <a:ea typeface="LG Smart_H Regular" panose="020B0600000101010101" pitchFamily="34" charset="-127"/>
              </a:rPr>
              <a:t>진공 오류, 로봇 충돌, 다이버터 문제 등 실제 PE 시나리오 기반으로 반복적인 튜닝을 수행함.</a:t>
            </a:r>
          </a:p>
        </p:txBody>
      </p:sp>
      <p:sp>
        <p:nvSpPr>
          <p:cNvPr id="2" name="TextBox 1">
            <a:extLst>
              <a:ext uri="{FF2B5EF4-FFF2-40B4-BE49-F238E27FC236}">
                <a16:creationId xmlns:a16="http://schemas.microsoft.com/office/drawing/2014/main" id="{93B74BC9-3BB7-4911-1B6D-C0DB971C5BC1}"/>
              </a:ext>
            </a:extLst>
          </p:cNvPr>
          <p:cNvSpPr txBox="1"/>
          <p:nvPr/>
        </p:nvSpPr>
        <p:spPr>
          <a:xfrm>
            <a:off x="8049736" y="603367"/>
            <a:ext cx="503664" cy="307777"/>
          </a:xfrm>
          <a:prstGeom prst="rect">
            <a:avLst/>
          </a:prstGeom>
          <a:noFill/>
        </p:spPr>
        <p:txBody>
          <a:bodyPr wrap="none" rtlCol="0">
            <a:spAutoFit/>
          </a:bodyPr>
          <a:lstStyle/>
          <a:p>
            <a:r>
              <a:rPr lang="en-US" sz="1400" b="1" noProof="0" dirty="0">
                <a:latin typeface="Arial Narrow" panose="020B0606020202030204" pitchFamily="34" charset="0"/>
              </a:rPr>
              <a:t>Date</a:t>
            </a:r>
          </a:p>
        </p:txBody>
      </p:sp>
      <p:cxnSp>
        <p:nvCxnSpPr>
          <p:cNvPr id="3" name="Straight Connector 2">
            <a:extLst>
              <a:ext uri="{FF2B5EF4-FFF2-40B4-BE49-F238E27FC236}">
                <a16:creationId xmlns:a16="http://schemas.microsoft.com/office/drawing/2014/main" id="{B4C24BF5-3587-4848-9F37-5BC2B69E98D9}"/>
              </a:ext>
            </a:extLst>
          </p:cNvPr>
          <p:cNvCxnSpPr>
            <a:cxnSpLocks/>
          </p:cNvCxnSpPr>
          <p:nvPr/>
        </p:nvCxnSpPr>
        <p:spPr bwMode="auto">
          <a:xfrm>
            <a:off x="8048122" y="894954"/>
            <a:ext cx="505278" cy="0"/>
          </a:xfrm>
          <a:prstGeom prst="line">
            <a:avLst/>
          </a:prstGeom>
          <a:noFill/>
          <a:ln w="9525" cap="flat" cmpd="sng" algn="ctr">
            <a:solidFill>
              <a:schemeClr val="tx1"/>
            </a:solidFill>
            <a:prstDash val="solid"/>
            <a:round/>
            <a:headEnd type="none" w="med" len="med"/>
            <a:tailEnd type="none" w="med" len="med"/>
          </a:ln>
          <a:effectLst/>
        </p:spPr>
      </p:cxnSp>
      <p:sp>
        <p:nvSpPr>
          <p:cNvPr id="4" name="TextBox 3">
            <a:extLst>
              <a:ext uri="{FF2B5EF4-FFF2-40B4-BE49-F238E27FC236}">
                <a16:creationId xmlns:a16="http://schemas.microsoft.com/office/drawing/2014/main" id="{92DA96C5-22DE-1980-5B05-5B49515B9E30}"/>
              </a:ext>
            </a:extLst>
          </p:cNvPr>
          <p:cNvSpPr txBox="1"/>
          <p:nvPr/>
        </p:nvSpPr>
        <p:spPr>
          <a:xfrm>
            <a:off x="8078585" y="1092919"/>
            <a:ext cx="505267" cy="246221"/>
          </a:xfrm>
          <a:prstGeom prst="rect">
            <a:avLst/>
          </a:prstGeom>
          <a:noFill/>
        </p:spPr>
        <p:txBody>
          <a:bodyPr wrap="none" rtlCol="0">
            <a:spAutoFit/>
          </a:bodyPr>
          <a:lstStyle/>
          <a:p>
            <a:r>
              <a:rPr lang="en-US" sz="1000" noProof="0" dirty="0">
                <a:latin typeface="Arial Narrow" panose="020B0606020202030204" pitchFamily="34" charset="0"/>
              </a:rPr>
              <a:t>~03.19</a:t>
            </a:r>
          </a:p>
        </p:txBody>
      </p:sp>
      <p:sp>
        <p:nvSpPr>
          <p:cNvPr id="5" name="TextBox 4">
            <a:extLst>
              <a:ext uri="{FF2B5EF4-FFF2-40B4-BE49-F238E27FC236}">
                <a16:creationId xmlns:a16="http://schemas.microsoft.com/office/drawing/2014/main" id="{859C2FC4-EBE8-DEDB-47A9-AEB2B101C605}"/>
              </a:ext>
            </a:extLst>
          </p:cNvPr>
          <p:cNvSpPr txBox="1"/>
          <p:nvPr/>
        </p:nvSpPr>
        <p:spPr>
          <a:xfrm>
            <a:off x="8078585" y="1854686"/>
            <a:ext cx="505267" cy="246221"/>
          </a:xfrm>
          <a:prstGeom prst="rect">
            <a:avLst/>
          </a:prstGeom>
          <a:noFill/>
        </p:spPr>
        <p:txBody>
          <a:bodyPr wrap="none" rtlCol="0">
            <a:spAutoFit/>
          </a:bodyPr>
          <a:lstStyle/>
          <a:p>
            <a:r>
              <a:rPr lang="en-US" sz="1000" noProof="0" dirty="0">
                <a:latin typeface="Arial Narrow" panose="020B0606020202030204" pitchFamily="34" charset="0"/>
              </a:rPr>
              <a:t>~03.22</a:t>
            </a:r>
          </a:p>
        </p:txBody>
      </p:sp>
      <p:sp>
        <p:nvSpPr>
          <p:cNvPr id="7" name="TextBox 6">
            <a:extLst>
              <a:ext uri="{FF2B5EF4-FFF2-40B4-BE49-F238E27FC236}">
                <a16:creationId xmlns:a16="http://schemas.microsoft.com/office/drawing/2014/main" id="{837DB226-CC28-321F-7B9B-A6E6944FFCEB}"/>
              </a:ext>
            </a:extLst>
          </p:cNvPr>
          <p:cNvSpPr txBox="1"/>
          <p:nvPr/>
        </p:nvSpPr>
        <p:spPr>
          <a:xfrm>
            <a:off x="8074839" y="2755814"/>
            <a:ext cx="505267" cy="246221"/>
          </a:xfrm>
          <a:prstGeom prst="rect">
            <a:avLst/>
          </a:prstGeom>
          <a:noFill/>
        </p:spPr>
        <p:txBody>
          <a:bodyPr wrap="none" rtlCol="0">
            <a:spAutoFit/>
          </a:bodyPr>
          <a:lstStyle/>
          <a:p>
            <a:r>
              <a:rPr lang="en-US" sz="1000" noProof="0" dirty="0">
                <a:latin typeface="Arial Narrow" panose="020B0606020202030204" pitchFamily="34" charset="0"/>
              </a:rPr>
              <a:t>~04.25</a:t>
            </a:r>
          </a:p>
        </p:txBody>
      </p:sp>
      <p:sp>
        <p:nvSpPr>
          <p:cNvPr id="8" name="TextBox 7">
            <a:extLst>
              <a:ext uri="{FF2B5EF4-FFF2-40B4-BE49-F238E27FC236}">
                <a16:creationId xmlns:a16="http://schemas.microsoft.com/office/drawing/2014/main" id="{D540B26D-D145-8C48-FD4C-8403923B730B}"/>
              </a:ext>
            </a:extLst>
          </p:cNvPr>
          <p:cNvSpPr txBox="1"/>
          <p:nvPr/>
        </p:nvSpPr>
        <p:spPr>
          <a:xfrm>
            <a:off x="8074839" y="4147175"/>
            <a:ext cx="505267" cy="246221"/>
          </a:xfrm>
          <a:prstGeom prst="rect">
            <a:avLst/>
          </a:prstGeom>
          <a:noFill/>
        </p:spPr>
        <p:txBody>
          <a:bodyPr wrap="none" rtlCol="0">
            <a:spAutoFit/>
          </a:bodyPr>
          <a:lstStyle/>
          <a:p>
            <a:r>
              <a:rPr lang="en-US" sz="1000" noProof="0" dirty="0">
                <a:latin typeface="Arial Narrow" panose="020B0606020202030204" pitchFamily="34" charset="0"/>
              </a:rPr>
              <a:t>~05.31</a:t>
            </a:r>
          </a:p>
        </p:txBody>
      </p:sp>
      <p:sp>
        <p:nvSpPr>
          <p:cNvPr id="10" name="TextBox 9">
            <a:extLst>
              <a:ext uri="{FF2B5EF4-FFF2-40B4-BE49-F238E27FC236}">
                <a16:creationId xmlns:a16="http://schemas.microsoft.com/office/drawing/2014/main" id="{453E101F-D9F8-6316-3AC1-2DAC64A102E7}"/>
              </a:ext>
            </a:extLst>
          </p:cNvPr>
          <p:cNvSpPr txBox="1"/>
          <p:nvPr/>
        </p:nvSpPr>
        <p:spPr>
          <a:xfrm>
            <a:off x="8074839" y="5485524"/>
            <a:ext cx="505267" cy="246221"/>
          </a:xfrm>
          <a:prstGeom prst="rect">
            <a:avLst/>
          </a:prstGeom>
          <a:noFill/>
        </p:spPr>
        <p:txBody>
          <a:bodyPr wrap="none" rtlCol="0">
            <a:spAutoFit/>
          </a:bodyPr>
          <a:lstStyle/>
          <a:p>
            <a:r>
              <a:rPr lang="en-US" sz="1000" noProof="0" dirty="0">
                <a:latin typeface="Arial Narrow" panose="020B0606020202030204" pitchFamily="34" charset="0"/>
              </a:rPr>
              <a:t>~06.12</a:t>
            </a:r>
          </a:p>
        </p:txBody>
      </p:sp>
      <p:sp>
        <p:nvSpPr>
          <p:cNvPr id="11" name="TextBox 10">
            <a:extLst>
              <a:ext uri="{FF2B5EF4-FFF2-40B4-BE49-F238E27FC236}">
                <a16:creationId xmlns:a16="http://schemas.microsoft.com/office/drawing/2014/main" id="{10E00F24-6633-531D-E02A-26BF39D8B6AC}"/>
              </a:ext>
            </a:extLst>
          </p:cNvPr>
          <p:cNvSpPr txBox="1"/>
          <p:nvPr/>
        </p:nvSpPr>
        <p:spPr>
          <a:xfrm>
            <a:off x="8074839" y="6131520"/>
            <a:ext cx="505267" cy="246221"/>
          </a:xfrm>
          <a:prstGeom prst="rect">
            <a:avLst/>
          </a:prstGeom>
          <a:noFill/>
        </p:spPr>
        <p:txBody>
          <a:bodyPr wrap="none" rtlCol="0">
            <a:spAutoFit/>
          </a:bodyPr>
          <a:lstStyle/>
          <a:p>
            <a:r>
              <a:rPr lang="en-US" sz="1000" noProof="0" dirty="0">
                <a:latin typeface="Arial Narrow" panose="020B0606020202030204" pitchFamily="34" charset="0"/>
              </a:rPr>
              <a:t>~06.26</a:t>
            </a:r>
          </a:p>
        </p:txBody>
      </p:sp>
    </p:spTree>
    <p:extLst>
      <p:ext uri="{BB962C8B-B14F-4D97-AF65-F5344CB8AC3E}">
        <p14:creationId xmlns:p14="http://schemas.microsoft.com/office/powerpoint/2010/main" val="2211881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49436-10AD-20B4-826F-4DA6BD5E8C6F}"/>
            </a:ext>
          </a:extLst>
        </p:cNvPr>
        <p:cNvGrpSpPr/>
        <p:nvPr/>
      </p:nvGrpSpPr>
      <p:grpSpPr>
        <a:xfrm>
          <a:off x="0" y="0"/>
          <a:ext cx="0" cy="0"/>
          <a:chOff x="0" y="0"/>
          <a:chExt cx="0" cy="0"/>
        </a:xfrm>
      </p:grpSpPr>
      <p:pic>
        <p:nvPicPr>
          <p:cNvPr id="1026" name="Picture 2" descr="How to Use Azure AD Admin Feature with Azure SQL Server">
            <a:extLst>
              <a:ext uri="{FF2B5EF4-FFF2-40B4-BE49-F238E27FC236}">
                <a16:creationId xmlns:a16="http://schemas.microsoft.com/office/drawing/2014/main" id="{83B6C4B8-4207-0C8C-3093-3A05F3A4F2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53978" y="4286864"/>
            <a:ext cx="1457893" cy="165543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Shape 9">
            <a:extLst>
              <a:ext uri="{FF2B5EF4-FFF2-40B4-BE49-F238E27FC236}">
                <a16:creationId xmlns:a16="http://schemas.microsoft.com/office/drawing/2014/main" id="{CFD35584-0664-B9E7-25CF-53465D92A273}"/>
              </a:ext>
            </a:extLst>
          </p:cNvPr>
          <p:cNvSpPr/>
          <p:nvPr/>
        </p:nvSpPr>
        <p:spPr>
          <a:xfrm>
            <a:off x="137209" y="4339892"/>
            <a:ext cx="8149923" cy="1177340"/>
          </a:xfrm>
          <a:custGeom>
            <a:avLst/>
            <a:gdLst>
              <a:gd name="csX0" fmla="*/ 0 w 8120733"/>
              <a:gd name="csY0" fmla="*/ 412340 h 1177340"/>
              <a:gd name="csX1" fmla="*/ 3913199 w 8120733"/>
              <a:gd name="csY1" fmla="*/ 412340 h 1177340"/>
              <a:gd name="csX2" fmla="*/ 3913199 w 8120733"/>
              <a:gd name="csY2" fmla="*/ 294335 h 1177340"/>
              <a:gd name="csX3" fmla="*/ 3766032 w 8120733"/>
              <a:gd name="csY3" fmla="*/ 294335 h 1177340"/>
              <a:gd name="csX4" fmla="*/ 4060367 w 8120733"/>
              <a:gd name="csY4" fmla="*/ 0 h 1177340"/>
              <a:gd name="csX5" fmla="*/ 4354702 w 8120733"/>
              <a:gd name="csY5" fmla="*/ 294335 h 1177340"/>
              <a:gd name="csX6" fmla="*/ 4207534 w 8120733"/>
              <a:gd name="csY6" fmla="*/ 294335 h 1177340"/>
              <a:gd name="csX7" fmla="*/ 4207534 w 8120733"/>
              <a:gd name="csY7" fmla="*/ 412340 h 1177340"/>
              <a:gd name="csX8" fmla="*/ 8120733 w 8120733"/>
              <a:gd name="csY8" fmla="*/ 412340 h 1177340"/>
              <a:gd name="csX9" fmla="*/ 8120733 w 8120733"/>
              <a:gd name="csY9" fmla="*/ 1177340 h 1177340"/>
              <a:gd name="csX10" fmla="*/ 0 w 8120733"/>
              <a:gd name="csY10" fmla="*/ 1177340 h 1177340"/>
              <a:gd name="csX11" fmla="*/ 0 w 8120733"/>
              <a:gd name="csY11" fmla="*/ 412340 h 1177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8120733" h="1177340">
                <a:moveTo>
                  <a:pt x="8120733" y="765000"/>
                </a:moveTo>
                <a:lnTo>
                  <a:pt x="4207534" y="765000"/>
                </a:lnTo>
                <a:lnTo>
                  <a:pt x="4207534" y="883005"/>
                </a:lnTo>
                <a:lnTo>
                  <a:pt x="4354701" y="883005"/>
                </a:lnTo>
                <a:lnTo>
                  <a:pt x="4060366" y="1177339"/>
                </a:lnTo>
                <a:lnTo>
                  <a:pt x="3766031" y="883005"/>
                </a:lnTo>
                <a:lnTo>
                  <a:pt x="3913199" y="883005"/>
                </a:lnTo>
                <a:lnTo>
                  <a:pt x="3913199" y="765000"/>
                </a:lnTo>
                <a:lnTo>
                  <a:pt x="0" y="765000"/>
                </a:lnTo>
                <a:lnTo>
                  <a:pt x="0" y="1"/>
                </a:lnTo>
                <a:lnTo>
                  <a:pt x="8120733" y="1"/>
                </a:lnTo>
                <a:lnTo>
                  <a:pt x="8120733" y="765000"/>
                </a:lnTo>
                <a:close/>
              </a:path>
            </a:pathLst>
          </a:custGeom>
          <a:solidFill>
            <a:schemeClr val="bg1">
              <a:lumMod val="50000"/>
            </a:schemeClr>
          </a:solidFill>
        </p:spPr>
        <p:style>
          <a:lnRef idx="2">
            <a:schemeClr val="lt1">
              <a:hueOff val="0"/>
              <a:satOff val="0"/>
              <a:lumOff val="0"/>
              <a:alphaOff val="0"/>
            </a:schemeClr>
          </a:lnRef>
          <a:fillRef idx="1">
            <a:schemeClr val="accent4">
              <a:shade val="80000"/>
              <a:hueOff val="0"/>
              <a:satOff val="0"/>
              <a:lumOff val="58383"/>
              <a:alphaOff val="0"/>
            </a:schemeClr>
          </a:fillRef>
          <a:effectRef idx="0">
            <a:schemeClr val="accent4">
              <a:shade val="80000"/>
              <a:hueOff val="0"/>
              <a:satOff val="0"/>
              <a:lumOff val="58383"/>
              <a:alphaOff val="0"/>
            </a:schemeClr>
          </a:effectRef>
          <a:fontRef idx="minor">
            <a:schemeClr val="lt1"/>
          </a:fontRef>
        </p:style>
        <p:txBody>
          <a:bodyPr spcFirstLastPara="0" vert="horz" wrap="square" lIns="113792" tIns="113793" rIns="113792" bIns="877887" numCol="1" spcCol="1270" anchor="ctr" anchorCtr="0">
            <a:noAutofit/>
          </a:bodyPr>
          <a:lstStyle/>
          <a:p>
            <a:pPr defTabSz="711200" latinLnBrk="0">
              <a:lnSpc>
                <a:spcPct val="90000"/>
              </a:lnSpc>
              <a:spcBef>
                <a:spcPct val="0"/>
              </a:spcBef>
              <a:spcAft>
                <a:spcPct val="35000"/>
              </a:spcAft>
            </a:pPr>
            <a:r>
              <a:rPr lang="en-US" sz="1200" b="1" dirty="0">
                <a:latin typeface="Arial Narrow" panose="020B0606020202030204" pitchFamily="34" charset="0"/>
              </a:rPr>
              <a:t>4. Data Layer</a:t>
            </a:r>
          </a:p>
        </p:txBody>
      </p:sp>
      <p:sp>
        <p:nvSpPr>
          <p:cNvPr id="2" name="Text Box 237">
            <a:extLst>
              <a:ext uri="{FF2B5EF4-FFF2-40B4-BE49-F238E27FC236}">
                <a16:creationId xmlns:a16="http://schemas.microsoft.com/office/drawing/2014/main" id="{FF20FAC0-A8FB-DBF1-3920-9582DB2F64B2}"/>
              </a:ext>
            </a:extLst>
          </p:cNvPr>
          <p:cNvSpPr txBox="1">
            <a:spLocks noChangeArrowheads="1"/>
          </p:cNvSpPr>
          <p:nvPr/>
        </p:nvSpPr>
        <p:spPr bwMode="gray">
          <a:xfrm>
            <a:off x="448886" y="65731"/>
            <a:ext cx="2264889" cy="39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3077" tIns="43200" rIns="83077" bIns="43200" anchor="ctr">
            <a:spAutoFit/>
          </a:bodyPr>
          <a:lstStyle>
            <a:lvl1pPr eaLnBrk="0" hangingPunct="0">
              <a:defRPr kumimoji="1" sz="1200" b="1">
                <a:solidFill>
                  <a:schemeClr val="tx1"/>
                </a:solidFill>
                <a:latin typeface="Arial" charset="0"/>
                <a:ea typeface="돋움" pitchFamily="50" charset="-127"/>
              </a:defRPr>
            </a:lvl1pPr>
            <a:lvl2pPr marL="742950" indent="-285750" eaLnBrk="0" hangingPunct="0">
              <a:defRPr kumimoji="1" sz="1200" b="1">
                <a:solidFill>
                  <a:schemeClr val="tx1"/>
                </a:solidFill>
                <a:latin typeface="Arial" charset="0"/>
                <a:ea typeface="돋움" pitchFamily="50" charset="-127"/>
              </a:defRPr>
            </a:lvl2pPr>
            <a:lvl3pPr marL="1143000" indent="-228600" eaLnBrk="0" hangingPunct="0">
              <a:defRPr kumimoji="1" sz="1200" b="1">
                <a:solidFill>
                  <a:schemeClr val="tx1"/>
                </a:solidFill>
                <a:latin typeface="Arial" charset="0"/>
                <a:ea typeface="돋움" pitchFamily="50" charset="-127"/>
              </a:defRPr>
            </a:lvl3pPr>
            <a:lvl4pPr marL="1600200" indent="-228600" eaLnBrk="0" hangingPunct="0">
              <a:defRPr kumimoji="1" sz="1200" b="1">
                <a:solidFill>
                  <a:schemeClr val="tx1"/>
                </a:solidFill>
                <a:latin typeface="Arial" charset="0"/>
                <a:ea typeface="돋움" pitchFamily="50" charset="-127"/>
              </a:defRPr>
            </a:lvl4pPr>
            <a:lvl5pPr marL="2057400" indent="-228600" eaLnBrk="0" hangingPunct="0">
              <a:defRPr kumimoji="1" sz="1200" b="1">
                <a:solidFill>
                  <a:schemeClr val="tx1"/>
                </a:solidFill>
                <a:latin typeface="Arial" charset="0"/>
                <a:ea typeface="돋움" pitchFamily="50" charset="-127"/>
              </a:defRPr>
            </a:lvl5pPr>
            <a:lvl6pPr marL="25146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6pPr>
            <a:lvl7pPr marL="29718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7pPr>
            <a:lvl8pPr marL="34290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8pPr>
            <a:lvl9pPr marL="3886200" indent="-228600" eaLnBrk="0" fontAlgn="base" hangingPunct="0">
              <a:spcBef>
                <a:spcPct val="50000"/>
              </a:spcBef>
              <a:spcAft>
                <a:spcPct val="0"/>
              </a:spcAft>
              <a:buChar char="•"/>
              <a:defRPr kumimoji="1" sz="1200" b="1">
                <a:solidFill>
                  <a:schemeClr val="tx1"/>
                </a:solidFill>
                <a:latin typeface="Arial" charset="0"/>
                <a:ea typeface="돋움" pitchFamily="50" charset="-127"/>
              </a:defRPr>
            </a:lvl9pPr>
          </a:lstStyle>
          <a:p>
            <a:pPr marL="0" marR="0" lvl="0" indent="0" algn="l" defTabSz="952799" rtl="0" eaLnBrk="0" fontAlgn="auto" latinLnBrk="0" hangingPunct="0">
              <a:lnSpc>
                <a:spcPct val="100000"/>
              </a:lnSpc>
              <a:spcBef>
                <a:spcPts val="0"/>
              </a:spcBef>
              <a:spcAft>
                <a:spcPts val="0"/>
              </a:spcAft>
              <a:buClrTx/>
              <a:buSzTx/>
              <a:buFontTx/>
              <a:buNone/>
              <a:tabLst/>
              <a:defRPr/>
            </a:pPr>
            <a:r>
              <a:rPr kumimoji="1" lang="en-US" sz="2000" b="1" i="0" u="none" strike="noStrike" kern="1200" cap="none" spc="0" normalizeH="0" baseline="0" noProof="0" dirty="0">
                <a:ln>
                  <a:noFill/>
                </a:ln>
                <a:effectLst/>
                <a:uLnTx/>
                <a:uFillTx/>
                <a:latin typeface="Arial Narrow" panose="020B0606020202030204" pitchFamily="34" charset="0"/>
                <a:ea typeface="돋움" pitchFamily="50" charset="-127"/>
                <a:cs typeface="+mn-cs"/>
              </a:rPr>
              <a:t>System Architecture </a:t>
            </a:r>
          </a:p>
        </p:txBody>
      </p:sp>
      <p:sp>
        <p:nvSpPr>
          <p:cNvPr id="7" name="텍스트 개체 틀 4">
            <a:extLst>
              <a:ext uri="{FF2B5EF4-FFF2-40B4-BE49-F238E27FC236}">
                <a16:creationId xmlns:a16="http://schemas.microsoft.com/office/drawing/2014/main" id="{60D65D24-DAC0-7771-4743-E2AA0B58EB38}"/>
              </a:ext>
            </a:extLst>
          </p:cNvPr>
          <p:cNvSpPr txBox="1">
            <a:spLocks/>
          </p:cNvSpPr>
          <p:nvPr/>
        </p:nvSpPr>
        <p:spPr>
          <a:xfrm>
            <a:off x="421380" y="537721"/>
            <a:ext cx="7667956" cy="286232"/>
          </a:xfrm>
          <a:prstGeom prst="rect">
            <a:avLst/>
          </a:prstGeom>
        </p:spPr>
        <p:txBody>
          <a:bodyPr wrap="square">
            <a:spAutoFit/>
          </a:bodyPr>
          <a:lstStyle>
            <a:lvl1pPr marL="354013" indent="-354013" algn="l" defTabSz="903091" rtl="0" eaLnBrk="1" latinLnBrk="1" hangingPunct="1">
              <a:spcBef>
                <a:spcPct val="20000"/>
              </a:spcBef>
              <a:buFont typeface="Wingdings" panose="05000000000000000000" pitchFamily="2" charset="2"/>
              <a:buChar char="q"/>
              <a:defRPr sz="1400" kern="1200">
                <a:solidFill>
                  <a:schemeClr val="tx1"/>
                </a:solidFill>
                <a:latin typeface="LG스마트체2.0 Regular" panose="020B0600000101010101" pitchFamily="50" charset="-127"/>
                <a:ea typeface="LG스마트체2.0 Regular" panose="020B0600000101010101" pitchFamily="50" charset="-127"/>
                <a:cs typeface="+mn-cs"/>
              </a:defRPr>
            </a:lvl1pPr>
            <a:lvl2pPr marL="719138" indent="-365125" algn="l" defTabSz="903091" rtl="0" eaLnBrk="1" latinLnBrk="1" hangingPunct="1">
              <a:spcBef>
                <a:spcPct val="20000"/>
              </a:spcBef>
              <a:buFont typeface="Arial" panose="020B0604020202020204" pitchFamily="34" charset="0"/>
              <a:buChar char="–"/>
              <a:defRPr sz="1200" kern="1200" baseline="0">
                <a:solidFill>
                  <a:schemeClr val="tx1"/>
                </a:solidFill>
                <a:latin typeface="LG스마트체2.0 Regular" panose="020B0600000101010101" pitchFamily="50" charset="-127"/>
                <a:ea typeface="LG스마트체2.0 Regular" panose="020B0600000101010101" pitchFamily="50" charset="-127"/>
                <a:cs typeface="+mn-cs"/>
              </a:defRPr>
            </a:lvl2pPr>
            <a:lvl3pPr marL="1128864" indent="-225773" algn="l" defTabSz="903091" rtl="0" eaLnBrk="1" latinLnBrk="1" hangingPunct="1">
              <a:spcBef>
                <a:spcPct val="20000"/>
              </a:spcBef>
              <a:buFont typeface="Arial" panose="020B0604020202020204" pitchFamily="34" charset="0"/>
              <a:buChar char="•"/>
              <a:defRPr sz="2358" kern="1200">
                <a:solidFill>
                  <a:schemeClr val="tx1"/>
                </a:solidFill>
                <a:latin typeface="+mn-lt"/>
                <a:ea typeface="+mn-ea"/>
                <a:cs typeface="+mn-cs"/>
              </a:defRPr>
            </a:lvl3pPr>
            <a:lvl4pPr marL="1580409"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4pPr>
            <a:lvl5pPr marL="2031955"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5pPr>
            <a:lvl6pPr marL="2483500"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6pPr>
            <a:lvl7pPr marL="2935046"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7pPr>
            <a:lvl8pPr marL="3386591"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8pPr>
            <a:lvl9pPr marL="3838136" indent="-225773" algn="l" defTabSz="903091" rtl="0" eaLnBrk="1" latinLnBrk="1" hangingPunct="1">
              <a:spcBef>
                <a:spcPct val="20000"/>
              </a:spcBef>
              <a:buFont typeface="Arial" panose="020B0604020202020204" pitchFamily="34" charset="0"/>
              <a:buChar char="•"/>
              <a:defRPr sz="1995" kern="1200">
                <a:solidFill>
                  <a:schemeClr val="tx1"/>
                </a:solidFill>
                <a:latin typeface="+mn-lt"/>
                <a:ea typeface="+mn-ea"/>
                <a:cs typeface="+mn-cs"/>
              </a:defRPr>
            </a:lvl9pPr>
          </a:lstStyle>
          <a:p>
            <a:pPr marL="0" indent="0" latinLnBrk="0">
              <a:lnSpc>
                <a:spcPct val="90000"/>
              </a:lnSpc>
            </a:pPr>
            <a:r>
              <a:rPr lang="en-US" b="1" noProof="0" dirty="0">
                <a:latin typeface="Arial Narrow" panose="020B0606020202030204" pitchFamily="34" charset="0"/>
                <a:ea typeface="LG스마트체 Regular" panose="020B0600000101010101" pitchFamily="50" charset="-127"/>
              </a:rPr>
              <a:t> Proposed System Structure  /  제안 시스템 구조</a:t>
            </a:r>
          </a:p>
        </p:txBody>
      </p:sp>
      <p:pic>
        <p:nvPicPr>
          <p:cNvPr id="1028" name="Picture 4" descr="ThirdEye: Microsoft Azure Cloud &amp; Analytics Services">
            <a:extLst>
              <a:ext uri="{FF2B5EF4-FFF2-40B4-BE49-F238E27FC236}">
                <a16:creationId xmlns:a16="http://schemas.microsoft.com/office/drawing/2014/main" id="{55C86312-4A9F-F5B0-1647-1E37554D01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7136" y="2064861"/>
            <a:ext cx="1510845" cy="9326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n Introduction to Azure Open AI and Azure Search Service with a Practical  Example | by Mustafa Altunok | Medium">
            <a:extLst>
              <a:ext uri="{FF2B5EF4-FFF2-40B4-BE49-F238E27FC236}">
                <a16:creationId xmlns:a16="http://schemas.microsoft.com/office/drawing/2014/main" id="{CAFA0D15-EF78-37CD-BF3D-E8C2931BA66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11845" y="3291066"/>
            <a:ext cx="1661426" cy="93268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isabling Copilot Studio | Topedia Blog">
            <a:extLst>
              <a:ext uri="{FF2B5EF4-FFF2-40B4-BE49-F238E27FC236}">
                <a16:creationId xmlns:a16="http://schemas.microsoft.com/office/drawing/2014/main" id="{9650C8D1-DB4E-AE43-3EDC-B87C3222EEF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21352" y="859789"/>
            <a:ext cx="1785268" cy="932688"/>
          </a:xfrm>
          <a:prstGeom prst="rect">
            <a:avLst/>
          </a:prstGeom>
          <a:noFill/>
          <a:extLst>
            <a:ext uri="{909E8E84-426E-40DD-AFC4-6F175D3DCCD1}">
              <a14:hiddenFill xmlns:a14="http://schemas.microsoft.com/office/drawing/2010/main">
                <a:solidFill>
                  <a:srgbClr val="FFFFFF"/>
                </a:solidFill>
              </a14:hiddenFill>
            </a:ext>
          </a:extLst>
        </p:spPr>
      </p:pic>
      <p:sp>
        <p:nvSpPr>
          <p:cNvPr id="5" name="Freeform: Shape 4">
            <a:extLst>
              <a:ext uri="{FF2B5EF4-FFF2-40B4-BE49-F238E27FC236}">
                <a16:creationId xmlns:a16="http://schemas.microsoft.com/office/drawing/2014/main" id="{5A069C9F-2792-951D-B226-25C0D38C6334}"/>
              </a:ext>
            </a:extLst>
          </p:cNvPr>
          <p:cNvSpPr/>
          <p:nvPr/>
        </p:nvSpPr>
        <p:spPr>
          <a:xfrm>
            <a:off x="137211" y="5492020"/>
            <a:ext cx="8149923" cy="1177340"/>
          </a:xfrm>
          <a:custGeom>
            <a:avLst/>
            <a:gdLst>
              <a:gd name="csX0" fmla="*/ 0 w 8120733"/>
              <a:gd name="csY0" fmla="*/ 0 h 765500"/>
              <a:gd name="csX1" fmla="*/ 8120733 w 8120733"/>
              <a:gd name="csY1" fmla="*/ 0 h 765500"/>
              <a:gd name="csX2" fmla="*/ 8120733 w 8120733"/>
              <a:gd name="csY2" fmla="*/ 765500 h 765500"/>
              <a:gd name="csX3" fmla="*/ 0 w 8120733"/>
              <a:gd name="csY3" fmla="*/ 765500 h 765500"/>
              <a:gd name="csX4" fmla="*/ 0 w 8120733"/>
              <a:gd name="csY4" fmla="*/ 0 h 765500"/>
            </a:gdLst>
            <a:ahLst/>
            <a:cxnLst>
              <a:cxn ang="0">
                <a:pos x="csX0" y="csY0"/>
              </a:cxn>
              <a:cxn ang="0">
                <a:pos x="csX1" y="csY1"/>
              </a:cxn>
              <a:cxn ang="0">
                <a:pos x="csX2" y="csY2"/>
              </a:cxn>
              <a:cxn ang="0">
                <a:pos x="csX3" y="csY3"/>
              </a:cxn>
              <a:cxn ang="0">
                <a:pos x="csX4" y="csY4"/>
              </a:cxn>
            </a:cxnLst>
            <a:rect l="l" t="t" r="r" b="b"/>
            <a:pathLst>
              <a:path w="8120733" h="765500">
                <a:moveTo>
                  <a:pt x="0" y="0"/>
                </a:moveTo>
                <a:lnTo>
                  <a:pt x="8120733" y="0"/>
                </a:lnTo>
                <a:lnTo>
                  <a:pt x="8120733" y="765500"/>
                </a:lnTo>
                <a:lnTo>
                  <a:pt x="0" y="765500"/>
                </a:lnTo>
                <a:lnTo>
                  <a:pt x="0" y="0"/>
                </a:lnTo>
                <a:close/>
              </a:path>
            </a:pathLst>
          </a:custGeom>
          <a:solidFill>
            <a:schemeClr val="bg1">
              <a:lumMod val="50000"/>
            </a:schemeClr>
          </a:solidFill>
        </p:spPr>
        <p:style>
          <a:lnRef idx="2">
            <a:schemeClr val="lt1">
              <a:hueOff val="0"/>
              <a:satOff val="0"/>
              <a:lumOff val="0"/>
              <a:alphaOff val="0"/>
            </a:schemeClr>
          </a:lnRef>
          <a:fillRef idx="1">
            <a:schemeClr val="accent4">
              <a:shade val="80000"/>
              <a:hueOff val="0"/>
              <a:satOff val="0"/>
              <a:lumOff val="58383"/>
              <a:alphaOff val="0"/>
            </a:schemeClr>
          </a:fillRef>
          <a:effectRef idx="0">
            <a:schemeClr val="accent4">
              <a:shade val="80000"/>
              <a:hueOff val="0"/>
              <a:satOff val="0"/>
              <a:lumOff val="58383"/>
              <a:alphaOff val="0"/>
            </a:schemeClr>
          </a:effectRef>
          <a:fontRef idx="minor">
            <a:schemeClr val="lt1"/>
          </a:fontRef>
        </p:style>
        <p:txBody>
          <a:bodyPr spcFirstLastPara="0" vert="horz" wrap="square" lIns="113792" tIns="113793" rIns="113792" bIns="877887" numCol="1" spcCol="1270" anchor="ctr" anchorCtr="0">
            <a:noAutofit/>
          </a:bodyPr>
          <a:lstStyle/>
          <a:p>
            <a:pPr defTabSz="711200" latinLnBrk="0">
              <a:lnSpc>
                <a:spcPct val="90000"/>
              </a:lnSpc>
              <a:spcBef>
                <a:spcPct val="0"/>
              </a:spcBef>
              <a:spcAft>
                <a:spcPct val="35000"/>
              </a:spcAft>
            </a:pPr>
            <a:r>
              <a:rPr lang="en-US" sz="1200" b="1" dirty="0">
                <a:latin typeface="Arial Narrow" panose="020B0606020202030204" pitchFamily="34" charset="0"/>
              </a:rPr>
              <a:t>Output Actions</a:t>
            </a:r>
          </a:p>
        </p:txBody>
      </p:sp>
      <p:sp>
        <p:nvSpPr>
          <p:cNvPr id="6" name="Freeform: Shape 5">
            <a:extLst>
              <a:ext uri="{FF2B5EF4-FFF2-40B4-BE49-F238E27FC236}">
                <a16:creationId xmlns:a16="http://schemas.microsoft.com/office/drawing/2014/main" id="{F9392544-E053-F66C-C60E-B479B37C0149}"/>
              </a:ext>
            </a:extLst>
          </p:cNvPr>
          <p:cNvSpPr/>
          <p:nvPr/>
        </p:nvSpPr>
        <p:spPr>
          <a:xfrm>
            <a:off x="160501" y="5884843"/>
            <a:ext cx="2704267" cy="352130"/>
          </a:xfrm>
          <a:custGeom>
            <a:avLst/>
            <a:gdLst>
              <a:gd name="csX0" fmla="*/ 0 w 2704267"/>
              <a:gd name="csY0" fmla="*/ 0 h 352130"/>
              <a:gd name="csX1" fmla="*/ 2704267 w 2704267"/>
              <a:gd name="csY1" fmla="*/ 0 h 352130"/>
              <a:gd name="csX2" fmla="*/ 2704267 w 2704267"/>
              <a:gd name="csY2" fmla="*/ 352130 h 352130"/>
              <a:gd name="csX3" fmla="*/ 0 w 2704267"/>
              <a:gd name="csY3" fmla="*/ 352130 h 352130"/>
              <a:gd name="csX4" fmla="*/ 0 w 2704267"/>
              <a:gd name="csY4" fmla="*/ 0 h 352130"/>
            </a:gdLst>
            <a:ahLst/>
            <a:cxnLst>
              <a:cxn ang="0">
                <a:pos x="csX0" y="csY0"/>
              </a:cxn>
              <a:cxn ang="0">
                <a:pos x="csX1" y="csY1"/>
              </a:cxn>
              <a:cxn ang="0">
                <a:pos x="csX2" y="csY2"/>
              </a:cxn>
              <a:cxn ang="0">
                <a:pos x="csX3" y="csY3"/>
              </a:cxn>
              <a:cxn ang="0">
                <a:pos x="csX4" y="csY4"/>
              </a:cxn>
            </a:cxnLst>
            <a:rect l="l" t="t" r="r" b="b"/>
            <a:pathLst>
              <a:path w="2704267" h="352130">
                <a:moveTo>
                  <a:pt x="0" y="0"/>
                </a:moveTo>
                <a:lnTo>
                  <a:pt x="2704267" y="0"/>
                </a:lnTo>
                <a:lnTo>
                  <a:pt x="2704267" y="352130"/>
                </a:lnTo>
                <a:lnTo>
                  <a:pt x="0" y="352130"/>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t" anchorCtr="0">
            <a:noAutofit/>
          </a:bodyPr>
          <a:lstStyle/>
          <a:p>
            <a:pPr marL="0" lvl="0" indent="0" algn="l" defTabSz="488950" latinLnBrk="0">
              <a:lnSpc>
                <a:spcPct val="90000"/>
              </a:lnSpc>
              <a:spcBef>
                <a:spcPct val="0"/>
              </a:spcBef>
              <a:spcAft>
                <a:spcPct val="35000"/>
              </a:spcAft>
              <a:buNone/>
            </a:pPr>
            <a:r>
              <a:rPr lang="en-US" sz="1100" b="1" kern="1200" noProof="0" dirty="0">
                <a:latin typeface="Arial Narrow" panose="020B0606020202030204" pitchFamily="34" charset="0"/>
              </a:rPr>
              <a:t>Create PM Task</a:t>
            </a:r>
          </a:p>
          <a:p>
            <a:pPr marL="57150" lvl="1" indent="-57150" algn="l" defTabSz="400050" latinLnBrk="0">
              <a:lnSpc>
                <a:spcPct val="90000"/>
              </a:lnSpc>
              <a:spcBef>
                <a:spcPct val="0"/>
              </a:spcBef>
              <a:spcAft>
                <a:spcPct val="15000"/>
              </a:spcAft>
              <a:buChar char="•"/>
            </a:pPr>
            <a:r>
              <a:rPr lang="en-US" sz="900" kern="1200" noProof="0" dirty="0">
                <a:latin typeface="Arial Narrow" panose="020B0606020202030204" pitchFamily="34" charset="0"/>
              </a:rPr>
              <a:t>One-click handoff to PM checklist</a:t>
            </a:r>
          </a:p>
        </p:txBody>
      </p:sp>
      <p:sp>
        <p:nvSpPr>
          <p:cNvPr id="8" name="Freeform: Shape 7">
            <a:extLst>
              <a:ext uri="{FF2B5EF4-FFF2-40B4-BE49-F238E27FC236}">
                <a16:creationId xmlns:a16="http://schemas.microsoft.com/office/drawing/2014/main" id="{6C66CA94-37B1-24E0-2DB6-9005791219A6}"/>
              </a:ext>
            </a:extLst>
          </p:cNvPr>
          <p:cNvSpPr/>
          <p:nvPr/>
        </p:nvSpPr>
        <p:spPr>
          <a:xfrm>
            <a:off x="2845443" y="5884843"/>
            <a:ext cx="2704267" cy="352130"/>
          </a:xfrm>
          <a:custGeom>
            <a:avLst/>
            <a:gdLst>
              <a:gd name="csX0" fmla="*/ 0 w 2704267"/>
              <a:gd name="csY0" fmla="*/ 0 h 352130"/>
              <a:gd name="csX1" fmla="*/ 2704267 w 2704267"/>
              <a:gd name="csY1" fmla="*/ 0 h 352130"/>
              <a:gd name="csX2" fmla="*/ 2704267 w 2704267"/>
              <a:gd name="csY2" fmla="*/ 352130 h 352130"/>
              <a:gd name="csX3" fmla="*/ 0 w 2704267"/>
              <a:gd name="csY3" fmla="*/ 352130 h 352130"/>
              <a:gd name="csX4" fmla="*/ 0 w 2704267"/>
              <a:gd name="csY4" fmla="*/ 0 h 352130"/>
            </a:gdLst>
            <a:ahLst/>
            <a:cxnLst>
              <a:cxn ang="0">
                <a:pos x="csX0" y="csY0"/>
              </a:cxn>
              <a:cxn ang="0">
                <a:pos x="csX1" y="csY1"/>
              </a:cxn>
              <a:cxn ang="0">
                <a:pos x="csX2" y="csY2"/>
              </a:cxn>
              <a:cxn ang="0">
                <a:pos x="csX3" y="csY3"/>
              </a:cxn>
              <a:cxn ang="0">
                <a:pos x="csX4" y="csY4"/>
              </a:cxn>
            </a:cxnLst>
            <a:rect l="l" t="t" r="r" b="b"/>
            <a:pathLst>
              <a:path w="2704267" h="352130">
                <a:moveTo>
                  <a:pt x="0" y="0"/>
                </a:moveTo>
                <a:lnTo>
                  <a:pt x="2704267" y="0"/>
                </a:lnTo>
                <a:lnTo>
                  <a:pt x="2704267" y="352130"/>
                </a:lnTo>
                <a:lnTo>
                  <a:pt x="0" y="352130"/>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t" anchorCtr="0">
            <a:noAutofit/>
          </a:bodyPr>
          <a:lstStyle/>
          <a:p>
            <a:pPr marL="0" lvl="0" indent="0" algn="l" defTabSz="488950" latinLnBrk="0">
              <a:lnSpc>
                <a:spcPct val="90000"/>
              </a:lnSpc>
              <a:spcBef>
                <a:spcPct val="0"/>
              </a:spcBef>
              <a:spcAft>
                <a:spcPct val="35000"/>
              </a:spcAft>
              <a:buNone/>
            </a:pPr>
            <a:r>
              <a:rPr lang="en-US" sz="1100" b="1" kern="1200" noProof="0" dirty="0">
                <a:latin typeface="Arial Narrow" panose="020B0606020202030204" pitchFamily="34" charset="0"/>
              </a:rPr>
              <a:t>Export Summary</a:t>
            </a:r>
          </a:p>
          <a:p>
            <a:pPr marL="57150" lvl="1" indent="-57150" algn="l" defTabSz="400050" latinLnBrk="0">
              <a:lnSpc>
                <a:spcPct val="90000"/>
              </a:lnSpc>
              <a:spcBef>
                <a:spcPct val="0"/>
              </a:spcBef>
              <a:spcAft>
                <a:spcPct val="15000"/>
              </a:spcAft>
              <a:buChar char="•"/>
            </a:pPr>
            <a:r>
              <a:rPr lang="en-US" sz="900" kern="1200" noProof="0" dirty="0">
                <a:latin typeface="Arial Narrow" panose="020B0606020202030204" pitchFamily="34" charset="0"/>
              </a:rPr>
              <a:t>Cited records + cause ready to share</a:t>
            </a:r>
          </a:p>
        </p:txBody>
      </p:sp>
      <p:sp>
        <p:nvSpPr>
          <p:cNvPr id="9" name="Freeform: Shape 8">
            <a:extLst>
              <a:ext uri="{FF2B5EF4-FFF2-40B4-BE49-F238E27FC236}">
                <a16:creationId xmlns:a16="http://schemas.microsoft.com/office/drawing/2014/main" id="{DD053930-412A-A1B3-7865-9F91DBD4B0A6}"/>
              </a:ext>
            </a:extLst>
          </p:cNvPr>
          <p:cNvSpPr/>
          <p:nvPr/>
        </p:nvSpPr>
        <p:spPr>
          <a:xfrm>
            <a:off x="5549711" y="5884843"/>
            <a:ext cx="2704267" cy="352130"/>
          </a:xfrm>
          <a:custGeom>
            <a:avLst/>
            <a:gdLst>
              <a:gd name="csX0" fmla="*/ 0 w 2704267"/>
              <a:gd name="csY0" fmla="*/ 0 h 352130"/>
              <a:gd name="csX1" fmla="*/ 2704267 w 2704267"/>
              <a:gd name="csY1" fmla="*/ 0 h 352130"/>
              <a:gd name="csX2" fmla="*/ 2704267 w 2704267"/>
              <a:gd name="csY2" fmla="*/ 352130 h 352130"/>
              <a:gd name="csX3" fmla="*/ 0 w 2704267"/>
              <a:gd name="csY3" fmla="*/ 352130 h 352130"/>
              <a:gd name="csX4" fmla="*/ 0 w 2704267"/>
              <a:gd name="csY4" fmla="*/ 0 h 352130"/>
            </a:gdLst>
            <a:ahLst/>
            <a:cxnLst>
              <a:cxn ang="0">
                <a:pos x="csX0" y="csY0"/>
              </a:cxn>
              <a:cxn ang="0">
                <a:pos x="csX1" y="csY1"/>
              </a:cxn>
              <a:cxn ang="0">
                <a:pos x="csX2" y="csY2"/>
              </a:cxn>
              <a:cxn ang="0">
                <a:pos x="csX3" y="csY3"/>
              </a:cxn>
              <a:cxn ang="0">
                <a:pos x="csX4" y="csY4"/>
              </a:cxn>
            </a:cxnLst>
            <a:rect l="l" t="t" r="r" b="b"/>
            <a:pathLst>
              <a:path w="2704267" h="352130">
                <a:moveTo>
                  <a:pt x="0" y="0"/>
                </a:moveTo>
                <a:lnTo>
                  <a:pt x="2704267" y="0"/>
                </a:lnTo>
                <a:lnTo>
                  <a:pt x="2704267" y="352130"/>
                </a:lnTo>
                <a:lnTo>
                  <a:pt x="0" y="352130"/>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t" anchorCtr="0">
            <a:noAutofit/>
          </a:bodyPr>
          <a:lstStyle/>
          <a:p>
            <a:pPr marL="0" lvl="0" indent="0" algn="l" defTabSz="488950" latinLnBrk="0">
              <a:lnSpc>
                <a:spcPct val="90000"/>
              </a:lnSpc>
              <a:spcBef>
                <a:spcPct val="0"/>
              </a:spcBef>
              <a:spcAft>
                <a:spcPct val="35000"/>
              </a:spcAft>
              <a:buNone/>
            </a:pPr>
            <a:r>
              <a:rPr lang="en-US" sz="1100" b="1" kern="1200" noProof="0" dirty="0">
                <a:latin typeface="Arial Narrow" panose="020B0606020202030204" pitchFamily="34" charset="0"/>
              </a:rPr>
              <a:t>Open-Source WO</a:t>
            </a:r>
          </a:p>
          <a:p>
            <a:pPr marL="57150" lvl="1" indent="-57150" algn="l" defTabSz="400050" latinLnBrk="0">
              <a:lnSpc>
                <a:spcPct val="90000"/>
              </a:lnSpc>
              <a:spcBef>
                <a:spcPct val="0"/>
              </a:spcBef>
              <a:spcAft>
                <a:spcPct val="15000"/>
              </a:spcAft>
              <a:buChar char="•"/>
            </a:pPr>
            <a:r>
              <a:rPr lang="en-US" sz="900" kern="1200" noProof="0" dirty="0">
                <a:latin typeface="Arial Narrow" panose="020B0606020202030204" pitchFamily="34" charset="0"/>
              </a:rPr>
              <a:t>Direct link back to original GMES record</a:t>
            </a:r>
          </a:p>
        </p:txBody>
      </p:sp>
      <p:sp>
        <p:nvSpPr>
          <p:cNvPr id="11" name="Freeform: Shape 10">
            <a:extLst>
              <a:ext uri="{FF2B5EF4-FFF2-40B4-BE49-F238E27FC236}">
                <a16:creationId xmlns:a16="http://schemas.microsoft.com/office/drawing/2014/main" id="{4EE07759-6969-E0E9-928D-6B56C0BF01B8}"/>
              </a:ext>
            </a:extLst>
          </p:cNvPr>
          <p:cNvSpPr/>
          <p:nvPr/>
        </p:nvSpPr>
        <p:spPr>
          <a:xfrm>
            <a:off x="172554" y="4717118"/>
            <a:ext cx="4060366" cy="764095"/>
          </a:xfrm>
          <a:custGeom>
            <a:avLst/>
            <a:gdLst>
              <a:gd name="csX0" fmla="*/ 0 w 4060366"/>
              <a:gd name="csY0" fmla="*/ 0 h 352024"/>
              <a:gd name="csX1" fmla="*/ 4060366 w 4060366"/>
              <a:gd name="csY1" fmla="*/ 0 h 352024"/>
              <a:gd name="csX2" fmla="*/ 4060366 w 4060366"/>
              <a:gd name="csY2" fmla="*/ 352024 h 352024"/>
              <a:gd name="csX3" fmla="*/ 0 w 4060366"/>
              <a:gd name="csY3" fmla="*/ 352024 h 352024"/>
              <a:gd name="csX4" fmla="*/ 0 w 4060366"/>
              <a:gd name="csY4" fmla="*/ 0 h 352024"/>
            </a:gdLst>
            <a:ahLst/>
            <a:cxnLst>
              <a:cxn ang="0">
                <a:pos x="csX0" y="csY0"/>
              </a:cxn>
              <a:cxn ang="0">
                <a:pos x="csX1" y="csY1"/>
              </a:cxn>
              <a:cxn ang="0">
                <a:pos x="csX2" y="csY2"/>
              </a:cxn>
              <a:cxn ang="0">
                <a:pos x="csX3" y="csY3"/>
              </a:cxn>
              <a:cxn ang="0">
                <a:pos x="csX4" y="csY4"/>
              </a:cxn>
            </a:cxnLst>
            <a:rect l="l" t="t" r="r" b="b"/>
            <a:pathLst>
              <a:path w="4060366" h="352024">
                <a:moveTo>
                  <a:pt x="0" y="0"/>
                </a:moveTo>
                <a:lnTo>
                  <a:pt x="4060366" y="0"/>
                </a:lnTo>
                <a:lnTo>
                  <a:pt x="4060366" y="352024"/>
                </a:lnTo>
                <a:lnTo>
                  <a:pt x="0" y="352024"/>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t" anchorCtr="0">
            <a:noAutofit/>
          </a:bodyPr>
          <a:lstStyle/>
          <a:p>
            <a:pPr marL="57150" lvl="0" algn="ctr" defTabSz="488950" latinLnBrk="0">
              <a:lnSpc>
                <a:spcPct val="90000"/>
              </a:lnSpc>
              <a:spcBef>
                <a:spcPct val="0"/>
              </a:spcBef>
              <a:spcAft>
                <a:spcPct val="35000"/>
              </a:spcAft>
              <a:buNone/>
            </a:pPr>
            <a:r>
              <a:rPr lang="en-US" sz="1100" b="1" i="0" kern="1200" noProof="0" dirty="0">
                <a:latin typeface="Arial Narrow" panose="020B0606020202030204" pitchFamily="34" charset="0"/>
              </a:rPr>
              <a:t>Azure SQL Database</a:t>
            </a:r>
            <a:endParaRPr lang="en-US" sz="1100" b="1" kern="1200" noProof="0" dirty="0">
              <a:latin typeface="Arial Narrow" panose="020B0606020202030204" pitchFamily="34" charset="0"/>
            </a:endParaRPr>
          </a:p>
          <a:p>
            <a:pPr marL="57150" lvl="1" algn="ctr" defTabSz="400050" latinLnBrk="0">
              <a:lnSpc>
                <a:spcPct val="90000"/>
              </a:lnSpc>
              <a:spcBef>
                <a:spcPct val="0"/>
              </a:spcBef>
              <a:spcAft>
                <a:spcPct val="15000"/>
              </a:spcAft>
              <a:buNone/>
            </a:pPr>
            <a:r>
              <a:rPr lang="en-US" sz="900" kern="1200" noProof="0" dirty="0">
                <a:latin typeface="Arial Narrow" panose="020B0606020202030204" pitchFamily="34" charset="0"/>
              </a:rPr>
              <a:t>7-year work-order history</a:t>
            </a:r>
          </a:p>
          <a:p>
            <a:pPr marL="57150" lvl="1" algn="ctr" defTabSz="400050" latinLnBrk="0">
              <a:lnSpc>
                <a:spcPct val="90000"/>
              </a:lnSpc>
              <a:spcBef>
                <a:spcPct val="0"/>
              </a:spcBef>
              <a:spcAft>
                <a:spcPct val="15000"/>
              </a:spcAft>
              <a:buNone/>
            </a:pPr>
            <a:r>
              <a:rPr lang="en-US" sz="900" kern="1200" noProof="0" dirty="0">
                <a:latin typeface="Arial Narrow" panose="020B0606020202030204" pitchFamily="34" charset="0"/>
              </a:rPr>
              <a:t>50,000+ records from GMES. </a:t>
            </a:r>
          </a:p>
          <a:p>
            <a:pPr marL="57150" lvl="1" algn="ctr" defTabSz="400050" latinLnBrk="0">
              <a:lnSpc>
                <a:spcPct val="90000"/>
              </a:lnSpc>
              <a:spcBef>
                <a:spcPct val="0"/>
              </a:spcBef>
              <a:spcAft>
                <a:spcPct val="15000"/>
              </a:spcAft>
              <a:buNone/>
            </a:pPr>
            <a:r>
              <a:rPr lang="en-US" sz="900" kern="1200" noProof="0" dirty="0">
                <a:latin typeface="Arial Narrow" panose="020B0606020202030204" pitchFamily="34" charset="0"/>
              </a:rPr>
              <a:t>Fields: cause · action · prevention equipment ID · date · technician </a:t>
            </a:r>
          </a:p>
          <a:p>
            <a:pPr marL="57150" lvl="1" algn="ctr" defTabSz="400050" latinLnBrk="0">
              <a:lnSpc>
                <a:spcPct val="90000"/>
              </a:lnSpc>
              <a:spcBef>
                <a:spcPct val="0"/>
              </a:spcBef>
              <a:spcAft>
                <a:spcPct val="15000"/>
              </a:spcAft>
              <a:buNone/>
            </a:pPr>
            <a:r>
              <a:rPr lang="en-US" sz="900" dirty="0">
                <a:latin typeface="Arial Narrow" panose="020B0606020202030204" pitchFamily="34" charset="0"/>
              </a:rPr>
              <a:t>R</a:t>
            </a:r>
            <a:r>
              <a:rPr lang="en-US" sz="900" kern="1200" noProof="0" dirty="0">
                <a:latin typeface="Arial Narrow" panose="020B0606020202030204" pitchFamily="34" charset="0"/>
              </a:rPr>
              <a:t>efreshed nightly from GMES export</a:t>
            </a:r>
            <a:endParaRPr lang="en-US" sz="1100" kern="1200" noProof="0" dirty="0">
              <a:latin typeface="Arial Narrow" panose="020B0606020202030204" pitchFamily="34" charset="0"/>
            </a:endParaRPr>
          </a:p>
          <a:p>
            <a:pPr marL="57150" lvl="1" algn="ctr" defTabSz="400050" latinLnBrk="0">
              <a:lnSpc>
                <a:spcPct val="90000"/>
              </a:lnSpc>
              <a:spcBef>
                <a:spcPct val="0"/>
              </a:spcBef>
              <a:spcAft>
                <a:spcPct val="15000"/>
              </a:spcAft>
              <a:buNone/>
            </a:pPr>
            <a:endParaRPr lang="en-US" sz="900" kern="1200" noProof="0" dirty="0">
              <a:latin typeface="Arial Narrow" panose="020B0606020202030204" pitchFamily="34" charset="0"/>
            </a:endParaRPr>
          </a:p>
        </p:txBody>
      </p:sp>
      <p:sp>
        <p:nvSpPr>
          <p:cNvPr id="12" name="Freeform: Shape 11">
            <a:extLst>
              <a:ext uri="{FF2B5EF4-FFF2-40B4-BE49-F238E27FC236}">
                <a16:creationId xmlns:a16="http://schemas.microsoft.com/office/drawing/2014/main" id="{F000C3E4-5112-03E6-5D7F-84568B7993F5}"/>
              </a:ext>
            </a:extLst>
          </p:cNvPr>
          <p:cNvSpPr/>
          <p:nvPr/>
        </p:nvSpPr>
        <p:spPr>
          <a:xfrm>
            <a:off x="4197577" y="4717119"/>
            <a:ext cx="4060366" cy="764094"/>
          </a:xfrm>
          <a:custGeom>
            <a:avLst/>
            <a:gdLst>
              <a:gd name="csX0" fmla="*/ 0 w 4060366"/>
              <a:gd name="csY0" fmla="*/ 0 h 352024"/>
              <a:gd name="csX1" fmla="*/ 4060366 w 4060366"/>
              <a:gd name="csY1" fmla="*/ 0 h 352024"/>
              <a:gd name="csX2" fmla="*/ 4060366 w 4060366"/>
              <a:gd name="csY2" fmla="*/ 352024 h 352024"/>
              <a:gd name="csX3" fmla="*/ 0 w 4060366"/>
              <a:gd name="csY3" fmla="*/ 352024 h 352024"/>
              <a:gd name="csX4" fmla="*/ 0 w 4060366"/>
              <a:gd name="csY4" fmla="*/ 0 h 352024"/>
            </a:gdLst>
            <a:ahLst/>
            <a:cxnLst>
              <a:cxn ang="0">
                <a:pos x="csX0" y="csY0"/>
              </a:cxn>
              <a:cxn ang="0">
                <a:pos x="csX1" y="csY1"/>
              </a:cxn>
              <a:cxn ang="0">
                <a:pos x="csX2" y="csY2"/>
              </a:cxn>
              <a:cxn ang="0">
                <a:pos x="csX3" y="csY3"/>
              </a:cxn>
              <a:cxn ang="0">
                <a:pos x="csX4" y="csY4"/>
              </a:cxn>
            </a:cxnLst>
            <a:rect l="l" t="t" r="r" b="b"/>
            <a:pathLst>
              <a:path w="4060366" h="352024">
                <a:moveTo>
                  <a:pt x="0" y="0"/>
                </a:moveTo>
                <a:lnTo>
                  <a:pt x="4060366" y="0"/>
                </a:lnTo>
                <a:lnTo>
                  <a:pt x="4060366" y="352024"/>
                </a:lnTo>
                <a:lnTo>
                  <a:pt x="0" y="352024"/>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t" anchorCtr="0">
            <a:noAutofit/>
          </a:bodyPr>
          <a:lstStyle/>
          <a:p>
            <a:pPr marL="0" lvl="0" indent="0" algn="ctr" defTabSz="488950" latinLnBrk="0">
              <a:lnSpc>
                <a:spcPct val="90000"/>
              </a:lnSpc>
              <a:spcBef>
                <a:spcPct val="0"/>
              </a:spcBef>
              <a:spcAft>
                <a:spcPct val="35000"/>
              </a:spcAft>
              <a:buNone/>
            </a:pPr>
            <a:r>
              <a:rPr lang="en-US" sz="1100" b="1" kern="1200" noProof="0" dirty="0">
                <a:latin typeface="Arial Narrow" panose="020B0606020202030204" pitchFamily="34" charset="0"/>
              </a:rPr>
              <a:t>GMES_PM (Source)</a:t>
            </a:r>
            <a:endParaRPr lang="en-US" sz="900" b="1" kern="1200" noProof="0" dirty="0">
              <a:latin typeface="Arial Narrow" panose="020B0606020202030204" pitchFamily="34" charset="0"/>
            </a:endParaRPr>
          </a:p>
          <a:p>
            <a:pPr marL="57150" lvl="1" algn="ctr" defTabSz="400050" latinLnBrk="0">
              <a:lnSpc>
                <a:spcPct val="90000"/>
              </a:lnSpc>
              <a:spcBef>
                <a:spcPct val="0"/>
              </a:spcBef>
              <a:spcAft>
                <a:spcPct val="15000"/>
              </a:spcAft>
              <a:buNone/>
            </a:pPr>
            <a:r>
              <a:rPr lang="en-US" sz="900" kern="1200" noProof="0" dirty="0">
                <a:latin typeface="Arial Narrow" panose="020B0606020202030204" pitchFamily="34" charset="0"/>
              </a:rPr>
              <a:t>Current work-order system</a:t>
            </a:r>
            <a:br>
              <a:rPr lang="en-US" sz="900" kern="1200" noProof="0" dirty="0">
                <a:latin typeface="Arial Narrow" panose="020B0606020202030204" pitchFamily="34" charset="0"/>
              </a:rPr>
            </a:br>
            <a:r>
              <a:rPr lang="en-US" sz="900" kern="1200" noProof="0" dirty="0">
                <a:latin typeface="Arial Narrow" panose="020B0606020202030204" pitchFamily="34" charset="0"/>
              </a:rPr>
              <a:t>Work Log Management screen </a:t>
            </a:r>
            <a:br>
              <a:rPr lang="en-US" sz="900" kern="1200" noProof="0" dirty="0">
                <a:latin typeface="Arial Narrow" panose="020B0606020202030204" pitchFamily="34" charset="0"/>
              </a:rPr>
            </a:br>
            <a:r>
              <a:rPr lang="en-US" sz="900" kern="1200" noProof="0" dirty="0">
                <a:latin typeface="Arial Narrow" panose="020B0606020202030204" pitchFamily="34" charset="0"/>
              </a:rPr>
              <a:t>Manual entry by technicians</a:t>
            </a:r>
            <a:br>
              <a:rPr lang="en-US" sz="900" kern="1200" noProof="0" dirty="0">
                <a:latin typeface="Arial Narrow" panose="020B0606020202030204" pitchFamily="34" charset="0"/>
              </a:rPr>
            </a:br>
            <a:r>
              <a:rPr lang="en-US" sz="900" kern="1200" noProof="0" dirty="0">
                <a:latin typeface="Arial Narrow" panose="020B0606020202030204" pitchFamily="34" charset="0"/>
              </a:rPr>
              <a:t>Nightly export → Azure SQL sync.</a:t>
            </a:r>
          </a:p>
        </p:txBody>
      </p:sp>
      <p:sp>
        <p:nvSpPr>
          <p:cNvPr id="13" name="Freeform: Shape 12">
            <a:extLst>
              <a:ext uri="{FF2B5EF4-FFF2-40B4-BE49-F238E27FC236}">
                <a16:creationId xmlns:a16="http://schemas.microsoft.com/office/drawing/2014/main" id="{1B4C6BA4-B41C-EA7E-2102-F9C7FD2E9E45}"/>
              </a:ext>
            </a:extLst>
          </p:cNvPr>
          <p:cNvSpPr/>
          <p:nvPr/>
        </p:nvSpPr>
        <p:spPr>
          <a:xfrm>
            <a:off x="137211" y="3138015"/>
            <a:ext cx="8149925" cy="1177341"/>
          </a:xfrm>
          <a:custGeom>
            <a:avLst/>
            <a:gdLst>
              <a:gd name="csX0" fmla="*/ 0 w 8120733"/>
              <a:gd name="csY0" fmla="*/ 412340 h 1177340"/>
              <a:gd name="csX1" fmla="*/ 3913199 w 8120733"/>
              <a:gd name="csY1" fmla="*/ 412340 h 1177340"/>
              <a:gd name="csX2" fmla="*/ 3913199 w 8120733"/>
              <a:gd name="csY2" fmla="*/ 294335 h 1177340"/>
              <a:gd name="csX3" fmla="*/ 3766032 w 8120733"/>
              <a:gd name="csY3" fmla="*/ 294335 h 1177340"/>
              <a:gd name="csX4" fmla="*/ 4060367 w 8120733"/>
              <a:gd name="csY4" fmla="*/ 0 h 1177340"/>
              <a:gd name="csX5" fmla="*/ 4354702 w 8120733"/>
              <a:gd name="csY5" fmla="*/ 294335 h 1177340"/>
              <a:gd name="csX6" fmla="*/ 4207534 w 8120733"/>
              <a:gd name="csY6" fmla="*/ 294335 h 1177340"/>
              <a:gd name="csX7" fmla="*/ 4207534 w 8120733"/>
              <a:gd name="csY7" fmla="*/ 412340 h 1177340"/>
              <a:gd name="csX8" fmla="*/ 8120733 w 8120733"/>
              <a:gd name="csY8" fmla="*/ 412340 h 1177340"/>
              <a:gd name="csX9" fmla="*/ 8120733 w 8120733"/>
              <a:gd name="csY9" fmla="*/ 1177340 h 1177340"/>
              <a:gd name="csX10" fmla="*/ 0 w 8120733"/>
              <a:gd name="csY10" fmla="*/ 1177340 h 1177340"/>
              <a:gd name="csX11" fmla="*/ 0 w 8120733"/>
              <a:gd name="csY11" fmla="*/ 412340 h 1177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8120733" h="1177340">
                <a:moveTo>
                  <a:pt x="8120733" y="765000"/>
                </a:moveTo>
                <a:lnTo>
                  <a:pt x="4207534" y="765000"/>
                </a:lnTo>
                <a:lnTo>
                  <a:pt x="4207534" y="883005"/>
                </a:lnTo>
                <a:lnTo>
                  <a:pt x="4354701" y="883005"/>
                </a:lnTo>
                <a:lnTo>
                  <a:pt x="4060366" y="1177339"/>
                </a:lnTo>
                <a:lnTo>
                  <a:pt x="3766031" y="883005"/>
                </a:lnTo>
                <a:lnTo>
                  <a:pt x="3913199" y="883005"/>
                </a:lnTo>
                <a:lnTo>
                  <a:pt x="3913199" y="765000"/>
                </a:lnTo>
                <a:lnTo>
                  <a:pt x="0" y="765000"/>
                </a:lnTo>
                <a:lnTo>
                  <a:pt x="0" y="1"/>
                </a:lnTo>
                <a:lnTo>
                  <a:pt x="8120733" y="1"/>
                </a:lnTo>
                <a:lnTo>
                  <a:pt x="8120733" y="765000"/>
                </a:lnTo>
                <a:close/>
              </a:path>
            </a:pathLst>
          </a:custGeom>
          <a:solidFill>
            <a:schemeClr val="bg1">
              <a:lumMod val="50000"/>
            </a:schemeClr>
          </a:solidFill>
        </p:spPr>
        <p:style>
          <a:lnRef idx="2">
            <a:schemeClr val="lt1">
              <a:hueOff val="0"/>
              <a:satOff val="0"/>
              <a:lumOff val="0"/>
              <a:alphaOff val="0"/>
            </a:schemeClr>
          </a:lnRef>
          <a:fillRef idx="1">
            <a:schemeClr val="accent4">
              <a:shade val="80000"/>
              <a:hueOff val="0"/>
              <a:satOff val="0"/>
              <a:lumOff val="58383"/>
              <a:alphaOff val="0"/>
            </a:schemeClr>
          </a:fillRef>
          <a:effectRef idx="0">
            <a:schemeClr val="accent4">
              <a:shade val="80000"/>
              <a:hueOff val="0"/>
              <a:satOff val="0"/>
              <a:lumOff val="58383"/>
              <a:alphaOff val="0"/>
            </a:schemeClr>
          </a:effectRef>
          <a:fontRef idx="minor">
            <a:schemeClr val="lt1"/>
          </a:fontRef>
        </p:style>
        <p:txBody>
          <a:bodyPr spcFirstLastPara="0" vert="horz" wrap="square" lIns="113792" tIns="113793" rIns="113792" bIns="877887" numCol="1" spcCol="1270" anchor="ctr" anchorCtr="0">
            <a:noAutofit/>
          </a:bodyPr>
          <a:lstStyle/>
          <a:p>
            <a:pPr defTabSz="711200" latinLnBrk="0">
              <a:lnSpc>
                <a:spcPct val="90000"/>
              </a:lnSpc>
              <a:spcBef>
                <a:spcPct val="0"/>
              </a:spcBef>
              <a:spcAft>
                <a:spcPct val="35000"/>
              </a:spcAft>
            </a:pPr>
            <a:r>
              <a:rPr lang="en-US" sz="1200" b="1" dirty="0">
                <a:latin typeface="Arial Narrow" panose="020B0606020202030204" pitchFamily="34" charset="0"/>
              </a:rPr>
              <a:t>3. Reasoning Layer</a:t>
            </a:r>
          </a:p>
        </p:txBody>
      </p:sp>
      <p:sp>
        <p:nvSpPr>
          <p:cNvPr id="14" name="Freeform: Shape 13">
            <a:extLst>
              <a:ext uri="{FF2B5EF4-FFF2-40B4-BE49-F238E27FC236}">
                <a16:creationId xmlns:a16="http://schemas.microsoft.com/office/drawing/2014/main" id="{2C494CB5-9727-5777-FB8B-0BC6FA9A7F2C}"/>
              </a:ext>
            </a:extLst>
          </p:cNvPr>
          <p:cNvSpPr/>
          <p:nvPr/>
        </p:nvSpPr>
        <p:spPr>
          <a:xfrm>
            <a:off x="172554" y="3551262"/>
            <a:ext cx="4060366" cy="352024"/>
          </a:xfrm>
          <a:custGeom>
            <a:avLst/>
            <a:gdLst>
              <a:gd name="csX0" fmla="*/ 0 w 4060366"/>
              <a:gd name="csY0" fmla="*/ 0 h 352024"/>
              <a:gd name="csX1" fmla="*/ 4060366 w 4060366"/>
              <a:gd name="csY1" fmla="*/ 0 h 352024"/>
              <a:gd name="csX2" fmla="*/ 4060366 w 4060366"/>
              <a:gd name="csY2" fmla="*/ 352024 h 352024"/>
              <a:gd name="csX3" fmla="*/ 0 w 4060366"/>
              <a:gd name="csY3" fmla="*/ 352024 h 352024"/>
              <a:gd name="csX4" fmla="*/ 0 w 4060366"/>
              <a:gd name="csY4" fmla="*/ 0 h 352024"/>
            </a:gdLst>
            <a:ahLst/>
            <a:cxnLst>
              <a:cxn ang="0">
                <a:pos x="csX0" y="csY0"/>
              </a:cxn>
              <a:cxn ang="0">
                <a:pos x="csX1" y="csY1"/>
              </a:cxn>
              <a:cxn ang="0">
                <a:pos x="csX2" y="csY2"/>
              </a:cxn>
              <a:cxn ang="0">
                <a:pos x="csX3" y="csY3"/>
              </a:cxn>
              <a:cxn ang="0">
                <a:pos x="csX4" y="csY4"/>
              </a:cxn>
            </a:cxnLst>
            <a:rect l="l" t="t" r="r" b="b"/>
            <a:pathLst>
              <a:path w="4060366" h="352024">
                <a:moveTo>
                  <a:pt x="0" y="0"/>
                </a:moveTo>
                <a:lnTo>
                  <a:pt x="4060366" y="0"/>
                </a:lnTo>
                <a:lnTo>
                  <a:pt x="4060366" y="352024"/>
                </a:lnTo>
                <a:lnTo>
                  <a:pt x="0" y="352024"/>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algn="ctr" defTabSz="488950" latinLnBrk="0">
              <a:lnSpc>
                <a:spcPct val="90000"/>
              </a:lnSpc>
              <a:spcBef>
                <a:spcPct val="0"/>
              </a:spcBef>
              <a:spcAft>
                <a:spcPct val="35000"/>
              </a:spcAft>
              <a:buNone/>
            </a:pPr>
            <a:r>
              <a:rPr lang="en-US" sz="1100" b="1" i="0" kern="1200" noProof="0" dirty="0">
                <a:latin typeface="Arial Narrow" panose="020B0606020202030204" pitchFamily="34" charset="0"/>
              </a:rPr>
              <a:t>Azure OpenAI (GPT-4). </a:t>
            </a:r>
            <a:br>
              <a:rPr lang="en-US" sz="1100" b="1" i="0" kern="1200" noProof="0" dirty="0">
                <a:latin typeface="Arial Narrow" panose="020B0606020202030204" pitchFamily="34" charset="0"/>
              </a:rPr>
            </a:br>
            <a:endParaRPr lang="en-US" sz="1100" b="1" kern="1200" noProof="0" dirty="0">
              <a:latin typeface="Arial Narrow" panose="020B0606020202030204" pitchFamily="34" charset="0"/>
            </a:endParaRPr>
          </a:p>
        </p:txBody>
      </p:sp>
      <p:sp>
        <p:nvSpPr>
          <p:cNvPr id="15" name="Freeform: Shape 14">
            <a:extLst>
              <a:ext uri="{FF2B5EF4-FFF2-40B4-BE49-F238E27FC236}">
                <a16:creationId xmlns:a16="http://schemas.microsoft.com/office/drawing/2014/main" id="{5E6BF52F-0F5A-9F8B-1F6D-8446B3B61A43}"/>
              </a:ext>
            </a:extLst>
          </p:cNvPr>
          <p:cNvSpPr/>
          <p:nvPr/>
        </p:nvSpPr>
        <p:spPr>
          <a:xfrm>
            <a:off x="4197577" y="3551262"/>
            <a:ext cx="4060366" cy="352024"/>
          </a:xfrm>
          <a:custGeom>
            <a:avLst/>
            <a:gdLst>
              <a:gd name="csX0" fmla="*/ 0 w 4060366"/>
              <a:gd name="csY0" fmla="*/ 0 h 352024"/>
              <a:gd name="csX1" fmla="*/ 4060366 w 4060366"/>
              <a:gd name="csY1" fmla="*/ 0 h 352024"/>
              <a:gd name="csX2" fmla="*/ 4060366 w 4060366"/>
              <a:gd name="csY2" fmla="*/ 352024 h 352024"/>
              <a:gd name="csX3" fmla="*/ 0 w 4060366"/>
              <a:gd name="csY3" fmla="*/ 352024 h 352024"/>
              <a:gd name="csX4" fmla="*/ 0 w 4060366"/>
              <a:gd name="csY4" fmla="*/ 0 h 352024"/>
            </a:gdLst>
            <a:ahLst/>
            <a:cxnLst>
              <a:cxn ang="0">
                <a:pos x="csX0" y="csY0"/>
              </a:cxn>
              <a:cxn ang="0">
                <a:pos x="csX1" y="csY1"/>
              </a:cxn>
              <a:cxn ang="0">
                <a:pos x="csX2" y="csY2"/>
              </a:cxn>
              <a:cxn ang="0">
                <a:pos x="csX3" y="csY3"/>
              </a:cxn>
              <a:cxn ang="0">
                <a:pos x="csX4" y="csY4"/>
              </a:cxn>
            </a:cxnLst>
            <a:rect l="l" t="t" r="r" b="b"/>
            <a:pathLst>
              <a:path w="4060366" h="352024">
                <a:moveTo>
                  <a:pt x="0" y="0"/>
                </a:moveTo>
                <a:lnTo>
                  <a:pt x="4060366" y="0"/>
                </a:lnTo>
                <a:lnTo>
                  <a:pt x="4060366" y="352024"/>
                </a:lnTo>
                <a:lnTo>
                  <a:pt x="0" y="352024"/>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algn="ctr" defTabSz="488950" latinLnBrk="0">
              <a:lnSpc>
                <a:spcPct val="90000"/>
              </a:lnSpc>
              <a:spcBef>
                <a:spcPct val="0"/>
              </a:spcBef>
              <a:spcAft>
                <a:spcPct val="35000"/>
              </a:spcAft>
              <a:buNone/>
            </a:pPr>
            <a:r>
              <a:rPr lang="en-US" sz="1100" b="0" i="0" kern="1200" noProof="0" dirty="0">
                <a:latin typeface="Arial Narrow" panose="020B0606020202030204" pitchFamily="34" charset="0"/>
              </a:rPr>
              <a:t>Summarizes cause · action · recurrence · prevention. Cites source IDs / dates / lines · suggests PM actions</a:t>
            </a:r>
            <a:endParaRPr lang="en-US" sz="1100" kern="1200" noProof="0" dirty="0">
              <a:latin typeface="Arial Narrow" panose="020B0606020202030204" pitchFamily="34" charset="0"/>
            </a:endParaRPr>
          </a:p>
        </p:txBody>
      </p:sp>
      <p:sp>
        <p:nvSpPr>
          <p:cNvPr id="16" name="Freeform: Shape 15">
            <a:extLst>
              <a:ext uri="{FF2B5EF4-FFF2-40B4-BE49-F238E27FC236}">
                <a16:creationId xmlns:a16="http://schemas.microsoft.com/office/drawing/2014/main" id="{6A835040-4112-E805-44FC-DED74E681C04}"/>
              </a:ext>
            </a:extLst>
          </p:cNvPr>
          <p:cNvSpPr/>
          <p:nvPr/>
        </p:nvSpPr>
        <p:spPr>
          <a:xfrm>
            <a:off x="137211" y="1972157"/>
            <a:ext cx="8149925" cy="1177342"/>
          </a:xfrm>
          <a:custGeom>
            <a:avLst/>
            <a:gdLst>
              <a:gd name="csX0" fmla="*/ 0 w 8120733"/>
              <a:gd name="csY0" fmla="*/ 412340 h 1177340"/>
              <a:gd name="csX1" fmla="*/ 3913199 w 8120733"/>
              <a:gd name="csY1" fmla="*/ 412340 h 1177340"/>
              <a:gd name="csX2" fmla="*/ 3913199 w 8120733"/>
              <a:gd name="csY2" fmla="*/ 294335 h 1177340"/>
              <a:gd name="csX3" fmla="*/ 3766032 w 8120733"/>
              <a:gd name="csY3" fmla="*/ 294335 h 1177340"/>
              <a:gd name="csX4" fmla="*/ 4060367 w 8120733"/>
              <a:gd name="csY4" fmla="*/ 0 h 1177340"/>
              <a:gd name="csX5" fmla="*/ 4354702 w 8120733"/>
              <a:gd name="csY5" fmla="*/ 294335 h 1177340"/>
              <a:gd name="csX6" fmla="*/ 4207534 w 8120733"/>
              <a:gd name="csY6" fmla="*/ 294335 h 1177340"/>
              <a:gd name="csX7" fmla="*/ 4207534 w 8120733"/>
              <a:gd name="csY7" fmla="*/ 412340 h 1177340"/>
              <a:gd name="csX8" fmla="*/ 8120733 w 8120733"/>
              <a:gd name="csY8" fmla="*/ 412340 h 1177340"/>
              <a:gd name="csX9" fmla="*/ 8120733 w 8120733"/>
              <a:gd name="csY9" fmla="*/ 1177340 h 1177340"/>
              <a:gd name="csX10" fmla="*/ 0 w 8120733"/>
              <a:gd name="csY10" fmla="*/ 1177340 h 1177340"/>
              <a:gd name="csX11" fmla="*/ 0 w 8120733"/>
              <a:gd name="csY11" fmla="*/ 412340 h 1177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8120733" h="1177340">
                <a:moveTo>
                  <a:pt x="8120733" y="765000"/>
                </a:moveTo>
                <a:lnTo>
                  <a:pt x="4207534" y="765000"/>
                </a:lnTo>
                <a:lnTo>
                  <a:pt x="4207534" y="883005"/>
                </a:lnTo>
                <a:lnTo>
                  <a:pt x="4354701" y="883005"/>
                </a:lnTo>
                <a:lnTo>
                  <a:pt x="4060366" y="1177339"/>
                </a:lnTo>
                <a:lnTo>
                  <a:pt x="3766031" y="883005"/>
                </a:lnTo>
                <a:lnTo>
                  <a:pt x="3913199" y="883005"/>
                </a:lnTo>
                <a:lnTo>
                  <a:pt x="3913199" y="765000"/>
                </a:lnTo>
                <a:lnTo>
                  <a:pt x="0" y="765000"/>
                </a:lnTo>
                <a:lnTo>
                  <a:pt x="0" y="1"/>
                </a:lnTo>
                <a:lnTo>
                  <a:pt x="8120733" y="1"/>
                </a:lnTo>
                <a:lnTo>
                  <a:pt x="8120733" y="765000"/>
                </a:lnTo>
                <a:close/>
              </a:path>
            </a:pathLst>
          </a:custGeom>
          <a:solidFill>
            <a:schemeClr val="bg1">
              <a:lumMod val="50000"/>
            </a:schemeClr>
          </a:solidFill>
        </p:spPr>
        <p:style>
          <a:lnRef idx="2">
            <a:schemeClr val="lt1">
              <a:hueOff val="0"/>
              <a:satOff val="0"/>
              <a:lumOff val="0"/>
              <a:alphaOff val="0"/>
            </a:schemeClr>
          </a:lnRef>
          <a:fillRef idx="1">
            <a:schemeClr val="accent4">
              <a:shade val="80000"/>
              <a:hueOff val="0"/>
              <a:satOff val="0"/>
              <a:lumOff val="58383"/>
              <a:alphaOff val="0"/>
            </a:schemeClr>
          </a:fillRef>
          <a:effectRef idx="0">
            <a:schemeClr val="accent4">
              <a:shade val="80000"/>
              <a:hueOff val="0"/>
              <a:satOff val="0"/>
              <a:lumOff val="58383"/>
              <a:alphaOff val="0"/>
            </a:schemeClr>
          </a:effectRef>
          <a:fontRef idx="minor">
            <a:schemeClr val="lt1"/>
          </a:fontRef>
        </p:style>
        <p:txBody>
          <a:bodyPr spcFirstLastPara="0" vert="horz" wrap="square" lIns="113792" tIns="113793" rIns="113792" bIns="877887" numCol="1" spcCol="1270" anchor="ctr" anchorCtr="0">
            <a:noAutofit/>
          </a:bodyPr>
          <a:lstStyle/>
          <a:p>
            <a:pPr defTabSz="711200" latinLnBrk="0">
              <a:lnSpc>
                <a:spcPct val="90000"/>
              </a:lnSpc>
              <a:spcBef>
                <a:spcPct val="0"/>
              </a:spcBef>
              <a:spcAft>
                <a:spcPct val="35000"/>
              </a:spcAft>
            </a:pPr>
            <a:r>
              <a:rPr lang="en-US" sz="1200" b="1" dirty="0">
                <a:latin typeface="Arial Narrow" panose="020B0606020202030204" pitchFamily="34" charset="0"/>
              </a:rPr>
              <a:t>2. Retrieval Layer</a:t>
            </a:r>
          </a:p>
        </p:txBody>
      </p:sp>
      <p:sp>
        <p:nvSpPr>
          <p:cNvPr id="17" name="Freeform: Shape 16">
            <a:extLst>
              <a:ext uri="{FF2B5EF4-FFF2-40B4-BE49-F238E27FC236}">
                <a16:creationId xmlns:a16="http://schemas.microsoft.com/office/drawing/2014/main" id="{E00A9B6B-6BC1-99BE-BFB4-D51AD91A7A1D}"/>
              </a:ext>
            </a:extLst>
          </p:cNvPr>
          <p:cNvSpPr/>
          <p:nvPr/>
        </p:nvSpPr>
        <p:spPr>
          <a:xfrm>
            <a:off x="172554" y="2385404"/>
            <a:ext cx="4060366" cy="352024"/>
          </a:xfrm>
          <a:custGeom>
            <a:avLst/>
            <a:gdLst>
              <a:gd name="csX0" fmla="*/ 0 w 4060366"/>
              <a:gd name="csY0" fmla="*/ 0 h 352024"/>
              <a:gd name="csX1" fmla="*/ 4060366 w 4060366"/>
              <a:gd name="csY1" fmla="*/ 0 h 352024"/>
              <a:gd name="csX2" fmla="*/ 4060366 w 4060366"/>
              <a:gd name="csY2" fmla="*/ 352024 h 352024"/>
              <a:gd name="csX3" fmla="*/ 0 w 4060366"/>
              <a:gd name="csY3" fmla="*/ 352024 h 352024"/>
              <a:gd name="csX4" fmla="*/ 0 w 4060366"/>
              <a:gd name="csY4" fmla="*/ 0 h 352024"/>
            </a:gdLst>
            <a:ahLst/>
            <a:cxnLst>
              <a:cxn ang="0">
                <a:pos x="csX0" y="csY0"/>
              </a:cxn>
              <a:cxn ang="0">
                <a:pos x="csX1" y="csY1"/>
              </a:cxn>
              <a:cxn ang="0">
                <a:pos x="csX2" y="csY2"/>
              </a:cxn>
              <a:cxn ang="0">
                <a:pos x="csX3" y="csY3"/>
              </a:cxn>
              <a:cxn ang="0">
                <a:pos x="csX4" y="csY4"/>
              </a:cxn>
            </a:cxnLst>
            <a:rect l="l" t="t" r="r" b="b"/>
            <a:pathLst>
              <a:path w="4060366" h="352024">
                <a:moveTo>
                  <a:pt x="0" y="0"/>
                </a:moveTo>
                <a:lnTo>
                  <a:pt x="4060366" y="0"/>
                </a:lnTo>
                <a:lnTo>
                  <a:pt x="4060366" y="352024"/>
                </a:lnTo>
                <a:lnTo>
                  <a:pt x="0" y="352024"/>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algn="ctr" defTabSz="488950" latinLnBrk="0">
              <a:lnSpc>
                <a:spcPct val="90000"/>
              </a:lnSpc>
              <a:spcBef>
                <a:spcPct val="0"/>
              </a:spcBef>
              <a:spcAft>
                <a:spcPct val="35000"/>
              </a:spcAft>
              <a:buNone/>
            </a:pPr>
            <a:r>
              <a:rPr lang="en-US" sz="1100" b="1" i="0" kern="1200" noProof="0" dirty="0">
                <a:latin typeface="Arial Narrow" panose="020B0606020202030204" pitchFamily="34" charset="0"/>
              </a:rPr>
              <a:t>Azure AI Search </a:t>
            </a:r>
            <a:br>
              <a:rPr lang="en-US" sz="1100" b="1" i="0" kern="1200" noProof="0" dirty="0">
                <a:latin typeface="Arial Narrow" panose="020B0606020202030204" pitchFamily="34" charset="0"/>
              </a:rPr>
            </a:br>
            <a:endParaRPr lang="en-US" sz="1100" b="1" kern="1200" noProof="0" dirty="0">
              <a:latin typeface="Arial Narrow" panose="020B0606020202030204" pitchFamily="34" charset="0"/>
            </a:endParaRPr>
          </a:p>
        </p:txBody>
      </p:sp>
      <p:sp>
        <p:nvSpPr>
          <p:cNvPr id="18" name="Freeform: Shape 17">
            <a:extLst>
              <a:ext uri="{FF2B5EF4-FFF2-40B4-BE49-F238E27FC236}">
                <a16:creationId xmlns:a16="http://schemas.microsoft.com/office/drawing/2014/main" id="{C14A92E0-0EA4-FCF4-9BB2-AB2CDC1886EA}"/>
              </a:ext>
            </a:extLst>
          </p:cNvPr>
          <p:cNvSpPr/>
          <p:nvPr/>
        </p:nvSpPr>
        <p:spPr>
          <a:xfrm>
            <a:off x="4197577" y="2385404"/>
            <a:ext cx="4060366" cy="352024"/>
          </a:xfrm>
          <a:custGeom>
            <a:avLst/>
            <a:gdLst>
              <a:gd name="csX0" fmla="*/ 0 w 4060366"/>
              <a:gd name="csY0" fmla="*/ 0 h 352024"/>
              <a:gd name="csX1" fmla="*/ 4060366 w 4060366"/>
              <a:gd name="csY1" fmla="*/ 0 h 352024"/>
              <a:gd name="csX2" fmla="*/ 4060366 w 4060366"/>
              <a:gd name="csY2" fmla="*/ 352024 h 352024"/>
              <a:gd name="csX3" fmla="*/ 0 w 4060366"/>
              <a:gd name="csY3" fmla="*/ 352024 h 352024"/>
              <a:gd name="csX4" fmla="*/ 0 w 4060366"/>
              <a:gd name="csY4" fmla="*/ 0 h 352024"/>
            </a:gdLst>
            <a:ahLst/>
            <a:cxnLst>
              <a:cxn ang="0">
                <a:pos x="csX0" y="csY0"/>
              </a:cxn>
              <a:cxn ang="0">
                <a:pos x="csX1" y="csY1"/>
              </a:cxn>
              <a:cxn ang="0">
                <a:pos x="csX2" y="csY2"/>
              </a:cxn>
              <a:cxn ang="0">
                <a:pos x="csX3" y="csY3"/>
              </a:cxn>
              <a:cxn ang="0">
                <a:pos x="csX4" y="csY4"/>
              </a:cxn>
            </a:cxnLst>
            <a:rect l="l" t="t" r="r" b="b"/>
            <a:pathLst>
              <a:path w="4060366" h="352024">
                <a:moveTo>
                  <a:pt x="0" y="0"/>
                </a:moveTo>
                <a:lnTo>
                  <a:pt x="4060366" y="0"/>
                </a:lnTo>
                <a:lnTo>
                  <a:pt x="4060366" y="352024"/>
                </a:lnTo>
                <a:lnTo>
                  <a:pt x="0" y="352024"/>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algn="ctr" defTabSz="488950" latinLnBrk="0">
              <a:lnSpc>
                <a:spcPct val="90000"/>
              </a:lnSpc>
              <a:spcBef>
                <a:spcPct val="0"/>
              </a:spcBef>
              <a:spcAft>
                <a:spcPct val="35000"/>
              </a:spcAft>
              <a:buNone/>
            </a:pPr>
            <a:r>
              <a:rPr lang="en-US" sz="1100" b="0" i="0" kern="1200" noProof="0" dirty="0">
                <a:latin typeface="Arial Narrow" panose="020B0606020202030204" pitchFamily="34" charset="0"/>
              </a:rPr>
              <a:t>Semantic / vector search over 7-year work-order index. </a:t>
            </a:r>
          </a:p>
          <a:p>
            <a:pPr marL="0" lvl="0" indent="0" algn="ctr" defTabSz="488950" latinLnBrk="0">
              <a:lnSpc>
                <a:spcPct val="90000"/>
              </a:lnSpc>
              <a:spcBef>
                <a:spcPct val="0"/>
              </a:spcBef>
              <a:spcAft>
                <a:spcPct val="35000"/>
              </a:spcAft>
              <a:buNone/>
            </a:pPr>
            <a:r>
              <a:rPr lang="en-US" sz="1100" b="0" i="0" kern="1200" noProof="0" dirty="0">
                <a:latin typeface="Arial Narrow" panose="020B0606020202030204" pitchFamily="34" charset="0"/>
              </a:rPr>
              <a:t>Wording-agnostic · finds "air leak" = "vacuum error" = "suction failure"</a:t>
            </a:r>
            <a:endParaRPr lang="en-US" sz="1100" kern="1200" noProof="0" dirty="0">
              <a:latin typeface="Arial Narrow" panose="020B0606020202030204" pitchFamily="34" charset="0"/>
            </a:endParaRPr>
          </a:p>
        </p:txBody>
      </p:sp>
      <p:sp>
        <p:nvSpPr>
          <p:cNvPr id="19" name="Freeform: Shape 18">
            <a:extLst>
              <a:ext uri="{FF2B5EF4-FFF2-40B4-BE49-F238E27FC236}">
                <a16:creationId xmlns:a16="http://schemas.microsoft.com/office/drawing/2014/main" id="{7F4A40AA-E32D-7E39-1043-B5577837A8B6}"/>
              </a:ext>
            </a:extLst>
          </p:cNvPr>
          <p:cNvSpPr/>
          <p:nvPr/>
        </p:nvSpPr>
        <p:spPr>
          <a:xfrm>
            <a:off x="137211" y="806298"/>
            <a:ext cx="8149925" cy="1249139"/>
          </a:xfrm>
          <a:custGeom>
            <a:avLst/>
            <a:gdLst>
              <a:gd name="csX0" fmla="*/ 0 w 8120733"/>
              <a:gd name="csY0" fmla="*/ 412340 h 1177340"/>
              <a:gd name="csX1" fmla="*/ 3913199 w 8120733"/>
              <a:gd name="csY1" fmla="*/ 412340 h 1177340"/>
              <a:gd name="csX2" fmla="*/ 3913199 w 8120733"/>
              <a:gd name="csY2" fmla="*/ 294335 h 1177340"/>
              <a:gd name="csX3" fmla="*/ 3766032 w 8120733"/>
              <a:gd name="csY3" fmla="*/ 294335 h 1177340"/>
              <a:gd name="csX4" fmla="*/ 4060367 w 8120733"/>
              <a:gd name="csY4" fmla="*/ 0 h 1177340"/>
              <a:gd name="csX5" fmla="*/ 4354702 w 8120733"/>
              <a:gd name="csY5" fmla="*/ 294335 h 1177340"/>
              <a:gd name="csX6" fmla="*/ 4207534 w 8120733"/>
              <a:gd name="csY6" fmla="*/ 294335 h 1177340"/>
              <a:gd name="csX7" fmla="*/ 4207534 w 8120733"/>
              <a:gd name="csY7" fmla="*/ 412340 h 1177340"/>
              <a:gd name="csX8" fmla="*/ 8120733 w 8120733"/>
              <a:gd name="csY8" fmla="*/ 412340 h 1177340"/>
              <a:gd name="csX9" fmla="*/ 8120733 w 8120733"/>
              <a:gd name="csY9" fmla="*/ 1177340 h 1177340"/>
              <a:gd name="csX10" fmla="*/ 0 w 8120733"/>
              <a:gd name="csY10" fmla="*/ 1177340 h 1177340"/>
              <a:gd name="csX11" fmla="*/ 0 w 8120733"/>
              <a:gd name="csY11" fmla="*/ 412340 h 1177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8120733" h="1177340">
                <a:moveTo>
                  <a:pt x="8120733" y="765000"/>
                </a:moveTo>
                <a:lnTo>
                  <a:pt x="4207534" y="765000"/>
                </a:lnTo>
                <a:lnTo>
                  <a:pt x="4207534" y="883005"/>
                </a:lnTo>
                <a:lnTo>
                  <a:pt x="4354701" y="883005"/>
                </a:lnTo>
                <a:lnTo>
                  <a:pt x="4060366" y="1177339"/>
                </a:lnTo>
                <a:lnTo>
                  <a:pt x="3766031" y="883005"/>
                </a:lnTo>
                <a:lnTo>
                  <a:pt x="3913199" y="883005"/>
                </a:lnTo>
                <a:lnTo>
                  <a:pt x="3913199" y="765000"/>
                </a:lnTo>
                <a:lnTo>
                  <a:pt x="0" y="765000"/>
                </a:lnTo>
                <a:lnTo>
                  <a:pt x="0" y="1"/>
                </a:lnTo>
                <a:lnTo>
                  <a:pt x="8120733" y="1"/>
                </a:lnTo>
                <a:lnTo>
                  <a:pt x="8120733" y="765000"/>
                </a:lnTo>
                <a:close/>
              </a:path>
            </a:pathLst>
          </a:custGeom>
          <a:solidFill>
            <a:schemeClr val="bg1">
              <a:lumMod val="50000"/>
            </a:schemeClr>
          </a:solidFill>
        </p:spPr>
        <p:style>
          <a:lnRef idx="2">
            <a:schemeClr val="lt1">
              <a:hueOff val="0"/>
              <a:satOff val="0"/>
              <a:lumOff val="0"/>
              <a:alphaOff val="0"/>
            </a:schemeClr>
          </a:lnRef>
          <a:fillRef idx="1">
            <a:schemeClr val="accent4">
              <a:shade val="80000"/>
              <a:hueOff val="0"/>
              <a:satOff val="0"/>
              <a:lumOff val="58383"/>
              <a:alphaOff val="0"/>
            </a:schemeClr>
          </a:fillRef>
          <a:effectRef idx="0">
            <a:schemeClr val="accent4">
              <a:shade val="80000"/>
              <a:hueOff val="0"/>
              <a:satOff val="0"/>
              <a:lumOff val="58383"/>
              <a:alphaOff val="0"/>
            </a:schemeClr>
          </a:effectRef>
          <a:fontRef idx="minor">
            <a:schemeClr val="lt1"/>
          </a:fontRef>
        </p:style>
        <p:txBody>
          <a:bodyPr spcFirstLastPara="0" vert="horz" wrap="square" lIns="113792" tIns="113793" rIns="113792" bIns="877887" numCol="1" spcCol="1270" anchor="ctr" anchorCtr="0">
            <a:noAutofit/>
          </a:bodyPr>
          <a:lstStyle/>
          <a:p>
            <a:pPr marL="0" lvl="0" indent="0" defTabSz="711200" latinLnBrk="0">
              <a:lnSpc>
                <a:spcPct val="90000"/>
              </a:lnSpc>
              <a:spcBef>
                <a:spcPct val="0"/>
              </a:spcBef>
              <a:spcAft>
                <a:spcPct val="35000"/>
              </a:spcAft>
              <a:buNone/>
            </a:pPr>
            <a:r>
              <a:rPr lang="en-US" sz="1200" b="1" kern="1200" noProof="0" dirty="0">
                <a:latin typeface="Arial Narrow" panose="020B0606020202030204" pitchFamily="34" charset="0"/>
              </a:rPr>
              <a:t>1. User Layer</a:t>
            </a:r>
          </a:p>
        </p:txBody>
      </p:sp>
      <p:sp>
        <p:nvSpPr>
          <p:cNvPr id="20" name="Freeform: Shape 19">
            <a:extLst>
              <a:ext uri="{FF2B5EF4-FFF2-40B4-BE49-F238E27FC236}">
                <a16:creationId xmlns:a16="http://schemas.microsoft.com/office/drawing/2014/main" id="{F26C02BB-BAAA-2C0C-B316-CDD9A375C297}"/>
              </a:ext>
            </a:extLst>
          </p:cNvPr>
          <p:cNvSpPr/>
          <p:nvPr/>
        </p:nvSpPr>
        <p:spPr>
          <a:xfrm>
            <a:off x="172554" y="1219547"/>
            <a:ext cx="4060366" cy="352024"/>
          </a:xfrm>
          <a:custGeom>
            <a:avLst/>
            <a:gdLst>
              <a:gd name="csX0" fmla="*/ 0 w 4060366"/>
              <a:gd name="csY0" fmla="*/ 0 h 352024"/>
              <a:gd name="csX1" fmla="*/ 4060366 w 4060366"/>
              <a:gd name="csY1" fmla="*/ 0 h 352024"/>
              <a:gd name="csX2" fmla="*/ 4060366 w 4060366"/>
              <a:gd name="csY2" fmla="*/ 352024 h 352024"/>
              <a:gd name="csX3" fmla="*/ 0 w 4060366"/>
              <a:gd name="csY3" fmla="*/ 352024 h 352024"/>
              <a:gd name="csX4" fmla="*/ 0 w 4060366"/>
              <a:gd name="csY4" fmla="*/ 0 h 352024"/>
            </a:gdLst>
            <a:ahLst/>
            <a:cxnLst>
              <a:cxn ang="0">
                <a:pos x="csX0" y="csY0"/>
              </a:cxn>
              <a:cxn ang="0">
                <a:pos x="csX1" y="csY1"/>
              </a:cxn>
              <a:cxn ang="0">
                <a:pos x="csX2" y="csY2"/>
              </a:cxn>
              <a:cxn ang="0">
                <a:pos x="csX3" y="csY3"/>
              </a:cxn>
              <a:cxn ang="0">
                <a:pos x="csX4" y="csY4"/>
              </a:cxn>
            </a:cxnLst>
            <a:rect l="l" t="t" r="r" b="b"/>
            <a:pathLst>
              <a:path w="4060366" h="352024">
                <a:moveTo>
                  <a:pt x="0" y="0"/>
                </a:moveTo>
                <a:lnTo>
                  <a:pt x="4060366" y="0"/>
                </a:lnTo>
                <a:lnTo>
                  <a:pt x="4060366" y="352024"/>
                </a:lnTo>
                <a:lnTo>
                  <a:pt x="0" y="352024"/>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algn="ctr" defTabSz="488950" latinLnBrk="0">
              <a:lnSpc>
                <a:spcPct val="90000"/>
              </a:lnSpc>
              <a:spcBef>
                <a:spcPct val="0"/>
              </a:spcBef>
              <a:spcAft>
                <a:spcPct val="35000"/>
              </a:spcAft>
              <a:buNone/>
            </a:pPr>
            <a:r>
              <a:rPr lang="en-US" sz="1100" b="1" i="0" kern="1200" noProof="0" dirty="0">
                <a:latin typeface="Arial Narrow" panose="020B0606020202030204" pitchFamily="34" charset="0"/>
              </a:rPr>
              <a:t>Microsoft Teams — Copilot Studio.</a:t>
            </a:r>
            <a:endParaRPr lang="en-US" sz="1100" b="1" kern="1200" noProof="0" dirty="0">
              <a:latin typeface="Arial Narrow" panose="020B0606020202030204" pitchFamily="34" charset="0"/>
            </a:endParaRPr>
          </a:p>
        </p:txBody>
      </p:sp>
      <p:sp>
        <p:nvSpPr>
          <p:cNvPr id="21" name="Freeform: Shape 20">
            <a:extLst>
              <a:ext uri="{FF2B5EF4-FFF2-40B4-BE49-F238E27FC236}">
                <a16:creationId xmlns:a16="http://schemas.microsoft.com/office/drawing/2014/main" id="{57CC9668-64CF-0D92-03F2-E3C3B2C5D22A}"/>
              </a:ext>
            </a:extLst>
          </p:cNvPr>
          <p:cNvSpPr/>
          <p:nvPr/>
        </p:nvSpPr>
        <p:spPr>
          <a:xfrm>
            <a:off x="4197577" y="1219547"/>
            <a:ext cx="4060366" cy="352024"/>
          </a:xfrm>
          <a:custGeom>
            <a:avLst/>
            <a:gdLst>
              <a:gd name="csX0" fmla="*/ 0 w 4060366"/>
              <a:gd name="csY0" fmla="*/ 0 h 352024"/>
              <a:gd name="csX1" fmla="*/ 4060366 w 4060366"/>
              <a:gd name="csY1" fmla="*/ 0 h 352024"/>
              <a:gd name="csX2" fmla="*/ 4060366 w 4060366"/>
              <a:gd name="csY2" fmla="*/ 352024 h 352024"/>
              <a:gd name="csX3" fmla="*/ 0 w 4060366"/>
              <a:gd name="csY3" fmla="*/ 352024 h 352024"/>
              <a:gd name="csX4" fmla="*/ 0 w 4060366"/>
              <a:gd name="csY4" fmla="*/ 0 h 352024"/>
            </a:gdLst>
            <a:ahLst/>
            <a:cxnLst>
              <a:cxn ang="0">
                <a:pos x="csX0" y="csY0"/>
              </a:cxn>
              <a:cxn ang="0">
                <a:pos x="csX1" y="csY1"/>
              </a:cxn>
              <a:cxn ang="0">
                <a:pos x="csX2" y="csY2"/>
              </a:cxn>
              <a:cxn ang="0">
                <a:pos x="csX3" y="csY3"/>
              </a:cxn>
              <a:cxn ang="0">
                <a:pos x="csX4" y="csY4"/>
              </a:cxn>
            </a:cxnLst>
            <a:rect l="l" t="t" r="r" b="b"/>
            <a:pathLst>
              <a:path w="4060366" h="352024">
                <a:moveTo>
                  <a:pt x="0" y="0"/>
                </a:moveTo>
                <a:lnTo>
                  <a:pt x="4060366" y="0"/>
                </a:lnTo>
                <a:lnTo>
                  <a:pt x="4060366" y="352024"/>
                </a:lnTo>
                <a:lnTo>
                  <a:pt x="0" y="352024"/>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15240" rIns="85344" bIns="15240" numCol="1" spcCol="1270" anchor="ctr" anchorCtr="0">
            <a:noAutofit/>
          </a:bodyPr>
          <a:lstStyle/>
          <a:p>
            <a:pPr marL="0" lvl="0" indent="0" algn="ctr" defTabSz="533400" latinLnBrk="0">
              <a:lnSpc>
                <a:spcPct val="90000"/>
              </a:lnSpc>
              <a:spcBef>
                <a:spcPct val="0"/>
              </a:spcBef>
              <a:spcAft>
                <a:spcPct val="35000"/>
              </a:spcAft>
              <a:buNone/>
            </a:pPr>
            <a:r>
              <a:rPr lang="en-US" sz="1200" b="0" i="0" kern="1200" noProof="0" dirty="0">
                <a:latin typeface="Arial Narrow" panose="020B0606020202030204" pitchFamily="34" charset="0"/>
              </a:rPr>
              <a:t>PE engineers type natural-language questions · Secure, governed access · LGE tenant</a:t>
            </a:r>
            <a:endParaRPr lang="en-US" sz="1100" kern="1200" noProof="0" dirty="0">
              <a:latin typeface="Arial Narrow" panose="020B0606020202030204" pitchFamily="34" charset="0"/>
            </a:endParaRPr>
          </a:p>
        </p:txBody>
      </p:sp>
      <p:sp>
        <p:nvSpPr>
          <p:cNvPr id="22" name="Freeform: Shape 21">
            <a:extLst>
              <a:ext uri="{FF2B5EF4-FFF2-40B4-BE49-F238E27FC236}">
                <a16:creationId xmlns:a16="http://schemas.microsoft.com/office/drawing/2014/main" id="{73524A38-F4DD-22D1-4797-688D58C3D7A0}"/>
              </a:ext>
            </a:extLst>
          </p:cNvPr>
          <p:cNvSpPr/>
          <p:nvPr/>
        </p:nvSpPr>
        <p:spPr>
          <a:xfrm>
            <a:off x="173773" y="6277840"/>
            <a:ext cx="2704267" cy="352130"/>
          </a:xfrm>
          <a:custGeom>
            <a:avLst/>
            <a:gdLst>
              <a:gd name="csX0" fmla="*/ 0 w 2704267"/>
              <a:gd name="csY0" fmla="*/ 0 h 352130"/>
              <a:gd name="csX1" fmla="*/ 2704267 w 2704267"/>
              <a:gd name="csY1" fmla="*/ 0 h 352130"/>
              <a:gd name="csX2" fmla="*/ 2704267 w 2704267"/>
              <a:gd name="csY2" fmla="*/ 352130 h 352130"/>
              <a:gd name="csX3" fmla="*/ 0 w 2704267"/>
              <a:gd name="csY3" fmla="*/ 352130 h 352130"/>
              <a:gd name="csX4" fmla="*/ 0 w 2704267"/>
              <a:gd name="csY4" fmla="*/ 0 h 352130"/>
            </a:gdLst>
            <a:ahLst/>
            <a:cxnLst>
              <a:cxn ang="0">
                <a:pos x="csX0" y="csY0"/>
              </a:cxn>
              <a:cxn ang="0">
                <a:pos x="csX1" y="csY1"/>
              </a:cxn>
              <a:cxn ang="0">
                <a:pos x="csX2" y="csY2"/>
              </a:cxn>
              <a:cxn ang="0">
                <a:pos x="csX3" y="csY3"/>
              </a:cxn>
              <a:cxn ang="0">
                <a:pos x="csX4" y="csY4"/>
              </a:cxn>
            </a:cxnLst>
            <a:rect l="l" t="t" r="r" b="b"/>
            <a:pathLst>
              <a:path w="2704267" h="352130">
                <a:moveTo>
                  <a:pt x="0" y="0"/>
                </a:moveTo>
                <a:lnTo>
                  <a:pt x="2704267" y="0"/>
                </a:lnTo>
                <a:lnTo>
                  <a:pt x="2704267" y="352130"/>
                </a:lnTo>
                <a:lnTo>
                  <a:pt x="0" y="352130"/>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t" anchorCtr="0">
            <a:noAutofit/>
          </a:bodyPr>
          <a:lstStyle/>
          <a:p>
            <a:pPr marL="0" lvl="0" indent="0" algn="l" defTabSz="488950" latinLnBrk="0">
              <a:lnSpc>
                <a:spcPct val="90000"/>
              </a:lnSpc>
              <a:spcBef>
                <a:spcPct val="0"/>
              </a:spcBef>
              <a:spcAft>
                <a:spcPct val="35000"/>
              </a:spcAft>
              <a:buNone/>
            </a:pPr>
            <a:r>
              <a:rPr lang="en-US" sz="1100" b="1" kern="1200" noProof="0" dirty="0">
                <a:latin typeface="Arial Narrow" panose="020B0606020202030204" pitchFamily="34" charset="0"/>
              </a:rPr>
              <a:t>Security</a:t>
            </a:r>
          </a:p>
          <a:p>
            <a:pPr marL="171450" lvl="0" indent="-171450" defTabSz="488950" latinLnBrk="0">
              <a:lnSpc>
                <a:spcPct val="90000"/>
              </a:lnSpc>
              <a:spcBef>
                <a:spcPct val="0"/>
              </a:spcBef>
              <a:spcAft>
                <a:spcPct val="35000"/>
              </a:spcAft>
              <a:buFont typeface="Arial" panose="020B0604020202020204" pitchFamily="34" charset="0"/>
              <a:buChar char="•"/>
            </a:pPr>
            <a:r>
              <a:rPr lang="en-US" sz="900" dirty="0">
                <a:latin typeface="Arial Narrow" panose="020B0606020202030204" pitchFamily="34" charset="0"/>
              </a:rPr>
              <a:t>LGE Azure tenant · SSO</a:t>
            </a:r>
            <a:br>
              <a:rPr lang="en-US" sz="900" dirty="0">
                <a:latin typeface="Arial Narrow" panose="020B0606020202030204" pitchFamily="34" charset="0"/>
              </a:rPr>
            </a:br>
            <a:endParaRPr lang="en-US" sz="900" kern="1200" noProof="0" dirty="0">
              <a:latin typeface="Arial Narrow" panose="020B0606020202030204" pitchFamily="34" charset="0"/>
            </a:endParaRPr>
          </a:p>
        </p:txBody>
      </p:sp>
      <p:sp>
        <p:nvSpPr>
          <p:cNvPr id="23" name="Freeform: Shape 22">
            <a:extLst>
              <a:ext uri="{FF2B5EF4-FFF2-40B4-BE49-F238E27FC236}">
                <a16:creationId xmlns:a16="http://schemas.microsoft.com/office/drawing/2014/main" id="{A5628872-1E7E-A47C-EF60-AF44AA709BA5}"/>
              </a:ext>
            </a:extLst>
          </p:cNvPr>
          <p:cNvSpPr/>
          <p:nvPr/>
        </p:nvSpPr>
        <p:spPr>
          <a:xfrm>
            <a:off x="2858715" y="6277840"/>
            <a:ext cx="2704267" cy="352130"/>
          </a:xfrm>
          <a:custGeom>
            <a:avLst/>
            <a:gdLst>
              <a:gd name="csX0" fmla="*/ 0 w 2704267"/>
              <a:gd name="csY0" fmla="*/ 0 h 352130"/>
              <a:gd name="csX1" fmla="*/ 2704267 w 2704267"/>
              <a:gd name="csY1" fmla="*/ 0 h 352130"/>
              <a:gd name="csX2" fmla="*/ 2704267 w 2704267"/>
              <a:gd name="csY2" fmla="*/ 352130 h 352130"/>
              <a:gd name="csX3" fmla="*/ 0 w 2704267"/>
              <a:gd name="csY3" fmla="*/ 352130 h 352130"/>
              <a:gd name="csX4" fmla="*/ 0 w 2704267"/>
              <a:gd name="csY4" fmla="*/ 0 h 352130"/>
            </a:gdLst>
            <a:ahLst/>
            <a:cxnLst>
              <a:cxn ang="0">
                <a:pos x="csX0" y="csY0"/>
              </a:cxn>
              <a:cxn ang="0">
                <a:pos x="csX1" y="csY1"/>
              </a:cxn>
              <a:cxn ang="0">
                <a:pos x="csX2" y="csY2"/>
              </a:cxn>
              <a:cxn ang="0">
                <a:pos x="csX3" y="csY3"/>
              </a:cxn>
              <a:cxn ang="0">
                <a:pos x="csX4" y="csY4"/>
              </a:cxn>
            </a:cxnLst>
            <a:rect l="l" t="t" r="r" b="b"/>
            <a:pathLst>
              <a:path w="2704267" h="352130">
                <a:moveTo>
                  <a:pt x="0" y="0"/>
                </a:moveTo>
                <a:lnTo>
                  <a:pt x="2704267" y="0"/>
                </a:lnTo>
                <a:lnTo>
                  <a:pt x="2704267" y="352130"/>
                </a:lnTo>
                <a:lnTo>
                  <a:pt x="0" y="352130"/>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t" anchorCtr="0">
            <a:noAutofit/>
          </a:bodyPr>
          <a:lstStyle/>
          <a:p>
            <a:pPr marL="0" lvl="0" indent="0" algn="l" defTabSz="488950" latinLnBrk="0">
              <a:lnSpc>
                <a:spcPct val="90000"/>
              </a:lnSpc>
              <a:spcBef>
                <a:spcPct val="0"/>
              </a:spcBef>
              <a:spcAft>
                <a:spcPct val="35000"/>
              </a:spcAft>
              <a:buNone/>
            </a:pPr>
            <a:r>
              <a:rPr lang="en-US" sz="1100" b="1" kern="1200" noProof="0" dirty="0">
                <a:latin typeface="Arial Narrow" panose="020B0606020202030204" pitchFamily="34" charset="0"/>
              </a:rPr>
              <a:t>Access Control</a:t>
            </a:r>
          </a:p>
          <a:p>
            <a:pPr marL="171450" lvl="1" indent="-171450" defTabSz="400050" latinLnBrk="0">
              <a:lnSpc>
                <a:spcPct val="90000"/>
              </a:lnSpc>
              <a:spcBef>
                <a:spcPct val="0"/>
              </a:spcBef>
              <a:spcAft>
                <a:spcPct val="15000"/>
              </a:spcAft>
              <a:buFont typeface="Arial" panose="020B0604020202020204" pitchFamily="34" charset="0"/>
              <a:buChar char="•"/>
            </a:pPr>
            <a:r>
              <a:rPr lang="en-US" sz="900" dirty="0">
                <a:latin typeface="Arial Narrow" panose="020B0606020202030204" pitchFamily="34" charset="0"/>
              </a:rPr>
              <a:t>PE team roles · read-only DB</a:t>
            </a:r>
            <a:br>
              <a:rPr lang="en-US" sz="900" dirty="0">
                <a:latin typeface="Arial Narrow" panose="020B0606020202030204" pitchFamily="34" charset="0"/>
              </a:rPr>
            </a:br>
            <a:endParaRPr lang="en-US" sz="900" kern="1200" noProof="0" dirty="0">
              <a:latin typeface="Arial Narrow" panose="020B0606020202030204" pitchFamily="34" charset="0"/>
            </a:endParaRPr>
          </a:p>
        </p:txBody>
      </p:sp>
      <p:sp>
        <p:nvSpPr>
          <p:cNvPr id="24" name="Freeform: Shape 23">
            <a:extLst>
              <a:ext uri="{FF2B5EF4-FFF2-40B4-BE49-F238E27FC236}">
                <a16:creationId xmlns:a16="http://schemas.microsoft.com/office/drawing/2014/main" id="{62DF6229-9A38-21D6-9C4A-F578E4A5F2FB}"/>
              </a:ext>
            </a:extLst>
          </p:cNvPr>
          <p:cNvSpPr/>
          <p:nvPr/>
        </p:nvSpPr>
        <p:spPr>
          <a:xfrm>
            <a:off x="5562983" y="6277840"/>
            <a:ext cx="2704267" cy="352130"/>
          </a:xfrm>
          <a:custGeom>
            <a:avLst/>
            <a:gdLst>
              <a:gd name="csX0" fmla="*/ 0 w 2704267"/>
              <a:gd name="csY0" fmla="*/ 0 h 352130"/>
              <a:gd name="csX1" fmla="*/ 2704267 w 2704267"/>
              <a:gd name="csY1" fmla="*/ 0 h 352130"/>
              <a:gd name="csX2" fmla="*/ 2704267 w 2704267"/>
              <a:gd name="csY2" fmla="*/ 352130 h 352130"/>
              <a:gd name="csX3" fmla="*/ 0 w 2704267"/>
              <a:gd name="csY3" fmla="*/ 352130 h 352130"/>
              <a:gd name="csX4" fmla="*/ 0 w 2704267"/>
              <a:gd name="csY4" fmla="*/ 0 h 352130"/>
            </a:gdLst>
            <a:ahLst/>
            <a:cxnLst>
              <a:cxn ang="0">
                <a:pos x="csX0" y="csY0"/>
              </a:cxn>
              <a:cxn ang="0">
                <a:pos x="csX1" y="csY1"/>
              </a:cxn>
              <a:cxn ang="0">
                <a:pos x="csX2" y="csY2"/>
              </a:cxn>
              <a:cxn ang="0">
                <a:pos x="csX3" y="csY3"/>
              </a:cxn>
              <a:cxn ang="0">
                <a:pos x="csX4" y="csY4"/>
              </a:cxn>
            </a:cxnLst>
            <a:rect l="l" t="t" r="r" b="b"/>
            <a:pathLst>
              <a:path w="2704267" h="352130">
                <a:moveTo>
                  <a:pt x="0" y="0"/>
                </a:moveTo>
                <a:lnTo>
                  <a:pt x="2704267" y="0"/>
                </a:lnTo>
                <a:lnTo>
                  <a:pt x="2704267" y="352130"/>
                </a:lnTo>
                <a:lnTo>
                  <a:pt x="0" y="352130"/>
                </a:lnTo>
                <a:lnTo>
                  <a:pt x="0" y="0"/>
                </a:lnTo>
                <a:close/>
              </a:path>
            </a:pathLst>
          </a:custGeom>
        </p:spPr>
        <p:style>
          <a:lnRef idx="2">
            <a:schemeClr val="accent4">
              <a:alpha val="90000"/>
              <a:tint val="40000"/>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t" anchorCtr="0">
            <a:noAutofit/>
          </a:bodyPr>
          <a:lstStyle/>
          <a:p>
            <a:pPr marL="0" lvl="0" indent="0" algn="l" defTabSz="488950" latinLnBrk="0">
              <a:lnSpc>
                <a:spcPct val="90000"/>
              </a:lnSpc>
              <a:spcBef>
                <a:spcPct val="0"/>
              </a:spcBef>
              <a:spcAft>
                <a:spcPct val="35000"/>
              </a:spcAft>
              <a:buNone/>
            </a:pPr>
            <a:r>
              <a:rPr lang="en-US" sz="1100" b="1" kern="1200" noProof="0" dirty="0">
                <a:latin typeface="Arial Narrow" panose="020B0606020202030204" pitchFamily="34" charset="0"/>
              </a:rPr>
              <a:t>Monitoring</a:t>
            </a:r>
          </a:p>
          <a:p>
            <a:pPr marL="171450" lvl="1" indent="-171450" algn="l" defTabSz="400050" latinLnBrk="0">
              <a:lnSpc>
                <a:spcPct val="90000"/>
              </a:lnSpc>
              <a:spcBef>
                <a:spcPct val="0"/>
              </a:spcBef>
              <a:spcAft>
                <a:spcPct val="15000"/>
              </a:spcAft>
              <a:buFont typeface="Arial" panose="020B0604020202020204" pitchFamily="34" charset="0"/>
              <a:buChar char="•"/>
            </a:pPr>
            <a:r>
              <a:rPr lang="en-US" sz="900" kern="1200" noProof="0" dirty="0">
                <a:latin typeface="Arial Narrow" panose="020B0606020202030204" pitchFamily="34" charset="0"/>
              </a:rPr>
              <a:t>Usage logs · KPI tracking</a:t>
            </a:r>
          </a:p>
        </p:txBody>
      </p:sp>
    </p:spTree>
    <p:extLst>
      <p:ext uri="{BB962C8B-B14F-4D97-AF65-F5344CB8AC3E}">
        <p14:creationId xmlns:p14="http://schemas.microsoft.com/office/powerpoint/2010/main" val="13995861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tRlQXm64YUqd29rCsHo.n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tRlQXm64YUqd29rCsHo.n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tRlQXm64YUqd29rCsHo.n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tRlQXm64YUqd29rCsHo.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tRlQXm64YUqd29rCsHo.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RlQXm64YUqd29rCsHo.ng"/>
</p:tagLst>
</file>

<file path=ppt/theme/theme1.xml><?xml version="1.0" encoding="utf-8"?>
<a:theme xmlns:a="http://schemas.openxmlformats.org/drawingml/2006/main" name="3_Blank">
  <a:themeElements>
    <a:clrScheme name="사용자 지정 2">
      <a:dk1>
        <a:srgbClr val="000000"/>
      </a:dk1>
      <a:lt1>
        <a:srgbClr val="FFFFFF"/>
      </a:lt1>
      <a:dk2>
        <a:srgbClr val="000000"/>
      </a:dk2>
      <a:lt2>
        <a:srgbClr val="808080"/>
      </a:lt2>
      <a:accent1>
        <a:srgbClr val="CCFFFF"/>
      </a:accent1>
      <a:accent2>
        <a:srgbClr val="333399"/>
      </a:accent2>
      <a:accent3>
        <a:srgbClr val="FFFFFF"/>
      </a:accent3>
      <a:accent4>
        <a:srgbClr val="000000"/>
      </a:accent4>
      <a:accent5>
        <a:srgbClr val="E2FFFF"/>
      </a:accent5>
      <a:accent6>
        <a:srgbClr val="2D2D8A"/>
      </a:accent6>
      <a:hlink>
        <a:srgbClr val="000000"/>
      </a:hlink>
      <a:folHlink>
        <a:srgbClr val="000000"/>
      </a:folHlink>
    </a:clrScheme>
    <a:fontScheme name="Blank">
      <a:majorFont>
        <a:latin typeface="Arial"/>
        <a:ea typeface="굴림"/>
        <a:cs typeface=""/>
      </a:majorFont>
      <a:minorFont>
        <a:latin typeface="Tahoma"/>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none" lIns="91440" tIns="45720" rIns="91440" bIns="45720" numCol="1" rtlCol="0" anchor="t" anchorCtr="0" compatLnSpc="1">
        <a:prstTxWarp prst="textNoShape">
          <a:avLst/>
        </a:prstTxWarp>
        <a:noAutofit/>
      </a:bodyPr>
      <a:lstStyle>
        <a:defPPr marL="0" marR="0" indent="0" algn="l" defTabSz="914400" rtl="0" eaLnBrk="1" fontAlgn="base" latinLnBrk="1" hangingPunct="1">
          <a:lnSpc>
            <a:spcPct val="100000"/>
          </a:lnSpc>
          <a:spcBef>
            <a:spcPct val="0"/>
          </a:spcBef>
          <a:spcAft>
            <a:spcPct val="0"/>
          </a:spcAft>
          <a:buClrTx/>
          <a:buSzTx/>
          <a:buFontTx/>
          <a:buNone/>
          <a:tabLst/>
          <a:defRPr kumimoji="1" sz="2000" b="1" i="0" u="none" strike="noStrike" cap="none" normalizeH="0" baseline="0" smtClean="0">
            <a:ln>
              <a:noFill/>
            </a:ln>
            <a:solidFill>
              <a:schemeClr val="tx1"/>
            </a:solidFill>
            <a:effectLst/>
            <a:latin typeface="Trebuchet MS" pitchFamily="34" charset="0"/>
            <a:ea typeface="돋움" pitchFamily="50" charset="-127"/>
          </a:defRPr>
        </a:defPPr>
      </a:lstStyle>
    </a:spDef>
    <a:lnDef>
      <a:spPr bwMode="auto">
        <a:noFill/>
        <a:ln w="9525" cap="flat" cmpd="sng" algn="ctr">
          <a:solidFill>
            <a:schemeClr val="tx1"/>
          </a:solidFill>
          <a:prstDash val="solid"/>
          <a:round/>
          <a:headEnd type="none" w="med" len="med"/>
          <a:tailEnd type="none" w="med" len="med"/>
        </a:ln>
        <a:effectLst/>
      </a:spPr>
      <a:body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13">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14">
        <a:dk1>
          <a:srgbClr val="000000"/>
        </a:dk1>
        <a:lt1>
          <a:srgbClr val="FFFFFF"/>
        </a:lt1>
        <a:dk2>
          <a:srgbClr val="000000"/>
        </a:dk2>
        <a:lt2>
          <a:srgbClr val="808080"/>
        </a:lt2>
        <a:accent1>
          <a:srgbClr val="CCFFFF"/>
        </a:accent1>
        <a:accent2>
          <a:srgbClr val="333399"/>
        </a:accent2>
        <a:accent3>
          <a:srgbClr val="FFFFFF"/>
        </a:accent3>
        <a:accent4>
          <a:srgbClr val="000000"/>
        </a:accent4>
        <a:accent5>
          <a:srgbClr val="E2FFF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99333</TotalTime>
  <Words>3302</Words>
  <Application>Microsoft Office PowerPoint</Application>
  <PresentationFormat>A4 Paper (210x297 mm)</PresentationFormat>
  <Paragraphs>439</Paragraphs>
  <Slides>10</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Dotum</vt:lpstr>
      <vt:lpstr>Gulim</vt:lpstr>
      <vt:lpstr>LG스마트체 Regular</vt:lpstr>
      <vt:lpstr>LG스마트체 Regular</vt:lpstr>
      <vt:lpstr>맑은 고딕</vt:lpstr>
      <vt:lpstr>Arial</vt:lpstr>
      <vt:lpstr>Arial Narrow</vt:lpstr>
      <vt:lpstr>Tahoma</vt:lpstr>
      <vt:lpstr>Wingdings</vt:lpstr>
      <vt:lpstr>3_Blank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User</dc:creator>
  <cp:lastModifiedBy>Henrry Colmenares Vilchez/LGEUS TN PE Team</cp:lastModifiedBy>
  <cp:revision>6079</cp:revision>
  <cp:lastPrinted>2018-12-11T16:19:52Z</cp:lastPrinted>
  <dcterms:created xsi:type="dcterms:W3CDTF">2014-11-26T02:29:23Z</dcterms:created>
  <dcterms:modified xsi:type="dcterms:W3CDTF">2026-03-26T22:42:40Z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d59f345-fd0b-4b4e-aba2-7c7a20c52995_Enabled">
    <vt:lpwstr>true</vt:lpwstr>
  </property>
  <property fmtid="{D5CDD505-2E9C-101B-9397-08002B2CF9AE}" pid="3" name="MSIP_Label_dd59f345-fd0b-4b4e-aba2-7c7a20c52995_SetDate">
    <vt:lpwstr>2025-11-25T22:04:49Z</vt:lpwstr>
  </property>
  <property fmtid="{D5CDD505-2E9C-101B-9397-08002B2CF9AE}" pid="4" name="MSIP_Label_dd59f345-fd0b-4b4e-aba2-7c7a20c52995_Method">
    <vt:lpwstr>Privileged</vt:lpwstr>
  </property>
  <property fmtid="{D5CDD505-2E9C-101B-9397-08002B2CF9AE}" pid="5" name="MSIP_Label_dd59f345-fd0b-4b4e-aba2-7c7a20c52995_Name">
    <vt:lpwstr>General</vt:lpwstr>
  </property>
  <property fmtid="{D5CDD505-2E9C-101B-9397-08002B2CF9AE}" pid="6" name="MSIP_Label_dd59f345-fd0b-4b4e-aba2-7c7a20c52995_SiteId">
    <vt:lpwstr>5069cde4-642a-45c0-8094-d0c2dec10be3</vt:lpwstr>
  </property>
  <property fmtid="{D5CDD505-2E9C-101B-9397-08002B2CF9AE}" pid="7" name="MSIP_Label_dd59f345-fd0b-4b4e-aba2-7c7a20c52995_ActionId">
    <vt:lpwstr>fe9b3111-64b4-4195-9978-3f7d48278c10</vt:lpwstr>
  </property>
  <property fmtid="{D5CDD505-2E9C-101B-9397-08002B2CF9AE}" pid="8" name="MSIP_Label_dd59f345-fd0b-4b4e-aba2-7c7a20c52995_ContentBits">
    <vt:lpwstr>0</vt:lpwstr>
  </property>
  <property fmtid="{D5CDD505-2E9C-101B-9397-08002B2CF9AE}" pid="9" name="MSIP_Label_dd59f345-fd0b-4b4e-aba2-7c7a20c52995_Tag">
    <vt:lpwstr>10, 0, 1, 1</vt:lpwstr>
  </property>
</Properties>
</file>